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4"/>
  </p:sldMasterIdLst>
  <p:notesMasterIdLst>
    <p:notesMasterId r:id="rId21"/>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x="14630400" cy="8229600"/>
  <p:notesSz cx="8229600" cy="14630400"/>
  <p:embeddedFontLst>
    <p:embeddedFont>
      <p:font typeface="Arial Rounded MT Bold" panose="020B0604020202020204" charset="0"/>
      <p:regular r:id="rId22"/>
    </p:embeddedFont>
    <p:embeddedFont>
      <p:font typeface="Fraunces Extra Bold" panose="020B0604020202020204" charset="0"/>
      <p:regular r:id="rId23"/>
    </p:embeddedFont>
    <p:embeddedFont>
      <p:font typeface="Nobile" panose="020B0604020202020204" charset="0"/>
      <p:regular r:id="rId24"/>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29ED5F-8692-D535-73DE-D0228EBF258B}" v="73" dt="2026-01-11T21:00:26.538"/>
    <p1510:client id="{4227EBED-34D0-AC4B-93B7-9C50A6DDE029}" v="73" dt="2026-01-12T00:08:49.795"/>
    <p1510:client id="{829398BA-BB37-3771-709B-0FC6AF05D875}" v="10" dt="2026-01-12T07:58:17.032"/>
    <p1510:client id="{EEE5E670-116E-2A5D-D4CC-52CAC22D2F2C}" v="88" dt="2026-01-11T23:12:23.7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3.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2.fntdata"/><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1.fntdata"/><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uel SAMINATHAN" userId="S::sasa63189@eleve.isep.fr::0d838187-545c-4e11-9c21-6000fffff6c0" providerId="AD" clId="Web-{EEE5E670-116E-2A5D-D4CC-52CAC22D2F2C}"/>
    <pc:docChg chg="modSld modMainMaster">
      <pc:chgData name="Samuel SAMINATHAN" userId="S::sasa63189@eleve.isep.fr::0d838187-545c-4e11-9c21-6000fffff6c0" providerId="AD" clId="Web-{EEE5E670-116E-2A5D-D4CC-52CAC22D2F2C}" dt="2026-01-11T23:12:23.712" v="43" actId="1076"/>
      <pc:docMkLst>
        <pc:docMk/>
      </pc:docMkLst>
      <pc:sldChg chg="modSp">
        <pc:chgData name="Samuel SAMINATHAN" userId="S::sasa63189@eleve.isep.fr::0d838187-545c-4e11-9c21-6000fffff6c0" providerId="AD" clId="Web-{EEE5E670-116E-2A5D-D4CC-52CAC22D2F2C}" dt="2026-01-11T23:07:23.035" v="3" actId="1076"/>
        <pc:sldMkLst>
          <pc:docMk/>
          <pc:sldMk cId="0" sldId="256"/>
        </pc:sldMkLst>
        <pc:picChg chg="mod">
          <ac:chgData name="Samuel SAMINATHAN" userId="S::sasa63189@eleve.isep.fr::0d838187-545c-4e11-9c21-6000fffff6c0" providerId="AD" clId="Web-{EEE5E670-116E-2A5D-D4CC-52CAC22D2F2C}" dt="2026-01-11T23:07:23.035" v="3" actId="1076"/>
          <ac:picMkLst>
            <pc:docMk/>
            <pc:sldMk cId="0" sldId="256"/>
            <ac:picMk id="6" creationId="{1F88A496-4BA7-0001-4153-54EEB8D33344}"/>
          </ac:picMkLst>
        </pc:picChg>
      </pc:sldChg>
      <pc:sldChg chg="addSp modSp">
        <pc:chgData name="Samuel SAMINATHAN" userId="S::sasa63189@eleve.isep.fr::0d838187-545c-4e11-9c21-6000fffff6c0" providerId="AD" clId="Web-{EEE5E670-116E-2A5D-D4CC-52CAC22D2F2C}" dt="2026-01-11T23:07:52.395" v="6" actId="20577"/>
        <pc:sldMkLst>
          <pc:docMk/>
          <pc:sldMk cId="0" sldId="258"/>
        </pc:sldMkLst>
        <pc:spChg chg="add mod">
          <ac:chgData name="Samuel SAMINATHAN" userId="S::sasa63189@eleve.isep.fr::0d838187-545c-4e11-9c21-6000fffff6c0" providerId="AD" clId="Web-{EEE5E670-116E-2A5D-D4CC-52CAC22D2F2C}" dt="2026-01-11T23:07:52.395" v="6" actId="20577"/>
          <ac:spMkLst>
            <pc:docMk/>
            <pc:sldMk cId="0" sldId="258"/>
            <ac:spMk id="15" creationId="{D52EEE1E-B380-B41E-DEE7-C41166DD4930}"/>
          </ac:spMkLst>
        </pc:spChg>
      </pc:sldChg>
      <pc:sldChg chg="addSp modSp">
        <pc:chgData name="Samuel SAMINATHAN" userId="S::sasa63189@eleve.isep.fr::0d838187-545c-4e11-9c21-6000fffff6c0" providerId="AD" clId="Web-{EEE5E670-116E-2A5D-D4CC-52CAC22D2F2C}" dt="2026-01-11T23:08:05.489" v="9" actId="1076"/>
        <pc:sldMkLst>
          <pc:docMk/>
          <pc:sldMk cId="0" sldId="259"/>
        </pc:sldMkLst>
        <pc:spChg chg="add mod">
          <ac:chgData name="Samuel SAMINATHAN" userId="S::sasa63189@eleve.isep.fr::0d838187-545c-4e11-9c21-6000fffff6c0" providerId="AD" clId="Web-{EEE5E670-116E-2A5D-D4CC-52CAC22D2F2C}" dt="2026-01-11T23:08:05.489" v="9" actId="1076"/>
          <ac:spMkLst>
            <pc:docMk/>
            <pc:sldMk cId="0" sldId="259"/>
            <ac:spMk id="23" creationId="{F9E6AF78-2804-EDED-6B0B-89A2018DB0A0}"/>
          </ac:spMkLst>
        </pc:spChg>
      </pc:sldChg>
      <pc:sldChg chg="addSp modSp">
        <pc:chgData name="Samuel SAMINATHAN" userId="S::sasa63189@eleve.isep.fr::0d838187-545c-4e11-9c21-6000fffff6c0" providerId="AD" clId="Web-{EEE5E670-116E-2A5D-D4CC-52CAC22D2F2C}" dt="2026-01-11T23:09:26.584" v="11" actId="20577"/>
        <pc:sldMkLst>
          <pc:docMk/>
          <pc:sldMk cId="0" sldId="260"/>
        </pc:sldMkLst>
        <pc:spChg chg="add mod">
          <ac:chgData name="Samuel SAMINATHAN" userId="S::sasa63189@eleve.isep.fr::0d838187-545c-4e11-9c21-6000fffff6c0" providerId="AD" clId="Web-{EEE5E670-116E-2A5D-D4CC-52CAC22D2F2C}" dt="2026-01-11T23:09:26.584" v="11" actId="20577"/>
          <ac:spMkLst>
            <pc:docMk/>
            <pc:sldMk cId="0" sldId="260"/>
            <ac:spMk id="24" creationId="{E4758995-416E-42F2-ADE2-6CA0B3011FE9}"/>
          </ac:spMkLst>
        </pc:spChg>
      </pc:sldChg>
      <pc:sldChg chg="addSp modSp">
        <pc:chgData name="Samuel SAMINATHAN" userId="S::sasa63189@eleve.isep.fr::0d838187-545c-4e11-9c21-6000fffff6c0" providerId="AD" clId="Web-{EEE5E670-116E-2A5D-D4CC-52CAC22D2F2C}" dt="2026-01-11T23:09:38.256" v="13" actId="20577"/>
        <pc:sldMkLst>
          <pc:docMk/>
          <pc:sldMk cId="0" sldId="261"/>
        </pc:sldMkLst>
        <pc:spChg chg="add mod">
          <ac:chgData name="Samuel SAMINATHAN" userId="S::sasa63189@eleve.isep.fr::0d838187-545c-4e11-9c21-6000fffff6c0" providerId="AD" clId="Web-{EEE5E670-116E-2A5D-D4CC-52CAC22D2F2C}" dt="2026-01-11T23:09:38.256" v="13" actId="20577"/>
          <ac:spMkLst>
            <pc:docMk/>
            <pc:sldMk cId="0" sldId="261"/>
            <ac:spMk id="19" creationId="{612D4360-FCA5-DA27-89B7-AFC449EB7F76}"/>
          </ac:spMkLst>
        </pc:spChg>
      </pc:sldChg>
      <pc:sldChg chg="addSp modSp">
        <pc:chgData name="Samuel SAMINATHAN" userId="S::sasa63189@eleve.isep.fr::0d838187-545c-4e11-9c21-6000fffff6c0" providerId="AD" clId="Web-{EEE5E670-116E-2A5D-D4CC-52CAC22D2F2C}" dt="2026-01-11T23:09:56.382" v="16" actId="1076"/>
        <pc:sldMkLst>
          <pc:docMk/>
          <pc:sldMk cId="0" sldId="262"/>
        </pc:sldMkLst>
        <pc:spChg chg="add mod">
          <ac:chgData name="Samuel SAMINATHAN" userId="S::sasa63189@eleve.isep.fr::0d838187-545c-4e11-9c21-6000fffff6c0" providerId="AD" clId="Web-{EEE5E670-116E-2A5D-D4CC-52CAC22D2F2C}" dt="2026-01-11T23:09:56.382" v="16" actId="1076"/>
          <ac:spMkLst>
            <pc:docMk/>
            <pc:sldMk cId="0" sldId="262"/>
            <ac:spMk id="23" creationId="{6CA79460-4D8D-93BD-B256-3A635A81470A}"/>
          </ac:spMkLst>
        </pc:spChg>
      </pc:sldChg>
      <pc:sldChg chg="addSp delSp modSp">
        <pc:chgData name="Samuel SAMINATHAN" userId="S::sasa63189@eleve.isep.fr::0d838187-545c-4e11-9c21-6000fffff6c0" providerId="AD" clId="Web-{EEE5E670-116E-2A5D-D4CC-52CAC22D2F2C}" dt="2026-01-11T23:10:27.585" v="22" actId="1076"/>
        <pc:sldMkLst>
          <pc:docMk/>
          <pc:sldMk cId="0" sldId="263"/>
        </pc:sldMkLst>
        <pc:spChg chg="add del mod">
          <ac:chgData name="Samuel SAMINATHAN" userId="S::sasa63189@eleve.isep.fr::0d838187-545c-4e11-9c21-6000fffff6c0" providerId="AD" clId="Web-{EEE5E670-116E-2A5D-D4CC-52CAC22D2F2C}" dt="2026-01-11T23:10:12.897" v="19"/>
          <ac:spMkLst>
            <pc:docMk/>
            <pc:sldMk cId="0" sldId="263"/>
            <ac:spMk id="32" creationId="{E4BEC237-5334-CA9C-3AD1-3E0BED3AC87A}"/>
          </ac:spMkLst>
        </pc:spChg>
        <pc:spChg chg="add mod">
          <ac:chgData name="Samuel SAMINATHAN" userId="S::sasa63189@eleve.isep.fr::0d838187-545c-4e11-9c21-6000fffff6c0" providerId="AD" clId="Web-{EEE5E670-116E-2A5D-D4CC-52CAC22D2F2C}" dt="2026-01-11T23:10:27.585" v="22" actId="1076"/>
          <ac:spMkLst>
            <pc:docMk/>
            <pc:sldMk cId="0" sldId="263"/>
            <ac:spMk id="34" creationId="{823FE04E-AA2C-8444-5C0D-035C09C959E6}"/>
          </ac:spMkLst>
        </pc:spChg>
      </pc:sldChg>
      <pc:sldChg chg="addSp modSp">
        <pc:chgData name="Samuel SAMINATHAN" userId="S::sasa63189@eleve.isep.fr::0d838187-545c-4e11-9c21-6000fffff6c0" providerId="AD" clId="Web-{EEE5E670-116E-2A5D-D4CC-52CAC22D2F2C}" dt="2026-01-11T23:10:42.757" v="25" actId="1076"/>
        <pc:sldMkLst>
          <pc:docMk/>
          <pc:sldMk cId="0" sldId="264"/>
        </pc:sldMkLst>
        <pc:spChg chg="add mod">
          <ac:chgData name="Samuel SAMINATHAN" userId="S::sasa63189@eleve.isep.fr::0d838187-545c-4e11-9c21-6000fffff6c0" providerId="AD" clId="Web-{EEE5E670-116E-2A5D-D4CC-52CAC22D2F2C}" dt="2026-01-11T23:10:42.757" v="25" actId="1076"/>
          <ac:spMkLst>
            <pc:docMk/>
            <pc:sldMk cId="0" sldId="264"/>
            <ac:spMk id="20" creationId="{AA150C83-2F73-5DE3-E9D9-6F157C9B9C27}"/>
          </ac:spMkLst>
        </pc:spChg>
      </pc:sldChg>
      <pc:sldChg chg="addSp modSp">
        <pc:chgData name="Samuel SAMINATHAN" userId="S::sasa63189@eleve.isep.fr::0d838187-545c-4e11-9c21-6000fffff6c0" providerId="AD" clId="Web-{EEE5E670-116E-2A5D-D4CC-52CAC22D2F2C}" dt="2026-01-11T23:11:04.101" v="29" actId="20577"/>
        <pc:sldMkLst>
          <pc:docMk/>
          <pc:sldMk cId="0" sldId="265"/>
        </pc:sldMkLst>
        <pc:spChg chg="add mod">
          <ac:chgData name="Samuel SAMINATHAN" userId="S::sasa63189@eleve.isep.fr::0d838187-545c-4e11-9c21-6000fffff6c0" providerId="AD" clId="Web-{EEE5E670-116E-2A5D-D4CC-52CAC22D2F2C}" dt="2026-01-11T23:11:04.101" v="29" actId="20577"/>
          <ac:spMkLst>
            <pc:docMk/>
            <pc:sldMk cId="0" sldId="265"/>
            <ac:spMk id="37" creationId="{0611009B-6E06-DCE8-4D05-6EE7C630B978}"/>
          </ac:spMkLst>
        </pc:spChg>
      </pc:sldChg>
      <pc:sldChg chg="addSp modSp">
        <pc:chgData name="Samuel SAMINATHAN" userId="S::sasa63189@eleve.isep.fr::0d838187-545c-4e11-9c21-6000fffff6c0" providerId="AD" clId="Web-{EEE5E670-116E-2A5D-D4CC-52CAC22D2F2C}" dt="2026-01-11T23:11:20.727" v="31" actId="20577"/>
        <pc:sldMkLst>
          <pc:docMk/>
          <pc:sldMk cId="0" sldId="266"/>
        </pc:sldMkLst>
        <pc:spChg chg="add mod">
          <ac:chgData name="Samuel SAMINATHAN" userId="S::sasa63189@eleve.isep.fr::0d838187-545c-4e11-9c21-6000fffff6c0" providerId="AD" clId="Web-{EEE5E670-116E-2A5D-D4CC-52CAC22D2F2C}" dt="2026-01-11T23:11:20.727" v="31" actId="20577"/>
          <ac:spMkLst>
            <pc:docMk/>
            <pc:sldMk cId="0" sldId="266"/>
            <ac:spMk id="26" creationId="{945ED347-367D-DF09-C151-5AF9DB7E839E}"/>
          </ac:spMkLst>
        </pc:spChg>
      </pc:sldChg>
      <pc:sldChg chg="addSp modSp">
        <pc:chgData name="Samuel SAMINATHAN" userId="S::sasa63189@eleve.isep.fr::0d838187-545c-4e11-9c21-6000fffff6c0" providerId="AD" clId="Web-{EEE5E670-116E-2A5D-D4CC-52CAC22D2F2C}" dt="2026-01-11T23:11:31.195" v="33" actId="20577"/>
        <pc:sldMkLst>
          <pc:docMk/>
          <pc:sldMk cId="0" sldId="267"/>
        </pc:sldMkLst>
        <pc:spChg chg="add mod">
          <ac:chgData name="Samuel SAMINATHAN" userId="S::sasa63189@eleve.isep.fr::0d838187-545c-4e11-9c21-6000fffff6c0" providerId="AD" clId="Web-{EEE5E670-116E-2A5D-D4CC-52CAC22D2F2C}" dt="2026-01-11T23:11:31.195" v="33" actId="20577"/>
          <ac:spMkLst>
            <pc:docMk/>
            <pc:sldMk cId="0" sldId="267"/>
            <ac:spMk id="17" creationId="{460BCD9B-A24E-4D2E-61A0-FB1635AC4465}"/>
          </ac:spMkLst>
        </pc:spChg>
      </pc:sldChg>
      <pc:sldChg chg="addSp modSp">
        <pc:chgData name="Samuel SAMINATHAN" userId="S::sasa63189@eleve.isep.fr::0d838187-545c-4e11-9c21-6000fffff6c0" providerId="AD" clId="Web-{EEE5E670-116E-2A5D-D4CC-52CAC22D2F2C}" dt="2026-01-11T23:11:41.852" v="35" actId="20577"/>
        <pc:sldMkLst>
          <pc:docMk/>
          <pc:sldMk cId="0" sldId="268"/>
        </pc:sldMkLst>
        <pc:spChg chg="add mod">
          <ac:chgData name="Samuel SAMINATHAN" userId="S::sasa63189@eleve.isep.fr::0d838187-545c-4e11-9c21-6000fffff6c0" providerId="AD" clId="Web-{EEE5E670-116E-2A5D-D4CC-52CAC22D2F2C}" dt="2026-01-11T23:11:41.852" v="35" actId="20577"/>
          <ac:spMkLst>
            <pc:docMk/>
            <pc:sldMk cId="0" sldId="268"/>
            <ac:spMk id="25" creationId="{91E557EC-BCB6-006F-F2B5-F1D27D96D9F0}"/>
          </ac:spMkLst>
        </pc:spChg>
      </pc:sldChg>
      <pc:sldChg chg="addSp modSp">
        <pc:chgData name="Samuel SAMINATHAN" userId="S::sasa63189@eleve.isep.fr::0d838187-545c-4e11-9c21-6000fffff6c0" providerId="AD" clId="Web-{EEE5E670-116E-2A5D-D4CC-52CAC22D2F2C}" dt="2026-01-11T23:11:50.383" v="37" actId="20577"/>
        <pc:sldMkLst>
          <pc:docMk/>
          <pc:sldMk cId="0" sldId="269"/>
        </pc:sldMkLst>
        <pc:spChg chg="add mod">
          <ac:chgData name="Samuel SAMINATHAN" userId="S::sasa63189@eleve.isep.fr::0d838187-545c-4e11-9c21-6000fffff6c0" providerId="AD" clId="Web-{EEE5E670-116E-2A5D-D4CC-52CAC22D2F2C}" dt="2026-01-11T23:11:50.383" v="37" actId="20577"/>
          <ac:spMkLst>
            <pc:docMk/>
            <pc:sldMk cId="0" sldId="269"/>
            <ac:spMk id="29" creationId="{4C97E780-FD29-DCD5-837F-EFEDAB546690}"/>
          </ac:spMkLst>
        </pc:spChg>
      </pc:sldChg>
      <pc:sldChg chg="addSp modSp">
        <pc:chgData name="Samuel SAMINATHAN" userId="S::sasa63189@eleve.isep.fr::0d838187-545c-4e11-9c21-6000fffff6c0" providerId="AD" clId="Web-{EEE5E670-116E-2A5D-D4CC-52CAC22D2F2C}" dt="2026-01-11T23:12:23.712" v="43" actId="1076"/>
        <pc:sldMkLst>
          <pc:docMk/>
          <pc:sldMk cId="0" sldId="270"/>
        </pc:sldMkLst>
        <pc:spChg chg="add mod">
          <ac:chgData name="Samuel SAMINATHAN" userId="S::sasa63189@eleve.isep.fr::0d838187-545c-4e11-9c21-6000fffff6c0" providerId="AD" clId="Web-{EEE5E670-116E-2A5D-D4CC-52CAC22D2F2C}" dt="2026-01-11T23:12:23.712" v="43" actId="1076"/>
          <ac:spMkLst>
            <pc:docMk/>
            <pc:sldMk cId="0" sldId="270"/>
            <ac:spMk id="45" creationId="{8FC3C97B-932C-8F51-048E-6FA79751541D}"/>
          </ac:spMkLst>
        </pc:spChg>
      </pc:sldChg>
      <pc:sldChg chg="addSp modSp">
        <pc:chgData name="Samuel SAMINATHAN" userId="S::sasa63189@eleve.isep.fr::0d838187-545c-4e11-9c21-6000fffff6c0" providerId="AD" clId="Web-{EEE5E670-116E-2A5D-D4CC-52CAC22D2F2C}" dt="2026-01-11T23:12:10.759" v="41" actId="20577"/>
        <pc:sldMkLst>
          <pc:docMk/>
          <pc:sldMk cId="0" sldId="271"/>
        </pc:sldMkLst>
        <pc:spChg chg="add mod">
          <ac:chgData name="Samuel SAMINATHAN" userId="S::sasa63189@eleve.isep.fr::0d838187-545c-4e11-9c21-6000fffff6c0" providerId="AD" clId="Web-{EEE5E670-116E-2A5D-D4CC-52CAC22D2F2C}" dt="2026-01-11T23:12:10.759" v="41" actId="20577"/>
          <ac:spMkLst>
            <pc:docMk/>
            <pc:sldMk cId="0" sldId="271"/>
            <ac:spMk id="19" creationId="{BC8996FC-C6A8-DF72-7079-CE3B322DA877}"/>
          </ac:spMkLst>
        </pc:spChg>
      </pc:sldChg>
      <pc:sldMasterChg chg="mod modSldLayout">
        <pc:chgData name="Samuel SAMINATHAN" userId="S::sasa63189@eleve.isep.fr::0d838187-545c-4e11-9c21-6000fffff6c0" providerId="AD" clId="Web-{EEE5E670-116E-2A5D-D4CC-52CAC22D2F2C}" dt="2026-01-11T23:07:32.644" v="4"/>
        <pc:sldMasterMkLst>
          <pc:docMk/>
          <pc:sldMasterMk cId="0" sldId="2147483648"/>
        </pc:sldMasterMkLst>
        <pc:sldLayoutChg chg="mod">
          <pc:chgData name="Samuel SAMINATHAN" userId="S::sasa63189@eleve.isep.fr::0d838187-545c-4e11-9c21-6000fffff6c0" providerId="AD" clId="Web-{EEE5E670-116E-2A5D-D4CC-52CAC22D2F2C}" dt="2026-01-11T23:07:32.644" v="4"/>
          <pc:sldLayoutMkLst>
            <pc:docMk/>
            <pc:sldMasterMk cId="0" sldId="2147483648"/>
            <pc:sldLayoutMk cId="0" sldId="2147483649"/>
          </pc:sldLayoutMkLst>
        </pc:sldLayoutChg>
        <pc:sldLayoutChg chg="mod">
          <pc:chgData name="Samuel SAMINATHAN" userId="S::sasa63189@eleve.isep.fr::0d838187-545c-4e11-9c21-6000fffff6c0" providerId="AD" clId="Web-{EEE5E670-116E-2A5D-D4CC-52CAC22D2F2C}" dt="2026-01-11T23:07:32.644" v="4"/>
          <pc:sldLayoutMkLst>
            <pc:docMk/>
            <pc:sldMasterMk cId="0" sldId="2147483648"/>
            <pc:sldLayoutMk cId="0" sldId="2147483650"/>
          </pc:sldLayoutMkLst>
        </pc:sldLayoutChg>
        <pc:sldLayoutChg chg="mod">
          <pc:chgData name="Samuel SAMINATHAN" userId="S::sasa63189@eleve.isep.fr::0d838187-545c-4e11-9c21-6000fffff6c0" providerId="AD" clId="Web-{EEE5E670-116E-2A5D-D4CC-52CAC22D2F2C}" dt="2026-01-11T23:07:32.644" v="4"/>
          <pc:sldLayoutMkLst>
            <pc:docMk/>
            <pc:sldMasterMk cId="0" sldId="2147483648"/>
            <pc:sldLayoutMk cId="0" sldId="2147483651"/>
          </pc:sldLayoutMkLst>
        </pc:sldLayoutChg>
        <pc:sldLayoutChg chg="mod">
          <pc:chgData name="Samuel SAMINATHAN" userId="S::sasa63189@eleve.isep.fr::0d838187-545c-4e11-9c21-6000fffff6c0" providerId="AD" clId="Web-{EEE5E670-116E-2A5D-D4CC-52CAC22D2F2C}" dt="2026-01-11T23:07:32.644" v="4"/>
          <pc:sldLayoutMkLst>
            <pc:docMk/>
            <pc:sldMasterMk cId="0" sldId="2147483648"/>
            <pc:sldLayoutMk cId="0" sldId="2147483652"/>
          </pc:sldLayoutMkLst>
        </pc:sldLayoutChg>
        <pc:sldLayoutChg chg="mod">
          <pc:chgData name="Samuel SAMINATHAN" userId="S::sasa63189@eleve.isep.fr::0d838187-545c-4e11-9c21-6000fffff6c0" providerId="AD" clId="Web-{EEE5E670-116E-2A5D-D4CC-52CAC22D2F2C}" dt="2026-01-11T23:07:32.644" v="4"/>
          <pc:sldLayoutMkLst>
            <pc:docMk/>
            <pc:sldMasterMk cId="0" sldId="2147483648"/>
            <pc:sldLayoutMk cId="0" sldId="2147483653"/>
          </pc:sldLayoutMkLst>
        </pc:sldLayoutChg>
        <pc:sldLayoutChg chg="mod">
          <pc:chgData name="Samuel SAMINATHAN" userId="S::sasa63189@eleve.isep.fr::0d838187-545c-4e11-9c21-6000fffff6c0" providerId="AD" clId="Web-{EEE5E670-116E-2A5D-D4CC-52CAC22D2F2C}" dt="2026-01-11T23:07:32.644" v="4"/>
          <pc:sldLayoutMkLst>
            <pc:docMk/>
            <pc:sldMasterMk cId="0" sldId="2147483648"/>
            <pc:sldLayoutMk cId="0" sldId="2147483654"/>
          </pc:sldLayoutMkLst>
        </pc:sldLayoutChg>
        <pc:sldLayoutChg chg="mod">
          <pc:chgData name="Samuel SAMINATHAN" userId="S::sasa63189@eleve.isep.fr::0d838187-545c-4e11-9c21-6000fffff6c0" providerId="AD" clId="Web-{EEE5E670-116E-2A5D-D4CC-52CAC22D2F2C}" dt="2026-01-11T23:07:32.644" v="4"/>
          <pc:sldLayoutMkLst>
            <pc:docMk/>
            <pc:sldMasterMk cId="0" sldId="2147483648"/>
            <pc:sldLayoutMk cId="0" sldId="2147483655"/>
          </pc:sldLayoutMkLst>
        </pc:sldLayoutChg>
        <pc:sldLayoutChg chg="mod">
          <pc:chgData name="Samuel SAMINATHAN" userId="S::sasa63189@eleve.isep.fr::0d838187-545c-4e11-9c21-6000fffff6c0" providerId="AD" clId="Web-{EEE5E670-116E-2A5D-D4CC-52CAC22D2F2C}" dt="2026-01-11T23:07:32.644" v="4"/>
          <pc:sldLayoutMkLst>
            <pc:docMk/>
            <pc:sldMasterMk cId="0" sldId="2147483648"/>
            <pc:sldLayoutMk cId="0" sldId="2147483656"/>
          </pc:sldLayoutMkLst>
        </pc:sldLayoutChg>
        <pc:sldLayoutChg chg="mod">
          <pc:chgData name="Samuel SAMINATHAN" userId="S::sasa63189@eleve.isep.fr::0d838187-545c-4e11-9c21-6000fffff6c0" providerId="AD" clId="Web-{EEE5E670-116E-2A5D-D4CC-52CAC22D2F2C}" dt="2026-01-11T23:07:32.644" v="4"/>
          <pc:sldLayoutMkLst>
            <pc:docMk/>
            <pc:sldMasterMk cId="0" sldId="2147483648"/>
            <pc:sldLayoutMk cId="0" sldId="2147483657"/>
          </pc:sldLayoutMkLst>
        </pc:sldLayoutChg>
        <pc:sldLayoutChg chg="mod">
          <pc:chgData name="Samuel SAMINATHAN" userId="S::sasa63189@eleve.isep.fr::0d838187-545c-4e11-9c21-6000fffff6c0" providerId="AD" clId="Web-{EEE5E670-116E-2A5D-D4CC-52CAC22D2F2C}" dt="2026-01-11T23:07:32.644" v="4"/>
          <pc:sldLayoutMkLst>
            <pc:docMk/>
            <pc:sldMasterMk cId="0" sldId="2147483648"/>
            <pc:sldLayoutMk cId="0" sldId="2147483658"/>
          </pc:sldLayoutMkLst>
        </pc:sldLayoutChg>
        <pc:sldLayoutChg chg="mod">
          <pc:chgData name="Samuel SAMINATHAN" userId="S::sasa63189@eleve.isep.fr::0d838187-545c-4e11-9c21-6000fffff6c0" providerId="AD" clId="Web-{EEE5E670-116E-2A5D-D4CC-52CAC22D2F2C}" dt="2026-01-11T23:07:32.644" v="4"/>
          <pc:sldLayoutMkLst>
            <pc:docMk/>
            <pc:sldMasterMk cId="0" sldId="2147483648"/>
            <pc:sldLayoutMk cId="0" sldId="2147483659"/>
          </pc:sldLayoutMkLst>
        </pc:sldLayoutChg>
      </pc:sldMasterChg>
    </pc:docChg>
  </pc:docChgLst>
  <pc:docChgLst>
    <pc:chgData name="Lucas HUYNH" userId="82001367-3e5c-45c1-aabe-7c3547180045" providerId="ADAL" clId="{6D81DF88-6930-4FB6-A726-ECF904E3B0CC}"/>
    <pc:docChg chg="undo custSel modSld">
      <pc:chgData name="Lucas HUYNH" userId="82001367-3e5c-45c1-aabe-7c3547180045" providerId="ADAL" clId="{6D81DF88-6930-4FB6-A726-ECF904E3B0CC}" dt="2026-01-12T00:08:49.795" v="75" actId="113"/>
      <pc:docMkLst>
        <pc:docMk/>
      </pc:docMkLst>
      <pc:sldChg chg="delSp modSp mod">
        <pc:chgData name="Lucas HUYNH" userId="82001367-3e5c-45c1-aabe-7c3547180045" providerId="ADAL" clId="{6D81DF88-6930-4FB6-A726-ECF904E3B0CC}" dt="2026-01-12T00:08:49.795" v="75" actId="113"/>
        <pc:sldMkLst>
          <pc:docMk/>
          <pc:sldMk cId="0" sldId="262"/>
        </pc:sldMkLst>
        <pc:spChg chg="mod">
          <ac:chgData name="Lucas HUYNH" userId="82001367-3e5c-45c1-aabe-7c3547180045" providerId="ADAL" clId="{6D81DF88-6930-4FB6-A726-ECF904E3B0CC}" dt="2026-01-12T00:08:00.202" v="12" actId="1076"/>
          <ac:spMkLst>
            <pc:docMk/>
            <pc:sldMk cId="0" sldId="262"/>
            <ac:spMk id="13" creationId="{00000000-0000-0000-0000-000000000000}"/>
          </ac:spMkLst>
        </pc:spChg>
        <pc:spChg chg="mod">
          <ac:chgData name="Lucas HUYNH" userId="82001367-3e5c-45c1-aabe-7c3547180045" providerId="ADAL" clId="{6D81DF88-6930-4FB6-A726-ECF904E3B0CC}" dt="2026-01-12T00:08:39.892" v="73" actId="1076"/>
          <ac:spMkLst>
            <pc:docMk/>
            <pc:sldMk cId="0" sldId="262"/>
            <ac:spMk id="16" creationId="{00000000-0000-0000-0000-000000000000}"/>
          </ac:spMkLst>
        </pc:spChg>
        <pc:spChg chg="mod">
          <ac:chgData name="Lucas HUYNH" userId="82001367-3e5c-45c1-aabe-7c3547180045" providerId="ADAL" clId="{6D81DF88-6930-4FB6-A726-ECF904E3B0CC}" dt="2026-01-12T00:08:49.795" v="75" actId="113"/>
          <ac:spMkLst>
            <pc:docMk/>
            <pc:sldMk cId="0" sldId="262"/>
            <ac:spMk id="21" creationId="{00000000-0000-0000-0000-000000000000}"/>
          </ac:spMkLst>
        </pc:spChg>
        <pc:spChg chg="del mod">
          <ac:chgData name="Lucas HUYNH" userId="82001367-3e5c-45c1-aabe-7c3547180045" providerId="ADAL" clId="{6D81DF88-6930-4FB6-A726-ECF904E3B0CC}" dt="2026-01-12T00:07:31.888" v="4" actId="478"/>
          <ac:spMkLst>
            <pc:docMk/>
            <pc:sldMk cId="0" sldId="262"/>
            <ac:spMk id="22" creationId="{00000000-0000-0000-0000-000000000000}"/>
          </ac:spMkLst>
        </pc:spChg>
      </pc:sldChg>
    </pc:docChg>
  </pc:docChgLst>
  <pc:docChgLst>
    <pc:chgData name="Alberic DESJOBERT" userId="S::alde62943@eleve.isep.fr::2979ead4-da9a-4013-89d5-a33b46c2ede7" providerId="AD" clId="Web-{0029ED5F-8692-D535-73DE-D0228EBF258B}"/>
    <pc:docChg chg="modSld">
      <pc:chgData name="Alberic DESJOBERT" userId="S::alde62943@eleve.isep.fr::2979ead4-da9a-4013-89d5-a33b46c2ede7" providerId="AD" clId="Web-{0029ED5F-8692-D535-73DE-D0228EBF258B}" dt="2026-01-11T19:14:28.557" v="66" actId="20577"/>
      <pc:docMkLst>
        <pc:docMk/>
      </pc:docMkLst>
      <pc:sldChg chg="modSp">
        <pc:chgData name="Alberic DESJOBERT" userId="S::alde62943@eleve.isep.fr::2979ead4-da9a-4013-89d5-a33b46c2ede7" providerId="AD" clId="Web-{0029ED5F-8692-D535-73DE-D0228EBF258B}" dt="2026-01-11T19:14:28.557" v="66" actId="20577"/>
        <pc:sldMkLst>
          <pc:docMk/>
          <pc:sldMk cId="0" sldId="260"/>
        </pc:sldMkLst>
        <pc:spChg chg="mod">
          <ac:chgData name="Alberic DESJOBERT" userId="S::alde62943@eleve.isep.fr::2979ead4-da9a-4013-89d5-a33b46c2ede7" providerId="AD" clId="Web-{0029ED5F-8692-D535-73DE-D0228EBF258B}" dt="2026-01-11T19:14:11.853" v="54" actId="20577"/>
          <ac:spMkLst>
            <pc:docMk/>
            <pc:sldMk cId="0" sldId="260"/>
            <ac:spMk id="19" creationId="{00000000-0000-0000-0000-000000000000}"/>
          </ac:spMkLst>
        </pc:spChg>
        <pc:spChg chg="mod">
          <ac:chgData name="Alberic DESJOBERT" userId="S::alde62943@eleve.isep.fr::2979ead4-da9a-4013-89d5-a33b46c2ede7" providerId="AD" clId="Web-{0029ED5F-8692-D535-73DE-D0228EBF258B}" dt="2026-01-11T19:14:15.150" v="56" actId="20577"/>
          <ac:spMkLst>
            <pc:docMk/>
            <pc:sldMk cId="0" sldId="260"/>
            <ac:spMk id="20" creationId="{00000000-0000-0000-0000-000000000000}"/>
          </ac:spMkLst>
        </pc:spChg>
        <pc:spChg chg="mod">
          <ac:chgData name="Alberic DESJOBERT" userId="S::alde62943@eleve.isep.fr::2979ead4-da9a-4013-89d5-a33b46c2ede7" providerId="AD" clId="Web-{0029ED5F-8692-D535-73DE-D0228EBF258B}" dt="2026-01-11T19:14:00.806" v="50" actId="20577"/>
          <ac:spMkLst>
            <pc:docMk/>
            <pc:sldMk cId="0" sldId="260"/>
            <ac:spMk id="21" creationId="{00000000-0000-0000-0000-000000000000}"/>
          </ac:spMkLst>
        </pc:spChg>
        <pc:spChg chg="mod">
          <ac:chgData name="Alberic DESJOBERT" userId="S::alde62943@eleve.isep.fr::2979ead4-da9a-4013-89d5-a33b46c2ede7" providerId="AD" clId="Web-{0029ED5F-8692-D535-73DE-D0228EBF258B}" dt="2026-01-11T19:14:28.557" v="66" actId="20577"/>
          <ac:spMkLst>
            <pc:docMk/>
            <pc:sldMk cId="0" sldId="260"/>
            <ac:spMk id="22" creationId="{00000000-0000-0000-0000-000000000000}"/>
          </ac:spMkLst>
        </pc:spChg>
      </pc:sldChg>
    </pc:docChg>
  </pc:docChgLst>
  <pc:docChgLst>
    <pc:chgData name="Alberic DESJOBERT" userId="S::alde62943@eleve.isep.fr::2979ead4-da9a-4013-89d5-a33b46c2ede7" providerId="AD" clId="Web-{0FCBF36C-D045-6E5E-20EA-EFFA33122BB6}"/>
    <pc:docChg chg="modSld">
      <pc:chgData name="Alberic DESJOBERT" userId="S::alde62943@eleve.isep.fr::2979ead4-da9a-4013-89d5-a33b46c2ede7" providerId="AD" clId="Web-{0FCBF36C-D045-6E5E-20EA-EFFA33122BB6}" dt="2026-01-09T16:08:48.661" v="13" actId="14100"/>
      <pc:docMkLst>
        <pc:docMk/>
      </pc:docMkLst>
      <pc:sldChg chg="modSp">
        <pc:chgData name="Alberic DESJOBERT" userId="S::alde62943@eleve.isep.fr::2979ead4-da9a-4013-89d5-a33b46c2ede7" providerId="AD" clId="Web-{0FCBF36C-D045-6E5E-20EA-EFFA33122BB6}" dt="2026-01-09T15:10:41.271" v="8" actId="14100"/>
        <pc:sldMkLst>
          <pc:docMk/>
          <pc:sldMk cId="0" sldId="257"/>
        </pc:sldMkLst>
        <pc:spChg chg="mod">
          <ac:chgData name="Alberic DESJOBERT" userId="S::alde62943@eleve.isep.fr::2979ead4-da9a-4013-89d5-a33b46c2ede7" providerId="AD" clId="Web-{0FCBF36C-D045-6E5E-20EA-EFFA33122BB6}" dt="2026-01-09T15:09:58.361" v="0" actId="14100"/>
          <ac:spMkLst>
            <pc:docMk/>
            <pc:sldMk cId="0" sldId="257"/>
            <ac:spMk id="5" creationId="{00000000-0000-0000-0000-000000000000}"/>
          </ac:spMkLst>
        </pc:spChg>
        <pc:spChg chg="mod">
          <ac:chgData name="Alberic DESJOBERT" userId="S::alde62943@eleve.isep.fr::2979ead4-da9a-4013-89d5-a33b46c2ede7" providerId="AD" clId="Web-{0FCBF36C-D045-6E5E-20EA-EFFA33122BB6}" dt="2026-01-09T15:10:07.924" v="1" actId="14100"/>
          <ac:spMkLst>
            <pc:docMk/>
            <pc:sldMk cId="0" sldId="257"/>
            <ac:spMk id="9" creationId="{00000000-0000-0000-0000-000000000000}"/>
          </ac:spMkLst>
        </pc:spChg>
        <pc:spChg chg="mod">
          <ac:chgData name="Alberic DESJOBERT" userId="S::alde62943@eleve.isep.fr::2979ead4-da9a-4013-89d5-a33b46c2ede7" providerId="AD" clId="Web-{0FCBF36C-D045-6E5E-20EA-EFFA33122BB6}" dt="2026-01-09T15:10:08.018" v="2" actId="14100"/>
          <ac:spMkLst>
            <pc:docMk/>
            <pc:sldMk cId="0" sldId="257"/>
            <ac:spMk id="13" creationId="{00000000-0000-0000-0000-000000000000}"/>
          </ac:spMkLst>
        </pc:spChg>
        <pc:spChg chg="mod">
          <ac:chgData name="Alberic DESJOBERT" userId="S::alde62943@eleve.isep.fr::2979ead4-da9a-4013-89d5-a33b46c2ede7" providerId="AD" clId="Web-{0FCBF36C-D045-6E5E-20EA-EFFA33122BB6}" dt="2026-01-09T15:10:08.440" v="3" actId="14100"/>
          <ac:spMkLst>
            <pc:docMk/>
            <pc:sldMk cId="0" sldId="257"/>
            <ac:spMk id="17" creationId="{00000000-0000-0000-0000-000000000000}"/>
          </ac:spMkLst>
        </pc:spChg>
        <pc:spChg chg="mod">
          <ac:chgData name="Alberic DESJOBERT" userId="S::alde62943@eleve.isep.fr::2979ead4-da9a-4013-89d5-a33b46c2ede7" providerId="AD" clId="Web-{0FCBF36C-D045-6E5E-20EA-EFFA33122BB6}" dt="2026-01-09T15:10:11.753" v="4" actId="14100"/>
          <ac:spMkLst>
            <pc:docMk/>
            <pc:sldMk cId="0" sldId="257"/>
            <ac:spMk id="21" creationId="{00000000-0000-0000-0000-000000000000}"/>
          </ac:spMkLst>
        </pc:spChg>
        <pc:spChg chg="mod">
          <ac:chgData name="Alberic DESJOBERT" userId="S::alde62943@eleve.isep.fr::2979ead4-da9a-4013-89d5-a33b46c2ede7" providerId="AD" clId="Web-{0FCBF36C-D045-6E5E-20EA-EFFA33122BB6}" dt="2026-01-09T15:10:15.081" v="5" actId="14100"/>
          <ac:spMkLst>
            <pc:docMk/>
            <pc:sldMk cId="0" sldId="257"/>
            <ac:spMk id="25" creationId="{00000000-0000-0000-0000-000000000000}"/>
          </ac:spMkLst>
        </pc:spChg>
        <pc:spChg chg="mod">
          <ac:chgData name="Alberic DESJOBERT" userId="S::alde62943@eleve.isep.fr::2979ead4-da9a-4013-89d5-a33b46c2ede7" providerId="AD" clId="Web-{0FCBF36C-D045-6E5E-20EA-EFFA33122BB6}" dt="2026-01-09T15:10:17.128" v="6" actId="14100"/>
          <ac:spMkLst>
            <pc:docMk/>
            <pc:sldMk cId="0" sldId="257"/>
            <ac:spMk id="29" creationId="{00000000-0000-0000-0000-000000000000}"/>
          </ac:spMkLst>
        </pc:spChg>
        <pc:spChg chg="mod">
          <ac:chgData name="Alberic DESJOBERT" userId="S::alde62943@eleve.isep.fr::2979ead4-da9a-4013-89d5-a33b46c2ede7" providerId="AD" clId="Web-{0FCBF36C-D045-6E5E-20EA-EFFA33122BB6}" dt="2026-01-09T15:10:41.271" v="8" actId="14100"/>
          <ac:spMkLst>
            <pc:docMk/>
            <pc:sldMk cId="0" sldId="257"/>
            <ac:spMk id="30" creationId="{00000000-0000-0000-0000-000000000000}"/>
          </ac:spMkLst>
        </pc:spChg>
      </pc:sldChg>
      <pc:sldChg chg="modSp">
        <pc:chgData name="Alberic DESJOBERT" userId="S::alde62943@eleve.isep.fr::2979ead4-da9a-4013-89d5-a33b46c2ede7" providerId="AD" clId="Web-{0FCBF36C-D045-6E5E-20EA-EFFA33122BB6}" dt="2026-01-09T15:11:21.461" v="9" actId="14100"/>
        <pc:sldMkLst>
          <pc:docMk/>
          <pc:sldMk cId="0" sldId="260"/>
        </pc:sldMkLst>
        <pc:spChg chg="mod">
          <ac:chgData name="Alberic DESJOBERT" userId="S::alde62943@eleve.isep.fr::2979ead4-da9a-4013-89d5-a33b46c2ede7" providerId="AD" clId="Web-{0FCBF36C-D045-6E5E-20EA-EFFA33122BB6}" dt="2026-01-09T15:11:21.461" v="9" actId="14100"/>
          <ac:spMkLst>
            <pc:docMk/>
            <pc:sldMk cId="0" sldId="260"/>
            <ac:spMk id="3" creationId="{00000000-0000-0000-0000-000000000000}"/>
          </ac:spMkLst>
        </pc:spChg>
      </pc:sldChg>
      <pc:sldChg chg="modSp">
        <pc:chgData name="Alberic DESJOBERT" userId="S::alde62943@eleve.isep.fr::2979ead4-da9a-4013-89d5-a33b46c2ede7" providerId="AD" clId="Web-{0FCBF36C-D045-6E5E-20EA-EFFA33122BB6}" dt="2026-01-09T15:11:35.415" v="10" actId="14100"/>
        <pc:sldMkLst>
          <pc:docMk/>
          <pc:sldMk cId="0" sldId="261"/>
        </pc:sldMkLst>
        <pc:spChg chg="mod">
          <ac:chgData name="Alberic DESJOBERT" userId="S::alde62943@eleve.isep.fr::2979ead4-da9a-4013-89d5-a33b46c2ede7" providerId="AD" clId="Web-{0FCBF36C-D045-6E5E-20EA-EFFA33122BB6}" dt="2026-01-09T15:11:35.415" v="10" actId="14100"/>
          <ac:spMkLst>
            <pc:docMk/>
            <pc:sldMk cId="0" sldId="261"/>
            <ac:spMk id="4" creationId="{00000000-0000-0000-0000-000000000000}"/>
          </ac:spMkLst>
        </pc:spChg>
      </pc:sldChg>
      <pc:sldChg chg="modSp">
        <pc:chgData name="Alberic DESJOBERT" userId="S::alde62943@eleve.isep.fr::2979ead4-da9a-4013-89d5-a33b46c2ede7" providerId="AD" clId="Web-{0FCBF36C-D045-6E5E-20EA-EFFA33122BB6}" dt="2026-01-09T15:12:51.686" v="11" actId="14100"/>
        <pc:sldMkLst>
          <pc:docMk/>
          <pc:sldMk cId="0" sldId="262"/>
        </pc:sldMkLst>
        <pc:spChg chg="mod">
          <ac:chgData name="Alberic DESJOBERT" userId="S::alde62943@eleve.isep.fr::2979ead4-da9a-4013-89d5-a33b46c2ede7" providerId="AD" clId="Web-{0FCBF36C-D045-6E5E-20EA-EFFA33122BB6}" dt="2026-01-09T15:12:51.686" v="11" actId="14100"/>
          <ac:spMkLst>
            <pc:docMk/>
            <pc:sldMk cId="0" sldId="262"/>
            <ac:spMk id="4" creationId="{00000000-0000-0000-0000-000000000000}"/>
          </ac:spMkLst>
        </pc:spChg>
      </pc:sldChg>
      <pc:sldChg chg="modSp">
        <pc:chgData name="Alberic DESJOBERT" userId="S::alde62943@eleve.isep.fr::2979ead4-da9a-4013-89d5-a33b46c2ede7" providerId="AD" clId="Web-{0FCBF36C-D045-6E5E-20EA-EFFA33122BB6}" dt="2026-01-09T15:12:59.139" v="12" actId="14100"/>
        <pc:sldMkLst>
          <pc:docMk/>
          <pc:sldMk cId="0" sldId="263"/>
        </pc:sldMkLst>
        <pc:spChg chg="mod">
          <ac:chgData name="Alberic DESJOBERT" userId="S::alde62943@eleve.isep.fr::2979ead4-da9a-4013-89d5-a33b46c2ede7" providerId="AD" clId="Web-{0FCBF36C-D045-6E5E-20EA-EFFA33122BB6}" dt="2026-01-09T15:12:59.139" v="12" actId="14100"/>
          <ac:spMkLst>
            <pc:docMk/>
            <pc:sldMk cId="0" sldId="263"/>
            <ac:spMk id="4" creationId="{00000000-0000-0000-0000-000000000000}"/>
          </ac:spMkLst>
        </pc:spChg>
      </pc:sldChg>
      <pc:sldChg chg="modSp">
        <pc:chgData name="Alberic DESJOBERT" userId="S::alde62943@eleve.isep.fr::2979ead4-da9a-4013-89d5-a33b46c2ede7" providerId="AD" clId="Web-{0FCBF36C-D045-6E5E-20EA-EFFA33122BB6}" dt="2026-01-09T16:08:48.661" v="13" actId="14100"/>
        <pc:sldMkLst>
          <pc:docMk/>
          <pc:sldMk cId="0" sldId="266"/>
        </pc:sldMkLst>
        <pc:spChg chg="mod">
          <ac:chgData name="Alberic DESJOBERT" userId="S::alde62943@eleve.isep.fr::2979ead4-da9a-4013-89d5-a33b46c2ede7" providerId="AD" clId="Web-{0FCBF36C-D045-6E5E-20EA-EFFA33122BB6}" dt="2026-01-09T16:08:48.661" v="13" actId="14100"/>
          <ac:spMkLst>
            <pc:docMk/>
            <pc:sldMk cId="0" sldId="266"/>
            <ac:spMk id="4" creationId="{00000000-0000-0000-0000-000000000000}"/>
          </ac:spMkLst>
        </pc:spChg>
      </pc:sldChg>
    </pc:docChg>
  </pc:docChgLst>
  <pc:docChgLst>
    <pc:chgData name="Lucas HUYNH" userId="S::luhu62926@eleve.isep.fr::82001367-3e5c-45c1-aabe-7c3547180045" providerId="AD" clId="Web-{829398BA-BB37-3771-709B-0FC6AF05D875}"/>
    <pc:docChg chg="modSld">
      <pc:chgData name="Lucas HUYNH" userId="S::luhu62926@eleve.isep.fr::82001367-3e5c-45c1-aabe-7c3547180045" providerId="AD" clId="Web-{829398BA-BB37-3771-709B-0FC6AF05D875}" dt="2026-01-12T07:58:17.032" v="9" actId="14100"/>
      <pc:docMkLst>
        <pc:docMk/>
      </pc:docMkLst>
      <pc:sldChg chg="modSp">
        <pc:chgData name="Lucas HUYNH" userId="S::luhu62926@eleve.isep.fr::82001367-3e5c-45c1-aabe-7c3547180045" providerId="AD" clId="Web-{829398BA-BB37-3771-709B-0FC6AF05D875}" dt="2026-01-12T07:55:17.514" v="8" actId="20577"/>
        <pc:sldMkLst>
          <pc:docMk/>
          <pc:sldMk cId="0" sldId="262"/>
        </pc:sldMkLst>
        <pc:spChg chg="mod">
          <ac:chgData name="Lucas HUYNH" userId="S::luhu62926@eleve.isep.fr::82001367-3e5c-45c1-aabe-7c3547180045" providerId="AD" clId="Web-{829398BA-BB37-3771-709B-0FC6AF05D875}" dt="2026-01-12T07:55:17.514" v="8" actId="20577"/>
          <ac:spMkLst>
            <pc:docMk/>
            <pc:sldMk cId="0" sldId="262"/>
            <ac:spMk id="21" creationId="{00000000-0000-0000-0000-000000000000}"/>
          </ac:spMkLst>
        </pc:spChg>
      </pc:sldChg>
      <pc:sldChg chg="modSp">
        <pc:chgData name="Lucas HUYNH" userId="S::luhu62926@eleve.isep.fr::82001367-3e5c-45c1-aabe-7c3547180045" providerId="AD" clId="Web-{829398BA-BB37-3771-709B-0FC6AF05D875}" dt="2026-01-12T07:58:17.032" v="9" actId="14100"/>
        <pc:sldMkLst>
          <pc:docMk/>
          <pc:sldMk cId="0" sldId="266"/>
        </pc:sldMkLst>
        <pc:picChg chg="mod">
          <ac:chgData name="Lucas HUYNH" userId="S::luhu62926@eleve.isep.fr::82001367-3e5c-45c1-aabe-7c3547180045" providerId="AD" clId="Web-{829398BA-BB37-3771-709B-0FC6AF05D875}" dt="2026-01-12T07:58:17.032" v="9" actId="14100"/>
          <ac:picMkLst>
            <pc:docMk/>
            <pc:sldMk cId="0" sldId="266"/>
            <ac:picMk id="25" creationId="{A11B4984-C5CA-DF2E-1EDA-38F18D75B46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63273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txBody>
          <a:bodyPr/>
          <a:lstStyle/>
          <a:p>
            <a:endParaRPr lang="fr-FR"/>
          </a:p>
        </p:txBody>
      </p:sp>
      <p:sp>
        <p:nvSpPr>
          <p:cNvPr id="3" name="Shape 1"/>
          <p:cNvSpPr/>
          <p:nvPr/>
        </p:nvSpPr>
        <p:spPr>
          <a:xfrm>
            <a:off x="0" y="0"/>
            <a:ext cx="14630400" cy="8229600"/>
          </a:xfrm>
          <a:prstGeom prst="rect">
            <a:avLst/>
          </a:prstGeom>
          <a:solidFill>
            <a:srgbClr val="FAFFFA"/>
          </a:solidFill>
          <a:ln/>
        </p:spPr>
        <p:txBody>
          <a:bodyPr/>
          <a:lstStyle/>
          <a:p>
            <a:endParaRPr lang="fr-F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txBody>
          <a:bodyPr/>
          <a:lstStyle/>
          <a:p>
            <a:endParaRPr lang="fr-FR"/>
          </a:p>
        </p:txBody>
      </p:sp>
      <p:sp>
        <p:nvSpPr>
          <p:cNvPr id="3" name="Shape 1"/>
          <p:cNvSpPr/>
          <p:nvPr/>
        </p:nvSpPr>
        <p:spPr>
          <a:xfrm>
            <a:off x="0" y="0"/>
            <a:ext cx="14630400" cy="8229600"/>
          </a:xfrm>
          <a:prstGeom prst="rect">
            <a:avLst/>
          </a:prstGeom>
          <a:solidFill>
            <a:srgbClr val="FAFFFA"/>
          </a:solidFill>
          <a:ln/>
        </p:spPr>
        <p:txBody>
          <a:bodyPr/>
          <a:lstStyle/>
          <a:p>
            <a:endParaRPr lang="fr-F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txBody>
          <a:bodyPr/>
          <a:lstStyle/>
          <a:p>
            <a:endParaRPr lang="fr-FR"/>
          </a:p>
        </p:txBody>
      </p:sp>
      <p:sp>
        <p:nvSpPr>
          <p:cNvPr id="3" name="Shape 1"/>
          <p:cNvSpPr/>
          <p:nvPr/>
        </p:nvSpPr>
        <p:spPr>
          <a:xfrm>
            <a:off x="0" y="0"/>
            <a:ext cx="14630400" cy="8229600"/>
          </a:xfrm>
          <a:prstGeom prst="rect">
            <a:avLst/>
          </a:prstGeom>
          <a:solidFill>
            <a:srgbClr val="FAFFFA"/>
          </a:solidFill>
          <a:ln/>
        </p:spPr>
        <p:txBody>
          <a:bodyPr/>
          <a:lstStyle/>
          <a:p>
            <a:endParaRPr lang="fr-F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txBody>
          <a:bodyPr/>
          <a:lstStyle/>
          <a:p>
            <a:endParaRPr lang="fr-FR"/>
          </a:p>
        </p:txBody>
      </p:sp>
      <p:sp>
        <p:nvSpPr>
          <p:cNvPr id="3" name="Shape 1"/>
          <p:cNvSpPr/>
          <p:nvPr/>
        </p:nvSpPr>
        <p:spPr>
          <a:xfrm>
            <a:off x="0" y="0"/>
            <a:ext cx="14630400" cy="8229600"/>
          </a:xfrm>
          <a:prstGeom prst="rect">
            <a:avLst/>
          </a:prstGeom>
          <a:solidFill>
            <a:srgbClr val="FAFFFA"/>
          </a:solidFill>
          <a:ln/>
        </p:spPr>
        <p:txBody>
          <a:bodyPr/>
          <a:lstStyle/>
          <a:p>
            <a:endParaRPr lang="fr-F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txBody>
          <a:bodyPr/>
          <a:lstStyle/>
          <a:p>
            <a:endParaRPr lang="fr-FR"/>
          </a:p>
        </p:txBody>
      </p:sp>
      <p:sp>
        <p:nvSpPr>
          <p:cNvPr id="3" name="Shape 1"/>
          <p:cNvSpPr/>
          <p:nvPr/>
        </p:nvSpPr>
        <p:spPr>
          <a:xfrm>
            <a:off x="0" y="0"/>
            <a:ext cx="14630400" cy="8229600"/>
          </a:xfrm>
          <a:prstGeom prst="rect">
            <a:avLst/>
          </a:prstGeom>
          <a:solidFill>
            <a:srgbClr val="FAFFFA"/>
          </a:solidFill>
          <a:ln/>
        </p:spPr>
        <p:txBody>
          <a:bodyPr/>
          <a:lstStyle/>
          <a:p>
            <a:endParaRPr lang="fr-F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txBody>
          <a:bodyPr/>
          <a:lstStyle/>
          <a:p>
            <a:endParaRPr lang="fr-FR"/>
          </a:p>
        </p:txBody>
      </p:sp>
      <p:sp>
        <p:nvSpPr>
          <p:cNvPr id="3" name="Shape 1"/>
          <p:cNvSpPr/>
          <p:nvPr/>
        </p:nvSpPr>
        <p:spPr>
          <a:xfrm>
            <a:off x="0" y="0"/>
            <a:ext cx="14630400" cy="8229600"/>
          </a:xfrm>
          <a:prstGeom prst="rect">
            <a:avLst/>
          </a:prstGeom>
          <a:solidFill>
            <a:srgbClr val="FAFFFA"/>
          </a:solidFill>
          <a:ln/>
        </p:spPr>
        <p:txBody>
          <a:bodyPr/>
          <a:lstStyle/>
          <a:p>
            <a:endParaRPr lang="fr-F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txBody>
          <a:bodyPr/>
          <a:lstStyle/>
          <a:p>
            <a:endParaRPr lang="fr-FR"/>
          </a:p>
        </p:txBody>
      </p:sp>
      <p:sp>
        <p:nvSpPr>
          <p:cNvPr id="3" name="Shape 1"/>
          <p:cNvSpPr/>
          <p:nvPr/>
        </p:nvSpPr>
        <p:spPr>
          <a:xfrm>
            <a:off x="0" y="0"/>
            <a:ext cx="14630400" cy="8229600"/>
          </a:xfrm>
          <a:prstGeom prst="rect">
            <a:avLst/>
          </a:prstGeom>
          <a:solidFill>
            <a:srgbClr val="FAFFFA"/>
          </a:solidFill>
          <a:ln/>
        </p:spPr>
        <p:txBody>
          <a:bodyPr/>
          <a:lstStyle/>
          <a:p>
            <a:endParaRPr lang="fr-F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txBody>
          <a:bodyPr/>
          <a:lstStyle/>
          <a:p>
            <a:endParaRPr lang="fr-FR"/>
          </a:p>
        </p:txBody>
      </p:sp>
      <p:sp>
        <p:nvSpPr>
          <p:cNvPr id="3" name="Shape 1"/>
          <p:cNvSpPr/>
          <p:nvPr/>
        </p:nvSpPr>
        <p:spPr>
          <a:xfrm>
            <a:off x="0" y="0"/>
            <a:ext cx="14630400" cy="8229600"/>
          </a:xfrm>
          <a:prstGeom prst="rect">
            <a:avLst/>
          </a:prstGeom>
          <a:solidFill>
            <a:srgbClr val="FAFFFA"/>
          </a:solidFill>
          <a:ln/>
        </p:spPr>
        <p:txBody>
          <a:bodyPr/>
          <a:lstStyle/>
          <a:p>
            <a:endParaRPr lang="fr-F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txBody>
          <a:bodyPr/>
          <a:lstStyle/>
          <a:p>
            <a:endParaRPr lang="fr-FR"/>
          </a:p>
        </p:txBody>
      </p:sp>
      <p:sp>
        <p:nvSpPr>
          <p:cNvPr id="3" name="Shape 1"/>
          <p:cNvSpPr/>
          <p:nvPr/>
        </p:nvSpPr>
        <p:spPr>
          <a:xfrm>
            <a:off x="0" y="0"/>
            <a:ext cx="14630400" cy="8229600"/>
          </a:xfrm>
          <a:prstGeom prst="rect">
            <a:avLst/>
          </a:prstGeom>
          <a:solidFill>
            <a:srgbClr val="FAFFFA"/>
          </a:solidFill>
          <a:ln/>
        </p:spPr>
        <p:txBody>
          <a:bodyPr/>
          <a:lstStyle/>
          <a:p>
            <a:endParaRPr lang="fr-F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txBody>
          <a:bodyPr/>
          <a:lstStyle/>
          <a:p>
            <a:endParaRPr lang="fr-FR"/>
          </a:p>
        </p:txBody>
      </p:sp>
      <p:sp>
        <p:nvSpPr>
          <p:cNvPr id="3" name="Shape 1"/>
          <p:cNvSpPr/>
          <p:nvPr/>
        </p:nvSpPr>
        <p:spPr>
          <a:xfrm>
            <a:off x="0" y="0"/>
            <a:ext cx="14630400" cy="8229600"/>
          </a:xfrm>
          <a:prstGeom prst="rect">
            <a:avLst/>
          </a:prstGeom>
          <a:solidFill>
            <a:srgbClr val="FAFFFA"/>
          </a:solidFill>
          <a:ln/>
        </p:spPr>
        <p:txBody>
          <a:bodyPr/>
          <a:lstStyle/>
          <a:p>
            <a:endParaRPr lang="fr-F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9.svg"/><Relationship Id="rId11" Type="http://schemas.openxmlformats.org/officeDocument/2006/relationships/image" Target="../media/image2.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svg"/><Relationship Id="rId9"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svg"/></Relationships>
</file>

<file path=ppt/slides/_rels/slide8.xml.rels><?xml version="1.0" encoding="UTF-8" standalone="yes"?>
<Relationships xmlns="http://schemas.openxmlformats.org/package/2006/relationships"><Relationship Id="rId8" Type="http://schemas.openxmlformats.org/officeDocument/2006/relationships/image" Target="../media/image29.svg"/><Relationship Id="rId13" Type="http://schemas.openxmlformats.org/officeDocument/2006/relationships/image" Target="../media/image2.pn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sv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27.sv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png"/></Relationships>
</file>

<file path=ppt/slides/_rels/slide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2.png"/><Relationship Id="rId5" Type="http://schemas.openxmlformats.org/officeDocument/2006/relationships/image" Target="../media/image36.png"/><Relationship Id="rId4" Type="http://schemas.openxmlformats.org/officeDocument/2006/relationships/image" Target="../media/image35.svg"/></Relationships>
</file>

<file path=ppt/slides/_rels/slide1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2.png"/><Relationship Id="rId5" Type="http://schemas.openxmlformats.org/officeDocument/2006/relationships/image" Target="../media/image39.png"/><Relationship Id="rId4" Type="http://schemas.openxmlformats.org/officeDocument/2006/relationships/image" Target="../media/image38.svg"/></Relationships>
</file>

<file path=ppt/slides/_rels/slide11.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43.svg"/><Relationship Id="rId11" Type="http://schemas.openxmlformats.org/officeDocument/2006/relationships/image" Target="../media/image48.png"/><Relationship Id="rId5" Type="http://schemas.openxmlformats.org/officeDocument/2006/relationships/image" Target="../media/image42.png"/><Relationship Id="rId10" Type="http://schemas.openxmlformats.org/officeDocument/2006/relationships/image" Target="../media/image47.svg"/><Relationship Id="rId4" Type="http://schemas.openxmlformats.org/officeDocument/2006/relationships/image" Target="../media/image41.svg"/><Relationship Id="rId9" Type="http://schemas.openxmlformats.org/officeDocument/2006/relationships/image" Target="../media/image46.png"/></Relationships>
</file>

<file path=ppt/slides/_rels/slide1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8" Type="http://schemas.openxmlformats.org/officeDocument/2006/relationships/image" Target="../media/image52.svg"/><Relationship Id="rId3" Type="http://schemas.openxmlformats.org/officeDocument/2006/relationships/image" Target="../media/image8.png"/><Relationship Id="rId7" Type="http://schemas.openxmlformats.org/officeDocument/2006/relationships/image" Target="../media/image51.png"/><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50.svg"/><Relationship Id="rId11" Type="http://schemas.openxmlformats.org/officeDocument/2006/relationships/image" Target="../media/image48.png"/><Relationship Id="rId5" Type="http://schemas.openxmlformats.org/officeDocument/2006/relationships/image" Target="../media/image49.png"/><Relationship Id="rId10" Type="http://schemas.openxmlformats.org/officeDocument/2006/relationships/image" Target="../media/image54.svg"/><Relationship Id="rId4" Type="http://schemas.openxmlformats.org/officeDocument/2006/relationships/image" Target="../media/image9.svg"/><Relationship Id="rId9" Type="http://schemas.openxmlformats.org/officeDocument/2006/relationships/image" Target="../media/image53.png"/></Relationships>
</file>

<file path=ppt/slides/_rels/slide1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6.xml"/><Relationship Id="rId1" Type="http://schemas.openxmlformats.org/officeDocument/2006/relationships/slideLayout" Target="../slideLayouts/slideLayout11.xml"/><Relationship Id="rId6" Type="http://schemas.openxmlformats.org/officeDocument/2006/relationships/image" Target="../media/image48.png"/><Relationship Id="rId5" Type="http://schemas.openxmlformats.org/officeDocument/2006/relationships/image" Target="../media/image57.png"/><Relationship Id="rId4" Type="http://schemas.openxmlformats.org/officeDocument/2006/relationships/image" Target="../media/image5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2790825"/>
            <a:ext cx="6075998" cy="708779"/>
          </a:xfrm>
          <a:prstGeom prst="rect">
            <a:avLst/>
          </a:prstGeom>
          <a:noFill/>
          <a:ln/>
        </p:spPr>
        <p:txBody>
          <a:bodyPr wrap="none" lIns="0" tIns="0" rIns="0" bIns="0" rtlCol="0" anchor="t"/>
          <a:lstStyle/>
          <a:p>
            <a:pPr marL="0" indent="0" algn="l">
              <a:lnSpc>
                <a:spcPts val="5550"/>
              </a:lnSpc>
              <a:buNone/>
            </a:pPr>
            <a:r>
              <a:rPr lang="en-US" sz="4450" b="1">
                <a:solidFill>
                  <a:srgbClr val="3B4540"/>
                </a:solidFill>
                <a:latin typeface="Arial Rounded MT Bold" panose="020F0704030504030204" pitchFamily="34" charset="0"/>
                <a:ea typeface="Fraunces Extra Bold" pitchFamily="34" charset="-122"/>
                <a:cs typeface="Fraunces Extra Bold" pitchFamily="34" charset="-120"/>
              </a:rPr>
              <a:t>Réseau : Projet DDoS</a:t>
            </a:r>
            <a:endParaRPr lang="en-US" sz="4450">
              <a:latin typeface="Arial Rounded MT Bold" panose="020F0704030504030204" pitchFamily="34" charset="0"/>
            </a:endParaRPr>
          </a:p>
        </p:txBody>
      </p:sp>
      <p:sp>
        <p:nvSpPr>
          <p:cNvPr id="3" name="Text 1"/>
          <p:cNvSpPr/>
          <p:nvPr/>
        </p:nvSpPr>
        <p:spPr>
          <a:xfrm>
            <a:off x="793790" y="3839766"/>
            <a:ext cx="13042821" cy="362903"/>
          </a:xfrm>
          <a:prstGeom prst="rect">
            <a:avLst/>
          </a:prstGeom>
          <a:noFill/>
          <a:ln/>
        </p:spPr>
        <p:txBody>
          <a:bodyPr wrap="none" lIns="0" tIns="0" rIns="0" bIns="0" rtlCol="0" anchor="t"/>
          <a:lstStyle/>
          <a:p>
            <a:pPr marL="0" indent="0" algn="l">
              <a:lnSpc>
                <a:spcPts val="2850"/>
              </a:lnSpc>
              <a:buNone/>
            </a:pPr>
            <a:r>
              <a:rPr lang="en-US" sz="1750">
                <a:solidFill>
                  <a:srgbClr val="405449"/>
                </a:solidFill>
                <a:latin typeface="Arial Rounded MT Bold" panose="020F0704030504030204" pitchFamily="34" charset="0"/>
                <a:ea typeface="Nobile" pitchFamily="34" charset="-122"/>
                <a:cs typeface="Nobile" pitchFamily="34" charset="-120"/>
              </a:rPr>
              <a:t>Alexandre Flament • Albéric Desjobert • Lucas Huynh • Samuel Saminathan</a:t>
            </a:r>
            <a:endParaRPr lang="en-US" sz="1750">
              <a:latin typeface="Arial Rounded MT Bold" panose="020F0704030504030204" pitchFamily="34" charset="0"/>
            </a:endParaRPr>
          </a:p>
        </p:txBody>
      </p:sp>
      <p:sp>
        <p:nvSpPr>
          <p:cNvPr id="4" name="Text 2"/>
          <p:cNvSpPr/>
          <p:nvPr/>
        </p:nvSpPr>
        <p:spPr>
          <a:xfrm>
            <a:off x="793790" y="4457819"/>
            <a:ext cx="13042821" cy="362903"/>
          </a:xfrm>
          <a:prstGeom prst="rect">
            <a:avLst/>
          </a:prstGeom>
          <a:noFill/>
          <a:ln/>
        </p:spPr>
        <p:txBody>
          <a:bodyPr wrap="none" lIns="0" tIns="0" rIns="0" bIns="0" rtlCol="0" anchor="t"/>
          <a:lstStyle/>
          <a:p>
            <a:pPr marL="0" indent="0" algn="l">
              <a:lnSpc>
                <a:spcPts val="2850"/>
              </a:lnSpc>
              <a:buNone/>
            </a:pPr>
            <a:r>
              <a:rPr lang="en-US" sz="1750">
                <a:solidFill>
                  <a:srgbClr val="405449"/>
                </a:solidFill>
                <a:latin typeface="Arial Rounded MT Bold" panose="020F0704030504030204" pitchFamily="34" charset="0"/>
                <a:ea typeface="Nobile" pitchFamily="34" charset="-122"/>
                <a:cs typeface="Nobile" pitchFamily="34" charset="-120"/>
              </a:rPr>
              <a:t>Encadrant : M. DEBLANGY • Année universitaire : 2025 – 2026</a:t>
            </a:r>
            <a:endParaRPr lang="en-US" sz="1750">
              <a:latin typeface="Arial Rounded MT Bold" panose="020F0704030504030204" pitchFamily="34" charset="0"/>
            </a:endParaRPr>
          </a:p>
        </p:txBody>
      </p:sp>
      <p:sp>
        <p:nvSpPr>
          <p:cNvPr id="5" name="Text 3"/>
          <p:cNvSpPr/>
          <p:nvPr/>
        </p:nvSpPr>
        <p:spPr>
          <a:xfrm>
            <a:off x="793790" y="5075873"/>
            <a:ext cx="13042821" cy="362903"/>
          </a:xfrm>
          <a:prstGeom prst="rect">
            <a:avLst/>
          </a:prstGeom>
          <a:noFill/>
          <a:ln/>
        </p:spPr>
        <p:txBody>
          <a:bodyPr wrap="none" lIns="0" tIns="0" rIns="0" bIns="0" rtlCol="0" anchor="t"/>
          <a:lstStyle/>
          <a:p>
            <a:pPr marL="0" indent="0" algn="l">
              <a:lnSpc>
                <a:spcPts val="2850"/>
              </a:lnSpc>
              <a:buNone/>
            </a:pPr>
            <a:r>
              <a:rPr lang="en-US" sz="1750">
                <a:solidFill>
                  <a:srgbClr val="405449"/>
                </a:solidFill>
                <a:latin typeface="Arial Rounded MT Bold" panose="020F0704030504030204" pitchFamily="34" charset="0"/>
                <a:ea typeface="Nobile" pitchFamily="34" charset="-122"/>
                <a:cs typeface="Nobile" pitchFamily="34" charset="-120"/>
              </a:rPr>
              <a:t>Institut Supérieur de l'Électronique de Paris (ISEP)</a:t>
            </a:r>
            <a:endParaRPr lang="en-US" sz="1750">
              <a:latin typeface="Arial Rounded MT Bold" panose="020F0704030504030204" pitchFamily="34" charset="0"/>
            </a:endParaRPr>
          </a:p>
        </p:txBody>
      </p:sp>
      <p:pic>
        <p:nvPicPr>
          <p:cNvPr id="6" name="Image 5" descr="Une image contenant blanc, conception&#10;&#10;Le contenu généré par l’IA peut être incorrect.">
            <a:extLst>
              <a:ext uri="{FF2B5EF4-FFF2-40B4-BE49-F238E27FC236}">
                <a16:creationId xmlns:a16="http://schemas.microsoft.com/office/drawing/2014/main" id="{1F88A496-4BA7-0001-4153-54EEB8D33344}"/>
              </a:ext>
            </a:extLst>
          </p:cNvPr>
          <p:cNvPicPr>
            <a:picLocks noChangeAspect="1"/>
          </p:cNvPicPr>
          <p:nvPr/>
        </p:nvPicPr>
        <p:blipFill>
          <a:blip r:embed="rId3"/>
          <a:stretch>
            <a:fillRect/>
          </a:stretch>
        </p:blipFill>
        <p:spPr>
          <a:xfrm>
            <a:off x="12563187" y="7359038"/>
            <a:ext cx="2067213" cy="87056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60809" y="905708"/>
            <a:ext cx="1674495" cy="389573"/>
          </a:xfrm>
          <a:prstGeom prst="roundRect">
            <a:avLst>
              <a:gd name="adj" fmla="val 38304"/>
            </a:avLst>
          </a:prstGeom>
          <a:solidFill>
            <a:srgbClr val="DDEEE0"/>
          </a:solidFill>
          <a:ln/>
        </p:spPr>
        <p:txBody>
          <a:bodyPr/>
          <a:lstStyle/>
          <a:p>
            <a:endParaRPr lang="fr-FR">
              <a:latin typeface="Arial Rounded MT Bold" panose="020F0704030504030204" pitchFamily="34" charset="0"/>
            </a:endParaRPr>
          </a:p>
        </p:txBody>
      </p:sp>
      <p:sp>
        <p:nvSpPr>
          <p:cNvPr id="3" name="Text 1"/>
          <p:cNvSpPr/>
          <p:nvPr/>
        </p:nvSpPr>
        <p:spPr>
          <a:xfrm>
            <a:off x="885111" y="967859"/>
            <a:ext cx="1425893" cy="265271"/>
          </a:xfrm>
          <a:prstGeom prst="rect">
            <a:avLst/>
          </a:prstGeom>
          <a:noFill/>
          <a:ln/>
        </p:spPr>
        <p:txBody>
          <a:bodyPr wrap="none" lIns="0" tIns="0" rIns="0" bIns="0" rtlCol="0" anchor="t"/>
          <a:lstStyle/>
          <a:p>
            <a:pPr marL="0" indent="0" algn="l">
              <a:lnSpc>
                <a:spcPts val="2050"/>
              </a:lnSpc>
              <a:buNone/>
            </a:pPr>
            <a:r>
              <a:rPr lang="en-US" sz="1300">
                <a:solidFill>
                  <a:srgbClr val="405449"/>
                </a:solidFill>
                <a:latin typeface="Arial Rounded MT Bold" panose="020F0704030504030204" pitchFamily="34" charset="0"/>
                <a:ea typeface="Nobile" pitchFamily="34" charset="-122"/>
                <a:cs typeface="Nobile" pitchFamily="34" charset="-120"/>
              </a:rPr>
              <a:t>VUE D'ENSEMBLE</a:t>
            </a:r>
            <a:endParaRPr lang="en-US" sz="1300">
              <a:latin typeface="Arial Rounded MT Bold" panose="020F0704030504030204" pitchFamily="34" charset="0"/>
            </a:endParaRPr>
          </a:p>
        </p:txBody>
      </p:sp>
      <p:sp>
        <p:nvSpPr>
          <p:cNvPr id="4" name="Text 2"/>
          <p:cNvSpPr/>
          <p:nvPr/>
        </p:nvSpPr>
        <p:spPr>
          <a:xfrm>
            <a:off x="760809" y="1378148"/>
            <a:ext cx="5181243" cy="647700"/>
          </a:xfrm>
          <a:prstGeom prst="rect">
            <a:avLst/>
          </a:prstGeom>
          <a:noFill/>
          <a:ln/>
        </p:spPr>
        <p:txBody>
          <a:bodyPr wrap="none" lIns="0" tIns="0" rIns="0" bIns="0" rtlCol="0" anchor="t"/>
          <a:lstStyle/>
          <a:p>
            <a:pPr marL="0" indent="0" algn="l">
              <a:lnSpc>
                <a:spcPts val="5050"/>
              </a:lnSpc>
              <a:buNone/>
            </a:pPr>
            <a:r>
              <a:rPr lang="en-US" sz="4050" b="1">
                <a:solidFill>
                  <a:srgbClr val="3B4540"/>
                </a:solidFill>
                <a:latin typeface="Arial Rounded MT Bold" panose="020F0704030504030204" pitchFamily="34" charset="0"/>
                <a:ea typeface="Fraunces Extra Bold" pitchFamily="34" charset="-122"/>
                <a:cs typeface="Fraunces Extra Bold" pitchFamily="34" charset="-120"/>
              </a:rPr>
              <a:t>Sommaire</a:t>
            </a:r>
            <a:endParaRPr lang="en-US" sz="4050">
              <a:latin typeface="Arial Rounded MT Bold" panose="020F0704030504030204" pitchFamily="34" charset="0"/>
            </a:endParaRPr>
          </a:p>
        </p:txBody>
      </p:sp>
      <p:sp>
        <p:nvSpPr>
          <p:cNvPr id="5" name="Text 3"/>
          <p:cNvSpPr/>
          <p:nvPr/>
        </p:nvSpPr>
        <p:spPr>
          <a:xfrm>
            <a:off x="760809" y="2336721"/>
            <a:ext cx="328081" cy="274075"/>
          </a:xfrm>
          <a:prstGeom prst="rect">
            <a:avLst/>
          </a:prstGeom>
          <a:noFill/>
          <a:ln/>
        </p:spPr>
        <p:txBody>
          <a:bodyPr wrap="none" lIns="0" tIns="0" rIns="0" bIns="0" rtlCol="0" anchor="t"/>
          <a:lstStyle/>
          <a:p>
            <a:pPr marL="0" indent="0" algn="l">
              <a:lnSpc>
                <a:spcPts val="2600"/>
              </a:lnSpc>
              <a:buNone/>
            </a:pPr>
            <a:r>
              <a:rPr lang="en-US" sz="1600">
                <a:solidFill>
                  <a:srgbClr val="405449"/>
                </a:solidFill>
                <a:latin typeface="Arial Rounded MT Bold" panose="020F0704030504030204" pitchFamily="34" charset="0"/>
                <a:ea typeface="Fraunces Light" pitchFamily="34" charset="-122"/>
                <a:cs typeface="Fraunces Light" pitchFamily="34" charset="-120"/>
              </a:rPr>
              <a:t>01</a:t>
            </a:r>
            <a:endParaRPr lang="en-US" sz="1600">
              <a:latin typeface="Arial Rounded MT Bold" panose="020F0704030504030204" pitchFamily="34" charset="0"/>
            </a:endParaRPr>
          </a:p>
        </p:txBody>
      </p:sp>
      <p:sp>
        <p:nvSpPr>
          <p:cNvPr id="6" name="Shape 4"/>
          <p:cNvSpPr/>
          <p:nvPr/>
        </p:nvSpPr>
        <p:spPr>
          <a:xfrm>
            <a:off x="760809" y="2666048"/>
            <a:ext cx="4231481" cy="22860"/>
          </a:xfrm>
          <a:prstGeom prst="rect">
            <a:avLst/>
          </a:prstGeom>
          <a:solidFill>
            <a:srgbClr val="438951"/>
          </a:solidFill>
          <a:ln/>
        </p:spPr>
        <p:txBody>
          <a:bodyPr/>
          <a:lstStyle/>
          <a:p>
            <a:endParaRPr lang="fr-FR">
              <a:latin typeface="Arial Rounded MT Bold" panose="020F0704030504030204" pitchFamily="34" charset="0"/>
            </a:endParaRPr>
          </a:p>
        </p:txBody>
      </p:sp>
      <p:sp>
        <p:nvSpPr>
          <p:cNvPr id="7" name="Text 5"/>
          <p:cNvSpPr/>
          <p:nvPr/>
        </p:nvSpPr>
        <p:spPr>
          <a:xfrm>
            <a:off x="760809" y="2815352"/>
            <a:ext cx="2590562" cy="323850"/>
          </a:xfrm>
          <a:prstGeom prst="rect">
            <a:avLst/>
          </a:prstGeom>
          <a:noFill/>
          <a:ln/>
        </p:spPr>
        <p:txBody>
          <a:bodyPr wrap="none" lIns="0" tIns="0" rIns="0" bIns="0" rtlCol="0" anchor="t"/>
          <a:lstStyle/>
          <a:p>
            <a:pPr marL="0" indent="0" algn="l">
              <a:lnSpc>
                <a:spcPts val="2500"/>
              </a:lnSpc>
              <a:buNone/>
            </a:pPr>
            <a:r>
              <a:rPr lang="en-US" sz="2000" b="1">
                <a:solidFill>
                  <a:srgbClr val="405449"/>
                </a:solidFill>
                <a:latin typeface="Arial Rounded MT Bold" panose="020F0704030504030204" pitchFamily="34" charset="0"/>
                <a:ea typeface="Fraunces Extra Bold" pitchFamily="34" charset="-122"/>
                <a:cs typeface="Fraunces Extra Bold" pitchFamily="34" charset="-120"/>
              </a:rPr>
              <a:t>Introduction</a:t>
            </a:r>
            <a:endParaRPr lang="en-US" sz="2000">
              <a:latin typeface="Arial Rounded MT Bold" panose="020F0704030504030204" pitchFamily="34" charset="0"/>
            </a:endParaRPr>
          </a:p>
        </p:txBody>
      </p:sp>
      <p:sp>
        <p:nvSpPr>
          <p:cNvPr id="8" name="Text 6"/>
          <p:cNvSpPr/>
          <p:nvPr/>
        </p:nvSpPr>
        <p:spPr>
          <a:xfrm>
            <a:off x="760809" y="3263503"/>
            <a:ext cx="4231481" cy="663178"/>
          </a:xfrm>
          <a:prstGeom prst="rect">
            <a:avLst/>
          </a:prstGeom>
          <a:noFill/>
          <a:ln/>
        </p:spPr>
        <p:txBody>
          <a:bodyPr wrap="square" lIns="0" tIns="0" rIns="0" bIns="0" rtlCol="0" anchor="t"/>
          <a:lstStyle/>
          <a:p>
            <a:pPr marL="0" indent="0" algn="l">
              <a:lnSpc>
                <a:spcPts val="2600"/>
              </a:lnSpc>
              <a:buNone/>
            </a:pPr>
            <a:r>
              <a:rPr lang="en-US" sz="1600">
                <a:solidFill>
                  <a:srgbClr val="405449"/>
                </a:solidFill>
                <a:latin typeface="Arial Rounded MT Bold" panose="020F0704030504030204" pitchFamily="34" charset="0"/>
                <a:ea typeface="Nobile" pitchFamily="34" charset="-122"/>
                <a:cs typeface="Nobile" pitchFamily="34" charset="-120"/>
              </a:rPr>
              <a:t>Enjeux de la sécurisation face aux attaques DDoS</a:t>
            </a:r>
            <a:endParaRPr lang="en-US" sz="1600">
              <a:latin typeface="Arial Rounded MT Bold" panose="020F0704030504030204" pitchFamily="34" charset="0"/>
            </a:endParaRPr>
          </a:p>
        </p:txBody>
      </p:sp>
      <p:sp>
        <p:nvSpPr>
          <p:cNvPr id="9" name="Text 7"/>
          <p:cNvSpPr/>
          <p:nvPr/>
        </p:nvSpPr>
        <p:spPr>
          <a:xfrm>
            <a:off x="5199459" y="2336721"/>
            <a:ext cx="328081" cy="274075"/>
          </a:xfrm>
          <a:prstGeom prst="rect">
            <a:avLst/>
          </a:prstGeom>
          <a:noFill/>
          <a:ln/>
        </p:spPr>
        <p:txBody>
          <a:bodyPr wrap="none" lIns="0" tIns="0" rIns="0" bIns="0" rtlCol="0" anchor="t"/>
          <a:lstStyle/>
          <a:p>
            <a:pPr marL="0" indent="0" algn="l">
              <a:lnSpc>
                <a:spcPts val="2600"/>
              </a:lnSpc>
              <a:buNone/>
            </a:pPr>
            <a:r>
              <a:rPr lang="en-US" sz="1600">
                <a:solidFill>
                  <a:srgbClr val="405449"/>
                </a:solidFill>
                <a:latin typeface="Arial Rounded MT Bold" panose="020F0704030504030204" pitchFamily="34" charset="0"/>
                <a:ea typeface="Fraunces Light" pitchFamily="34" charset="-122"/>
                <a:cs typeface="Fraunces Light" pitchFamily="34" charset="-120"/>
              </a:rPr>
              <a:t>02</a:t>
            </a:r>
            <a:endParaRPr lang="en-US" sz="1600">
              <a:latin typeface="Arial Rounded MT Bold" panose="020F0704030504030204" pitchFamily="34" charset="0"/>
            </a:endParaRPr>
          </a:p>
        </p:txBody>
      </p:sp>
      <p:sp>
        <p:nvSpPr>
          <p:cNvPr id="10" name="Shape 8"/>
          <p:cNvSpPr/>
          <p:nvPr/>
        </p:nvSpPr>
        <p:spPr>
          <a:xfrm>
            <a:off x="5199459" y="2666048"/>
            <a:ext cx="4231481" cy="22860"/>
          </a:xfrm>
          <a:prstGeom prst="rect">
            <a:avLst/>
          </a:prstGeom>
          <a:solidFill>
            <a:srgbClr val="438951"/>
          </a:solidFill>
          <a:ln/>
        </p:spPr>
        <p:txBody>
          <a:bodyPr/>
          <a:lstStyle/>
          <a:p>
            <a:endParaRPr lang="fr-FR">
              <a:latin typeface="Arial Rounded MT Bold" panose="020F0704030504030204" pitchFamily="34" charset="0"/>
            </a:endParaRPr>
          </a:p>
        </p:txBody>
      </p:sp>
      <p:sp>
        <p:nvSpPr>
          <p:cNvPr id="11" name="Text 9"/>
          <p:cNvSpPr/>
          <p:nvPr/>
        </p:nvSpPr>
        <p:spPr>
          <a:xfrm>
            <a:off x="5199459" y="2815352"/>
            <a:ext cx="4086463" cy="323850"/>
          </a:xfrm>
          <a:prstGeom prst="rect">
            <a:avLst/>
          </a:prstGeom>
          <a:noFill/>
          <a:ln/>
        </p:spPr>
        <p:txBody>
          <a:bodyPr wrap="none" lIns="0" tIns="0" rIns="0" bIns="0" rtlCol="0" anchor="t"/>
          <a:lstStyle/>
          <a:p>
            <a:pPr marL="0" indent="0" algn="l">
              <a:lnSpc>
                <a:spcPts val="2500"/>
              </a:lnSpc>
              <a:buNone/>
            </a:pPr>
            <a:r>
              <a:rPr lang="en-US" sz="2000" b="1">
                <a:solidFill>
                  <a:srgbClr val="405449"/>
                </a:solidFill>
                <a:latin typeface="Arial Rounded MT Bold" panose="020F0704030504030204" pitchFamily="34" charset="0"/>
                <a:ea typeface="Fraunces Extra Bold" pitchFamily="34" charset="-122"/>
                <a:cs typeface="Fraunces Extra Bold" pitchFamily="34" charset="-120"/>
              </a:rPr>
              <a:t>Comprendre les attaques DDoS</a:t>
            </a:r>
            <a:endParaRPr lang="en-US" sz="2000">
              <a:latin typeface="Arial Rounded MT Bold" panose="020F0704030504030204" pitchFamily="34" charset="0"/>
            </a:endParaRPr>
          </a:p>
        </p:txBody>
      </p:sp>
      <p:sp>
        <p:nvSpPr>
          <p:cNvPr id="12" name="Text 10"/>
          <p:cNvSpPr/>
          <p:nvPr/>
        </p:nvSpPr>
        <p:spPr>
          <a:xfrm>
            <a:off x="5199459" y="3263503"/>
            <a:ext cx="4231481" cy="663178"/>
          </a:xfrm>
          <a:prstGeom prst="rect">
            <a:avLst/>
          </a:prstGeom>
          <a:noFill/>
          <a:ln/>
        </p:spPr>
        <p:txBody>
          <a:bodyPr wrap="square" lIns="0" tIns="0" rIns="0" bIns="0" rtlCol="0" anchor="t"/>
          <a:lstStyle/>
          <a:p>
            <a:pPr marL="0" indent="0" algn="l">
              <a:lnSpc>
                <a:spcPts val="2600"/>
              </a:lnSpc>
              <a:buNone/>
            </a:pPr>
            <a:r>
              <a:rPr lang="en-US" sz="1600">
                <a:solidFill>
                  <a:srgbClr val="405449"/>
                </a:solidFill>
                <a:latin typeface="Arial Rounded MT Bold" panose="020F0704030504030204" pitchFamily="34" charset="0"/>
                <a:ea typeface="Nobile" pitchFamily="34" charset="-122"/>
                <a:cs typeface="Nobile" pitchFamily="34" charset="-120"/>
              </a:rPr>
              <a:t>Définition, cibles et mécanismes fondamentaux</a:t>
            </a:r>
            <a:endParaRPr lang="en-US" sz="1600">
              <a:latin typeface="Arial Rounded MT Bold" panose="020F0704030504030204" pitchFamily="34" charset="0"/>
            </a:endParaRPr>
          </a:p>
        </p:txBody>
      </p:sp>
      <p:sp>
        <p:nvSpPr>
          <p:cNvPr id="13" name="Text 11"/>
          <p:cNvSpPr/>
          <p:nvPr/>
        </p:nvSpPr>
        <p:spPr>
          <a:xfrm>
            <a:off x="9638109" y="2336721"/>
            <a:ext cx="328081" cy="289189"/>
          </a:xfrm>
          <a:prstGeom prst="rect">
            <a:avLst/>
          </a:prstGeom>
          <a:noFill/>
          <a:ln/>
        </p:spPr>
        <p:txBody>
          <a:bodyPr wrap="none" lIns="0" tIns="0" rIns="0" bIns="0" rtlCol="0" anchor="t"/>
          <a:lstStyle/>
          <a:p>
            <a:pPr marL="0" indent="0" algn="l">
              <a:lnSpc>
                <a:spcPts val="2600"/>
              </a:lnSpc>
              <a:buNone/>
            </a:pPr>
            <a:r>
              <a:rPr lang="en-US" sz="1600">
                <a:solidFill>
                  <a:srgbClr val="405449"/>
                </a:solidFill>
                <a:latin typeface="Arial Rounded MT Bold" panose="020F0704030504030204" pitchFamily="34" charset="0"/>
                <a:ea typeface="Fraunces Light" pitchFamily="34" charset="-122"/>
                <a:cs typeface="Fraunces Light" pitchFamily="34" charset="-120"/>
              </a:rPr>
              <a:t>03</a:t>
            </a:r>
            <a:endParaRPr lang="en-US" sz="1600">
              <a:latin typeface="Arial Rounded MT Bold" panose="020F0704030504030204" pitchFamily="34" charset="0"/>
            </a:endParaRPr>
          </a:p>
        </p:txBody>
      </p:sp>
      <p:sp>
        <p:nvSpPr>
          <p:cNvPr id="14" name="Shape 12"/>
          <p:cNvSpPr/>
          <p:nvPr/>
        </p:nvSpPr>
        <p:spPr>
          <a:xfrm>
            <a:off x="9638109" y="2666048"/>
            <a:ext cx="4231481" cy="22860"/>
          </a:xfrm>
          <a:prstGeom prst="rect">
            <a:avLst/>
          </a:prstGeom>
          <a:solidFill>
            <a:srgbClr val="438951"/>
          </a:solidFill>
          <a:ln/>
        </p:spPr>
        <p:txBody>
          <a:bodyPr/>
          <a:lstStyle/>
          <a:p>
            <a:endParaRPr lang="fr-FR">
              <a:latin typeface="Arial Rounded MT Bold" panose="020F0704030504030204" pitchFamily="34" charset="0"/>
            </a:endParaRPr>
          </a:p>
        </p:txBody>
      </p:sp>
      <p:sp>
        <p:nvSpPr>
          <p:cNvPr id="15" name="Text 13"/>
          <p:cNvSpPr/>
          <p:nvPr/>
        </p:nvSpPr>
        <p:spPr>
          <a:xfrm>
            <a:off x="9638109" y="2815352"/>
            <a:ext cx="3789402" cy="323850"/>
          </a:xfrm>
          <a:prstGeom prst="rect">
            <a:avLst/>
          </a:prstGeom>
          <a:noFill/>
          <a:ln/>
        </p:spPr>
        <p:txBody>
          <a:bodyPr wrap="none" lIns="0" tIns="0" rIns="0" bIns="0" rtlCol="0" anchor="t"/>
          <a:lstStyle/>
          <a:p>
            <a:pPr marL="0" indent="0" algn="l">
              <a:lnSpc>
                <a:spcPts val="2500"/>
              </a:lnSpc>
              <a:buNone/>
            </a:pPr>
            <a:r>
              <a:rPr lang="en-US" sz="2000" b="1">
                <a:solidFill>
                  <a:srgbClr val="405449"/>
                </a:solidFill>
                <a:latin typeface="Arial Rounded MT Bold" panose="020F0704030504030204" pitchFamily="34" charset="0"/>
                <a:ea typeface="Fraunces Extra Bold" pitchFamily="34" charset="-122"/>
                <a:cs typeface="Fraunces Extra Bold" pitchFamily="34" charset="-120"/>
              </a:rPr>
              <a:t>Reconnaissance : le Portscan</a:t>
            </a:r>
            <a:endParaRPr lang="en-US" sz="2000">
              <a:latin typeface="Arial Rounded MT Bold" panose="020F0704030504030204" pitchFamily="34" charset="0"/>
            </a:endParaRPr>
          </a:p>
        </p:txBody>
      </p:sp>
      <p:sp>
        <p:nvSpPr>
          <p:cNvPr id="16" name="Text 14"/>
          <p:cNvSpPr/>
          <p:nvPr/>
        </p:nvSpPr>
        <p:spPr>
          <a:xfrm>
            <a:off x="9638109" y="3263503"/>
            <a:ext cx="4231481" cy="663178"/>
          </a:xfrm>
          <a:prstGeom prst="rect">
            <a:avLst/>
          </a:prstGeom>
          <a:noFill/>
          <a:ln/>
        </p:spPr>
        <p:txBody>
          <a:bodyPr wrap="square" lIns="0" tIns="0" rIns="0" bIns="0" rtlCol="0" anchor="t"/>
          <a:lstStyle/>
          <a:p>
            <a:pPr marL="0" indent="0" algn="l">
              <a:lnSpc>
                <a:spcPts val="2600"/>
              </a:lnSpc>
              <a:buNone/>
            </a:pPr>
            <a:r>
              <a:rPr lang="en-US" sz="1600">
                <a:solidFill>
                  <a:srgbClr val="405449"/>
                </a:solidFill>
                <a:latin typeface="Arial Rounded MT Bold" panose="020F0704030504030204" pitchFamily="34" charset="0"/>
                <a:ea typeface="Nobile" pitchFamily="34" charset="-122"/>
                <a:cs typeface="Nobile" pitchFamily="34" charset="-120"/>
              </a:rPr>
              <a:t>Techniques de balayage et identification des vulnérabilités</a:t>
            </a:r>
            <a:endParaRPr lang="en-US" sz="1600">
              <a:latin typeface="Arial Rounded MT Bold" panose="020F0704030504030204" pitchFamily="34" charset="0"/>
            </a:endParaRPr>
          </a:p>
        </p:txBody>
      </p:sp>
      <p:sp>
        <p:nvSpPr>
          <p:cNvPr id="17" name="Text 15"/>
          <p:cNvSpPr/>
          <p:nvPr/>
        </p:nvSpPr>
        <p:spPr>
          <a:xfrm>
            <a:off x="760809" y="4289227"/>
            <a:ext cx="373423" cy="258961"/>
          </a:xfrm>
          <a:prstGeom prst="rect">
            <a:avLst/>
          </a:prstGeom>
          <a:noFill/>
          <a:ln/>
        </p:spPr>
        <p:txBody>
          <a:bodyPr wrap="none" lIns="0" tIns="0" rIns="0" bIns="0" rtlCol="0" anchor="t"/>
          <a:lstStyle/>
          <a:p>
            <a:pPr marL="0" indent="0" algn="l">
              <a:lnSpc>
                <a:spcPts val="2600"/>
              </a:lnSpc>
              <a:buNone/>
            </a:pPr>
            <a:r>
              <a:rPr lang="en-US" sz="1600">
                <a:solidFill>
                  <a:srgbClr val="405449"/>
                </a:solidFill>
                <a:latin typeface="Arial Rounded MT Bold" panose="020F0704030504030204" pitchFamily="34" charset="0"/>
                <a:ea typeface="Fraunces Light" pitchFamily="34" charset="-122"/>
                <a:cs typeface="Fraunces Light" pitchFamily="34" charset="-120"/>
              </a:rPr>
              <a:t>04</a:t>
            </a:r>
            <a:endParaRPr lang="en-US" sz="1600">
              <a:latin typeface="Arial Rounded MT Bold" panose="020F0704030504030204" pitchFamily="34" charset="0"/>
            </a:endParaRPr>
          </a:p>
        </p:txBody>
      </p:sp>
      <p:sp>
        <p:nvSpPr>
          <p:cNvPr id="18" name="Shape 16"/>
          <p:cNvSpPr/>
          <p:nvPr/>
        </p:nvSpPr>
        <p:spPr>
          <a:xfrm>
            <a:off x="760809" y="4618553"/>
            <a:ext cx="4231481" cy="22860"/>
          </a:xfrm>
          <a:prstGeom prst="rect">
            <a:avLst/>
          </a:prstGeom>
          <a:solidFill>
            <a:srgbClr val="438951"/>
          </a:solidFill>
          <a:ln/>
        </p:spPr>
        <p:txBody>
          <a:bodyPr/>
          <a:lstStyle/>
          <a:p>
            <a:endParaRPr lang="fr-FR">
              <a:latin typeface="Arial Rounded MT Bold" panose="020F0704030504030204" pitchFamily="34" charset="0"/>
            </a:endParaRPr>
          </a:p>
        </p:txBody>
      </p:sp>
      <p:sp>
        <p:nvSpPr>
          <p:cNvPr id="19" name="Text 17"/>
          <p:cNvSpPr/>
          <p:nvPr/>
        </p:nvSpPr>
        <p:spPr>
          <a:xfrm>
            <a:off x="760809" y="4767858"/>
            <a:ext cx="2870359" cy="323850"/>
          </a:xfrm>
          <a:prstGeom prst="rect">
            <a:avLst/>
          </a:prstGeom>
          <a:noFill/>
          <a:ln/>
        </p:spPr>
        <p:txBody>
          <a:bodyPr wrap="none" lIns="0" tIns="0" rIns="0" bIns="0" rtlCol="0" anchor="t"/>
          <a:lstStyle/>
          <a:p>
            <a:pPr marL="0" indent="0" algn="l">
              <a:lnSpc>
                <a:spcPts val="2500"/>
              </a:lnSpc>
              <a:buNone/>
            </a:pPr>
            <a:r>
              <a:rPr lang="en-US" sz="2000" b="1">
                <a:solidFill>
                  <a:srgbClr val="405449"/>
                </a:solidFill>
                <a:latin typeface="Arial Rounded MT Bold" panose="020F0704030504030204" pitchFamily="34" charset="0"/>
                <a:ea typeface="Fraunces Extra Bold" pitchFamily="34" charset="-122"/>
                <a:cs typeface="Fraunces Extra Bold" pitchFamily="34" charset="-120"/>
              </a:rPr>
              <a:t>Attaques de protocole</a:t>
            </a:r>
            <a:endParaRPr lang="en-US" sz="2000">
              <a:latin typeface="Arial Rounded MT Bold" panose="020F0704030504030204" pitchFamily="34" charset="0"/>
            </a:endParaRPr>
          </a:p>
        </p:txBody>
      </p:sp>
      <p:sp>
        <p:nvSpPr>
          <p:cNvPr id="20" name="Text 18"/>
          <p:cNvSpPr/>
          <p:nvPr/>
        </p:nvSpPr>
        <p:spPr>
          <a:xfrm>
            <a:off x="760809" y="5216009"/>
            <a:ext cx="4231481" cy="331589"/>
          </a:xfrm>
          <a:prstGeom prst="rect">
            <a:avLst/>
          </a:prstGeom>
          <a:noFill/>
          <a:ln/>
        </p:spPr>
        <p:txBody>
          <a:bodyPr wrap="none" lIns="0" tIns="0" rIns="0" bIns="0" rtlCol="0" anchor="t"/>
          <a:lstStyle/>
          <a:p>
            <a:pPr marL="0" indent="0" algn="l">
              <a:lnSpc>
                <a:spcPts val="2600"/>
              </a:lnSpc>
              <a:buNone/>
            </a:pPr>
            <a:r>
              <a:rPr lang="en-US" sz="1600">
                <a:solidFill>
                  <a:srgbClr val="405449"/>
                </a:solidFill>
                <a:latin typeface="Arial Rounded MT Bold" panose="020F0704030504030204" pitchFamily="34" charset="0"/>
                <a:ea typeface="Nobile" pitchFamily="34" charset="-122"/>
                <a:cs typeface="Nobile" pitchFamily="34" charset="-120"/>
              </a:rPr>
              <a:t>SYN flooding et Teardrop</a:t>
            </a:r>
            <a:endParaRPr lang="en-US" sz="1600">
              <a:latin typeface="Arial Rounded MT Bold" panose="020F0704030504030204" pitchFamily="34" charset="0"/>
            </a:endParaRPr>
          </a:p>
        </p:txBody>
      </p:sp>
      <p:sp>
        <p:nvSpPr>
          <p:cNvPr id="21" name="Text 19"/>
          <p:cNvSpPr/>
          <p:nvPr/>
        </p:nvSpPr>
        <p:spPr>
          <a:xfrm>
            <a:off x="5199459" y="4289227"/>
            <a:ext cx="373423" cy="258961"/>
          </a:xfrm>
          <a:prstGeom prst="rect">
            <a:avLst/>
          </a:prstGeom>
          <a:noFill/>
          <a:ln/>
        </p:spPr>
        <p:txBody>
          <a:bodyPr wrap="none" lIns="0" tIns="0" rIns="0" bIns="0" rtlCol="0" anchor="t"/>
          <a:lstStyle/>
          <a:p>
            <a:pPr marL="0" indent="0" algn="l">
              <a:lnSpc>
                <a:spcPts val="2600"/>
              </a:lnSpc>
              <a:buNone/>
            </a:pPr>
            <a:r>
              <a:rPr lang="en-US" sz="1600">
                <a:solidFill>
                  <a:srgbClr val="405449"/>
                </a:solidFill>
                <a:latin typeface="Arial Rounded MT Bold" panose="020F0704030504030204" pitchFamily="34" charset="0"/>
                <a:ea typeface="Fraunces Light" pitchFamily="34" charset="-122"/>
                <a:cs typeface="Fraunces Light" pitchFamily="34" charset="-120"/>
              </a:rPr>
              <a:t>05</a:t>
            </a:r>
            <a:endParaRPr lang="en-US" sz="1600">
              <a:latin typeface="Arial Rounded MT Bold" panose="020F0704030504030204" pitchFamily="34" charset="0"/>
            </a:endParaRPr>
          </a:p>
        </p:txBody>
      </p:sp>
      <p:sp>
        <p:nvSpPr>
          <p:cNvPr id="22" name="Shape 20"/>
          <p:cNvSpPr/>
          <p:nvPr/>
        </p:nvSpPr>
        <p:spPr>
          <a:xfrm>
            <a:off x="5199459" y="4618553"/>
            <a:ext cx="4231481" cy="22860"/>
          </a:xfrm>
          <a:prstGeom prst="rect">
            <a:avLst/>
          </a:prstGeom>
          <a:solidFill>
            <a:srgbClr val="438951"/>
          </a:solidFill>
          <a:ln/>
        </p:spPr>
        <p:txBody>
          <a:bodyPr/>
          <a:lstStyle/>
          <a:p>
            <a:endParaRPr lang="fr-FR">
              <a:latin typeface="Arial Rounded MT Bold" panose="020F0704030504030204" pitchFamily="34" charset="0"/>
            </a:endParaRPr>
          </a:p>
        </p:txBody>
      </p:sp>
      <p:sp>
        <p:nvSpPr>
          <p:cNvPr id="23" name="Text 21"/>
          <p:cNvSpPr/>
          <p:nvPr/>
        </p:nvSpPr>
        <p:spPr>
          <a:xfrm>
            <a:off x="5199459" y="4767858"/>
            <a:ext cx="2828568" cy="323850"/>
          </a:xfrm>
          <a:prstGeom prst="rect">
            <a:avLst/>
          </a:prstGeom>
          <a:noFill/>
          <a:ln/>
        </p:spPr>
        <p:txBody>
          <a:bodyPr wrap="none" lIns="0" tIns="0" rIns="0" bIns="0" rtlCol="0" anchor="t"/>
          <a:lstStyle/>
          <a:p>
            <a:pPr marL="0" indent="0" algn="l">
              <a:lnSpc>
                <a:spcPts val="2500"/>
              </a:lnSpc>
              <a:buNone/>
            </a:pPr>
            <a:r>
              <a:rPr lang="en-US" sz="2000" b="1">
                <a:solidFill>
                  <a:srgbClr val="405449"/>
                </a:solidFill>
                <a:latin typeface="Arial Rounded MT Bold" panose="020F0704030504030204" pitchFamily="34" charset="0"/>
                <a:ea typeface="Fraunces Extra Bold" pitchFamily="34" charset="-122"/>
                <a:cs typeface="Fraunces Extra Bold" pitchFamily="34" charset="-120"/>
              </a:rPr>
              <a:t>Attaques applicatives</a:t>
            </a:r>
            <a:endParaRPr lang="en-US" sz="2000">
              <a:latin typeface="Arial Rounded MT Bold" panose="020F0704030504030204" pitchFamily="34" charset="0"/>
            </a:endParaRPr>
          </a:p>
        </p:txBody>
      </p:sp>
      <p:sp>
        <p:nvSpPr>
          <p:cNvPr id="24" name="Text 22"/>
          <p:cNvSpPr/>
          <p:nvPr/>
        </p:nvSpPr>
        <p:spPr>
          <a:xfrm>
            <a:off x="5199459" y="5216009"/>
            <a:ext cx="4231481" cy="331589"/>
          </a:xfrm>
          <a:prstGeom prst="rect">
            <a:avLst/>
          </a:prstGeom>
          <a:noFill/>
          <a:ln/>
        </p:spPr>
        <p:txBody>
          <a:bodyPr wrap="none" lIns="0" tIns="0" rIns="0" bIns="0" rtlCol="0" anchor="t"/>
          <a:lstStyle/>
          <a:p>
            <a:pPr marL="0" indent="0" algn="l">
              <a:lnSpc>
                <a:spcPts val="2600"/>
              </a:lnSpc>
              <a:buNone/>
            </a:pPr>
            <a:r>
              <a:rPr lang="en-US" sz="1600">
                <a:solidFill>
                  <a:srgbClr val="405449"/>
                </a:solidFill>
                <a:latin typeface="Arial Rounded MT Bold" panose="020F0704030504030204" pitchFamily="34" charset="0"/>
                <a:ea typeface="Nobile" pitchFamily="34" charset="-122"/>
                <a:cs typeface="Nobile" pitchFamily="34" charset="-120"/>
              </a:rPr>
              <a:t>HTTP Floods et stratégies low-and-slow</a:t>
            </a:r>
            <a:endParaRPr lang="en-US" sz="1600">
              <a:latin typeface="Arial Rounded MT Bold" panose="020F0704030504030204" pitchFamily="34" charset="0"/>
            </a:endParaRPr>
          </a:p>
        </p:txBody>
      </p:sp>
      <p:sp>
        <p:nvSpPr>
          <p:cNvPr id="25" name="Text 23"/>
          <p:cNvSpPr/>
          <p:nvPr/>
        </p:nvSpPr>
        <p:spPr>
          <a:xfrm>
            <a:off x="9638109" y="4289227"/>
            <a:ext cx="365866" cy="274075"/>
          </a:xfrm>
          <a:prstGeom prst="rect">
            <a:avLst/>
          </a:prstGeom>
          <a:noFill/>
          <a:ln/>
        </p:spPr>
        <p:txBody>
          <a:bodyPr wrap="none" lIns="0" tIns="0" rIns="0" bIns="0" rtlCol="0" anchor="t"/>
          <a:lstStyle/>
          <a:p>
            <a:pPr marL="0" indent="0" algn="l">
              <a:lnSpc>
                <a:spcPts val="2600"/>
              </a:lnSpc>
              <a:buNone/>
            </a:pPr>
            <a:r>
              <a:rPr lang="en-US" sz="1600">
                <a:solidFill>
                  <a:srgbClr val="405449"/>
                </a:solidFill>
                <a:latin typeface="Arial Rounded MT Bold" panose="020F0704030504030204" pitchFamily="34" charset="0"/>
                <a:ea typeface="Fraunces Light" pitchFamily="34" charset="-122"/>
                <a:cs typeface="Fraunces Light" pitchFamily="34" charset="-120"/>
              </a:rPr>
              <a:t>06</a:t>
            </a:r>
            <a:endParaRPr lang="en-US" sz="1600">
              <a:latin typeface="Arial Rounded MT Bold" panose="020F0704030504030204" pitchFamily="34" charset="0"/>
            </a:endParaRPr>
          </a:p>
        </p:txBody>
      </p:sp>
      <p:sp>
        <p:nvSpPr>
          <p:cNvPr id="26" name="Shape 24"/>
          <p:cNvSpPr/>
          <p:nvPr/>
        </p:nvSpPr>
        <p:spPr>
          <a:xfrm>
            <a:off x="9638109" y="4618553"/>
            <a:ext cx="4231481" cy="22860"/>
          </a:xfrm>
          <a:prstGeom prst="rect">
            <a:avLst/>
          </a:prstGeom>
          <a:solidFill>
            <a:srgbClr val="438951"/>
          </a:solidFill>
          <a:ln/>
        </p:spPr>
        <p:txBody>
          <a:bodyPr/>
          <a:lstStyle/>
          <a:p>
            <a:endParaRPr lang="fr-FR">
              <a:latin typeface="Arial Rounded MT Bold" panose="020F0704030504030204" pitchFamily="34" charset="0"/>
            </a:endParaRPr>
          </a:p>
        </p:txBody>
      </p:sp>
      <p:sp>
        <p:nvSpPr>
          <p:cNvPr id="27" name="Text 25"/>
          <p:cNvSpPr/>
          <p:nvPr/>
        </p:nvSpPr>
        <p:spPr>
          <a:xfrm>
            <a:off x="9638109" y="4767858"/>
            <a:ext cx="3156347" cy="323850"/>
          </a:xfrm>
          <a:prstGeom prst="rect">
            <a:avLst/>
          </a:prstGeom>
          <a:noFill/>
          <a:ln/>
        </p:spPr>
        <p:txBody>
          <a:bodyPr wrap="none" lIns="0" tIns="0" rIns="0" bIns="0" rtlCol="0" anchor="t"/>
          <a:lstStyle/>
          <a:p>
            <a:pPr marL="0" indent="0" algn="l">
              <a:lnSpc>
                <a:spcPts val="2500"/>
              </a:lnSpc>
              <a:buNone/>
            </a:pPr>
            <a:r>
              <a:rPr lang="en-US" sz="2000" b="1">
                <a:solidFill>
                  <a:srgbClr val="405449"/>
                </a:solidFill>
                <a:latin typeface="Arial Rounded MT Bold" panose="020F0704030504030204" pitchFamily="34" charset="0"/>
                <a:ea typeface="Fraunces Extra Bold" pitchFamily="34" charset="-122"/>
                <a:cs typeface="Fraunces Extra Bold" pitchFamily="34" charset="-120"/>
              </a:rPr>
              <a:t>Attaques volumétriques</a:t>
            </a:r>
            <a:endParaRPr lang="en-US" sz="2000">
              <a:latin typeface="Arial Rounded MT Bold" panose="020F0704030504030204" pitchFamily="34" charset="0"/>
            </a:endParaRPr>
          </a:p>
        </p:txBody>
      </p:sp>
      <p:sp>
        <p:nvSpPr>
          <p:cNvPr id="28" name="Text 26"/>
          <p:cNvSpPr/>
          <p:nvPr/>
        </p:nvSpPr>
        <p:spPr>
          <a:xfrm>
            <a:off x="9638109" y="5216009"/>
            <a:ext cx="4231481" cy="331589"/>
          </a:xfrm>
          <a:prstGeom prst="rect">
            <a:avLst/>
          </a:prstGeom>
          <a:noFill/>
          <a:ln/>
        </p:spPr>
        <p:txBody>
          <a:bodyPr wrap="none" lIns="0" tIns="0" rIns="0" bIns="0" rtlCol="0" anchor="t"/>
          <a:lstStyle/>
          <a:p>
            <a:pPr marL="0" indent="0" algn="l">
              <a:lnSpc>
                <a:spcPts val="2600"/>
              </a:lnSpc>
              <a:buNone/>
            </a:pPr>
            <a:r>
              <a:rPr lang="en-US" sz="1600">
                <a:solidFill>
                  <a:srgbClr val="405449"/>
                </a:solidFill>
                <a:latin typeface="Arial Rounded MT Bold" panose="020F0704030504030204" pitchFamily="34" charset="0"/>
                <a:ea typeface="Nobile" pitchFamily="34" charset="-122"/>
                <a:cs typeface="Nobile" pitchFamily="34" charset="-120"/>
              </a:rPr>
              <a:t>UDP et ICMP floods</a:t>
            </a:r>
            <a:endParaRPr lang="en-US" sz="1600">
              <a:latin typeface="Arial Rounded MT Bold" panose="020F0704030504030204" pitchFamily="34" charset="0"/>
            </a:endParaRPr>
          </a:p>
        </p:txBody>
      </p:sp>
      <p:sp>
        <p:nvSpPr>
          <p:cNvPr id="29" name="Text 27"/>
          <p:cNvSpPr/>
          <p:nvPr/>
        </p:nvSpPr>
        <p:spPr>
          <a:xfrm>
            <a:off x="760809" y="5910143"/>
            <a:ext cx="418765" cy="319417"/>
          </a:xfrm>
          <a:prstGeom prst="rect">
            <a:avLst/>
          </a:prstGeom>
          <a:noFill/>
          <a:ln/>
        </p:spPr>
        <p:txBody>
          <a:bodyPr wrap="none" lIns="0" tIns="0" rIns="0" bIns="0" rtlCol="0" anchor="t"/>
          <a:lstStyle/>
          <a:p>
            <a:pPr marL="0" indent="0" algn="l">
              <a:lnSpc>
                <a:spcPts val="2600"/>
              </a:lnSpc>
              <a:buNone/>
            </a:pPr>
            <a:r>
              <a:rPr lang="en-US" sz="1600">
                <a:solidFill>
                  <a:srgbClr val="405449"/>
                </a:solidFill>
                <a:latin typeface="Arial Rounded MT Bold" panose="020F0704030504030204" pitchFamily="34" charset="0"/>
                <a:ea typeface="Fraunces Light" pitchFamily="34" charset="-122"/>
                <a:cs typeface="Fraunces Light" pitchFamily="34" charset="-120"/>
              </a:rPr>
              <a:t>07</a:t>
            </a:r>
            <a:endParaRPr lang="en-US" sz="1600">
              <a:latin typeface="Arial Rounded MT Bold" panose="020F0704030504030204" pitchFamily="34" charset="0"/>
            </a:endParaRPr>
          </a:p>
        </p:txBody>
      </p:sp>
      <p:sp>
        <p:nvSpPr>
          <p:cNvPr id="30" name="Shape 28"/>
          <p:cNvSpPr/>
          <p:nvPr/>
        </p:nvSpPr>
        <p:spPr>
          <a:xfrm>
            <a:off x="760809" y="6231913"/>
            <a:ext cx="4236834" cy="22860"/>
          </a:xfrm>
          <a:prstGeom prst="rect">
            <a:avLst/>
          </a:prstGeom>
          <a:solidFill>
            <a:srgbClr val="438951"/>
          </a:solidFill>
          <a:ln/>
        </p:spPr>
        <p:txBody>
          <a:bodyPr/>
          <a:lstStyle/>
          <a:p>
            <a:endParaRPr lang="fr-FR">
              <a:latin typeface="Arial Rounded MT Bold" panose="020F0704030504030204" pitchFamily="34" charset="0"/>
            </a:endParaRPr>
          </a:p>
        </p:txBody>
      </p:sp>
      <p:sp>
        <p:nvSpPr>
          <p:cNvPr id="31" name="Text 29"/>
          <p:cNvSpPr/>
          <p:nvPr/>
        </p:nvSpPr>
        <p:spPr>
          <a:xfrm>
            <a:off x="760809" y="6388775"/>
            <a:ext cx="3389709" cy="323850"/>
          </a:xfrm>
          <a:prstGeom prst="rect">
            <a:avLst/>
          </a:prstGeom>
          <a:noFill/>
          <a:ln/>
        </p:spPr>
        <p:txBody>
          <a:bodyPr wrap="none" lIns="0" tIns="0" rIns="0" bIns="0" rtlCol="0" anchor="t"/>
          <a:lstStyle/>
          <a:p>
            <a:pPr marL="0" indent="0" algn="l">
              <a:lnSpc>
                <a:spcPts val="2500"/>
              </a:lnSpc>
              <a:buNone/>
            </a:pPr>
            <a:r>
              <a:rPr lang="en-US" sz="2000" b="1">
                <a:solidFill>
                  <a:srgbClr val="405449"/>
                </a:solidFill>
                <a:latin typeface="Arial Rounded MT Bold" panose="020F0704030504030204" pitchFamily="34" charset="0"/>
                <a:ea typeface="Fraunces Extra Bold" pitchFamily="34" charset="-122"/>
                <a:cs typeface="Fraunces Extra Bold" pitchFamily="34" charset="-120"/>
              </a:rPr>
              <a:t>Amplification et réflexion</a:t>
            </a:r>
            <a:endParaRPr lang="en-US" sz="2000">
              <a:latin typeface="Arial Rounded MT Bold" panose="020F0704030504030204" pitchFamily="34" charset="0"/>
            </a:endParaRPr>
          </a:p>
        </p:txBody>
      </p:sp>
      <p:sp>
        <p:nvSpPr>
          <p:cNvPr id="32" name="Text 30"/>
          <p:cNvSpPr/>
          <p:nvPr/>
        </p:nvSpPr>
        <p:spPr>
          <a:xfrm>
            <a:off x="760809" y="6836926"/>
            <a:ext cx="13108781" cy="331589"/>
          </a:xfrm>
          <a:prstGeom prst="rect">
            <a:avLst/>
          </a:prstGeom>
          <a:noFill/>
          <a:ln/>
        </p:spPr>
        <p:txBody>
          <a:bodyPr wrap="none" lIns="0" tIns="0" rIns="0" bIns="0" rtlCol="0" anchor="t"/>
          <a:lstStyle/>
          <a:p>
            <a:pPr marL="0" indent="0" algn="l">
              <a:lnSpc>
                <a:spcPts val="2600"/>
              </a:lnSpc>
              <a:buNone/>
            </a:pPr>
            <a:r>
              <a:rPr lang="en-US" sz="1600">
                <a:solidFill>
                  <a:srgbClr val="405449"/>
                </a:solidFill>
                <a:latin typeface="Arial Rounded MT Bold" panose="020F0704030504030204" pitchFamily="34" charset="0"/>
                <a:ea typeface="Nobile" pitchFamily="34" charset="-122"/>
                <a:cs typeface="Nobile" pitchFamily="34" charset="-120"/>
              </a:rPr>
              <a:t>Exploitation des résolveurs DNS ouverts</a:t>
            </a:r>
            <a:endParaRPr lang="en-US" sz="1600">
              <a:latin typeface="Arial Rounded MT Bold" panose="020F0704030504030204" pitchFamily="34" charset="0"/>
            </a:endParaRPr>
          </a:p>
        </p:txBody>
      </p:sp>
      <p:pic>
        <p:nvPicPr>
          <p:cNvPr id="33" name="Image 32" descr="Une image contenant blanc, conception&#10;&#10;Le contenu généré par l’IA peut être incorrect.">
            <a:extLst>
              <a:ext uri="{FF2B5EF4-FFF2-40B4-BE49-F238E27FC236}">
                <a16:creationId xmlns:a16="http://schemas.microsoft.com/office/drawing/2014/main" id="{5BC95062-CAC1-68E3-81AD-079E965A74ED}"/>
              </a:ext>
            </a:extLst>
          </p:cNvPr>
          <p:cNvPicPr>
            <a:picLocks noChangeAspect="1"/>
          </p:cNvPicPr>
          <p:nvPr/>
        </p:nvPicPr>
        <p:blipFill>
          <a:blip r:embed="rId3"/>
          <a:stretch>
            <a:fillRect/>
          </a:stretch>
        </p:blipFill>
        <p:spPr>
          <a:xfrm>
            <a:off x="12563187" y="7359038"/>
            <a:ext cx="2067213" cy="87056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93790" y="1022152"/>
            <a:ext cx="1572697" cy="441484"/>
          </a:xfrm>
          <a:prstGeom prst="roundRect">
            <a:avLst>
              <a:gd name="adj" fmla="val 36993"/>
            </a:avLst>
          </a:prstGeom>
          <a:noFill/>
          <a:ln w="7620">
            <a:solidFill>
              <a:srgbClr val="438951"/>
            </a:solidFill>
            <a:prstDash val="solid"/>
          </a:ln>
        </p:spPr>
        <p:txBody>
          <a:bodyPr/>
          <a:lstStyle/>
          <a:p>
            <a:endParaRPr lang="fr-FR">
              <a:latin typeface="Arial Rounded MT Bold" panose="020F0704030504030204" pitchFamily="34" charset="0"/>
            </a:endParaRPr>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37498" y="1152168"/>
            <a:ext cx="181451" cy="181451"/>
          </a:xfrm>
          <a:prstGeom prst="rect">
            <a:avLst/>
          </a:prstGeom>
        </p:spPr>
      </p:pic>
      <p:sp>
        <p:nvSpPr>
          <p:cNvPr id="4" name="Text 1"/>
          <p:cNvSpPr/>
          <p:nvPr/>
        </p:nvSpPr>
        <p:spPr>
          <a:xfrm>
            <a:off x="1209675" y="1097756"/>
            <a:ext cx="1013103" cy="290274"/>
          </a:xfrm>
          <a:prstGeom prst="rect">
            <a:avLst/>
          </a:prstGeom>
          <a:noFill/>
          <a:ln/>
        </p:spPr>
        <p:txBody>
          <a:bodyPr wrap="none" lIns="0" tIns="0" rIns="0" bIns="0" rtlCol="0" anchor="t"/>
          <a:lstStyle/>
          <a:p>
            <a:pPr marL="0" indent="0" algn="l">
              <a:lnSpc>
                <a:spcPts val="2250"/>
              </a:lnSpc>
              <a:buNone/>
            </a:pPr>
            <a:r>
              <a:rPr lang="en-US" sz="1400">
                <a:solidFill>
                  <a:srgbClr val="438951"/>
                </a:solidFill>
                <a:latin typeface="Arial Rounded MT Bold" panose="020F0704030504030204" pitchFamily="34" charset="0"/>
                <a:ea typeface="Nobile" pitchFamily="34" charset="-122"/>
                <a:cs typeface="Nobile" pitchFamily="34" charset="-120"/>
              </a:rPr>
              <a:t>CHAPITRE 1</a:t>
            </a:r>
            <a:endParaRPr lang="en-US" sz="1400">
              <a:latin typeface="Arial Rounded MT Bold" panose="020F0704030504030204" pitchFamily="34" charset="0"/>
            </a:endParaRPr>
          </a:p>
        </p:txBody>
      </p:sp>
      <p:sp>
        <p:nvSpPr>
          <p:cNvPr id="5" name="Text 2"/>
          <p:cNvSpPr/>
          <p:nvPr/>
        </p:nvSpPr>
        <p:spPr>
          <a:xfrm>
            <a:off x="793790" y="1554361"/>
            <a:ext cx="9117568" cy="708779"/>
          </a:xfrm>
          <a:prstGeom prst="rect">
            <a:avLst/>
          </a:prstGeom>
          <a:noFill/>
          <a:ln/>
        </p:spPr>
        <p:txBody>
          <a:bodyPr wrap="none" lIns="0" tIns="0" rIns="0" bIns="0" rtlCol="0" anchor="t"/>
          <a:lstStyle/>
          <a:p>
            <a:pPr marL="0" indent="0" algn="l">
              <a:lnSpc>
                <a:spcPts val="5550"/>
              </a:lnSpc>
              <a:buNone/>
            </a:pPr>
            <a:r>
              <a:rPr lang="en-US" sz="4450" b="1">
                <a:solidFill>
                  <a:srgbClr val="3B4540"/>
                </a:solidFill>
                <a:latin typeface="Arial Rounded MT Bold" panose="020F0704030504030204" pitchFamily="34" charset="0"/>
                <a:ea typeface="Fraunces Extra Bold" pitchFamily="34" charset="-122"/>
                <a:cs typeface="Fraunces Extra Bold" pitchFamily="34" charset="-120"/>
              </a:rPr>
              <a:t>Introduction à la Sécurité DDoS</a:t>
            </a:r>
            <a:endParaRPr lang="en-US" sz="4450">
              <a:latin typeface="Arial Rounded MT Bold" panose="020F0704030504030204" pitchFamily="34" charset="0"/>
            </a:endParaRPr>
          </a:p>
        </p:txBody>
      </p:sp>
      <p:sp>
        <p:nvSpPr>
          <p:cNvPr id="6" name="Text 3"/>
          <p:cNvSpPr/>
          <p:nvPr/>
        </p:nvSpPr>
        <p:spPr>
          <a:xfrm>
            <a:off x="793790" y="2807375"/>
            <a:ext cx="6924437" cy="2177415"/>
          </a:xfrm>
          <a:prstGeom prst="rect">
            <a:avLst/>
          </a:prstGeom>
          <a:noFill/>
          <a:ln/>
        </p:spPr>
        <p:txBody>
          <a:bodyPr wrap="square" lIns="0" tIns="0" rIns="0" bIns="0" rtlCol="0" anchor="t"/>
          <a:lstStyle/>
          <a:p>
            <a:pPr marL="0" indent="0" algn="l">
              <a:lnSpc>
                <a:spcPts val="2850"/>
              </a:lnSpc>
              <a:buNone/>
            </a:pPr>
            <a:r>
              <a:rPr lang="en-US" sz="1750">
                <a:solidFill>
                  <a:srgbClr val="405449"/>
                </a:solidFill>
                <a:latin typeface="Arial Rounded MT Bold" panose="020F0704030504030204" pitchFamily="34" charset="0"/>
                <a:ea typeface="Nobile" pitchFamily="34" charset="-122"/>
                <a:cs typeface="Nobile" pitchFamily="34" charset="-120"/>
              </a:rPr>
              <a:t>La sécurisation des infrastructures face aux attaques par déni de service distribué (DDoS) constitue une composante essentielle des stratégies de résilience numérique. Les serveurs subissent des saturations critiques causées par l'épuisement de la bande passante et l'exploitation de vulnérabilités protocolaires.</a:t>
            </a:r>
            <a:endParaRPr lang="en-US" sz="1750">
              <a:latin typeface="Arial Rounded MT Bold" panose="020F0704030504030204" pitchFamily="34" charset="0"/>
            </a:endParaRPr>
          </a:p>
        </p:txBody>
      </p:sp>
      <p:sp>
        <p:nvSpPr>
          <p:cNvPr id="7" name="Text 4"/>
          <p:cNvSpPr/>
          <p:nvPr/>
        </p:nvSpPr>
        <p:spPr>
          <a:xfrm>
            <a:off x="793790" y="5188863"/>
            <a:ext cx="6924437" cy="1814513"/>
          </a:xfrm>
          <a:prstGeom prst="rect">
            <a:avLst/>
          </a:prstGeom>
          <a:noFill/>
          <a:ln/>
        </p:spPr>
        <p:txBody>
          <a:bodyPr wrap="square" lIns="0" tIns="0" rIns="0" bIns="0" rtlCol="0" anchor="t"/>
          <a:lstStyle/>
          <a:p>
            <a:pPr marL="0" indent="0" algn="l">
              <a:lnSpc>
                <a:spcPts val="2850"/>
              </a:lnSpc>
              <a:buNone/>
            </a:pPr>
            <a:r>
              <a:rPr lang="en-US" sz="1750">
                <a:solidFill>
                  <a:srgbClr val="405449"/>
                </a:solidFill>
                <a:latin typeface="Arial Rounded MT Bold" panose="020F0704030504030204" pitchFamily="34" charset="0"/>
                <a:ea typeface="Nobile" pitchFamily="34" charset="-122"/>
                <a:cs typeface="Nobile" pitchFamily="34" charset="-120"/>
              </a:rPr>
              <a:t>Les vecteurs d'attaque complexes nécessitent une analyse granulaire des signatures de trafic pour assurer la continuité des services légitimes. La détection précoce et l'activation de contre-mesures adaptées garantissent la disponibilité opérationnelle.</a:t>
            </a:r>
            <a:endParaRPr lang="en-US" sz="1750">
              <a:latin typeface="Arial Rounded MT Bold" panose="020F0704030504030204" pitchFamily="34" charset="0"/>
            </a:endParaRPr>
          </a:p>
        </p:txBody>
      </p:sp>
      <p:sp>
        <p:nvSpPr>
          <p:cNvPr id="8" name="Shape 5"/>
          <p:cNvSpPr/>
          <p:nvPr/>
        </p:nvSpPr>
        <p:spPr>
          <a:xfrm>
            <a:off x="8279249" y="2858453"/>
            <a:ext cx="5564862" cy="3030379"/>
          </a:xfrm>
          <a:prstGeom prst="roundRect">
            <a:avLst>
              <a:gd name="adj" fmla="val 6737"/>
            </a:avLst>
          </a:prstGeom>
          <a:solidFill>
            <a:srgbClr val="CCE6D1"/>
          </a:solidFill>
          <a:ln/>
        </p:spPr>
        <p:txBody>
          <a:bodyPr/>
          <a:lstStyle/>
          <a:p>
            <a:endParaRPr lang="fr-FR">
              <a:latin typeface="Arial Rounded MT Bold" panose="020F0704030504030204" pitchFamily="34" charset="0"/>
            </a:endParaRPr>
          </a:p>
        </p:txBody>
      </p:sp>
      <p:pic>
        <p:nvPicPr>
          <p:cNvPr id="9" name="Image 1" descr="preencoded.png"/>
          <p:cNvPicPr>
            <a:picLocks noChangeAspect="1"/>
          </p:cNvPicPr>
          <p:nvPr/>
        </p:nvPicPr>
        <p:blipFill>
          <a:blip r:embed="rId5"/>
          <a:stretch>
            <a:fillRect/>
          </a:stretch>
        </p:blipFill>
        <p:spPr>
          <a:xfrm>
            <a:off x="8506063" y="3168134"/>
            <a:ext cx="354330" cy="283488"/>
          </a:xfrm>
          <a:prstGeom prst="rect">
            <a:avLst/>
          </a:prstGeom>
        </p:spPr>
      </p:pic>
      <p:sp>
        <p:nvSpPr>
          <p:cNvPr id="10" name="Text 6"/>
          <p:cNvSpPr/>
          <p:nvPr/>
        </p:nvSpPr>
        <p:spPr>
          <a:xfrm>
            <a:off x="9087207" y="3141940"/>
            <a:ext cx="3283625" cy="354330"/>
          </a:xfrm>
          <a:prstGeom prst="rect">
            <a:avLst/>
          </a:prstGeom>
          <a:noFill/>
          <a:ln/>
        </p:spPr>
        <p:txBody>
          <a:bodyPr wrap="none" lIns="0" tIns="0" rIns="0" bIns="0" rtlCol="0" anchor="t"/>
          <a:lstStyle/>
          <a:p>
            <a:pPr marL="0" indent="0" algn="l">
              <a:lnSpc>
                <a:spcPts val="2750"/>
              </a:lnSpc>
              <a:buNone/>
            </a:pPr>
            <a:r>
              <a:rPr lang="en-US" sz="2200" b="1">
                <a:solidFill>
                  <a:srgbClr val="000000"/>
                </a:solidFill>
                <a:latin typeface="Arial Rounded MT Bold" panose="020F0704030504030204" pitchFamily="34" charset="0"/>
                <a:ea typeface="Fraunces Extra Bold" pitchFamily="34" charset="-122"/>
                <a:cs typeface="Fraunces Extra Bold" pitchFamily="34" charset="-120"/>
              </a:rPr>
              <a:t>Objectifs de protection</a:t>
            </a:r>
            <a:endParaRPr lang="en-US" sz="2200">
              <a:latin typeface="Arial Rounded MT Bold" panose="020F0704030504030204" pitchFamily="34" charset="0"/>
            </a:endParaRPr>
          </a:p>
        </p:txBody>
      </p:sp>
      <p:sp>
        <p:nvSpPr>
          <p:cNvPr id="11" name="Text 7"/>
          <p:cNvSpPr/>
          <p:nvPr/>
        </p:nvSpPr>
        <p:spPr>
          <a:xfrm>
            <a:off x="9087207" y="3723084"/>
            <a:ext cx="4530090" cy="725805"/>
          </a:xfrm>
          <a:prstGeom prst="rect">
            <a:avLst/>
          </a:prstGeom>
          <a:noFill/>
          <a:ln/>
        </p:spPr>
        <p:txBody>
          <a:bodyPr wrap="square" lIns="0" tIns="0" rIns="0" bIns="0" rtlCol="0" anchor="t"/>
          <a:lstStyle/>
          <a:p>
            <a:pPr marL="342900" indent="-342900" algn="l">
              <a:lnSpc>
                <a:spcPts val="2850"/>
              </a:lnSpc>
              <a:buSzPct val="100000"/>
              <a:buChar char="•"/>
            </a:pPr>
            <a:r>
              <a:rPr lang="en-US" sz="1750">
                <a:solidFill>
                  <a:srgbClr val="000000"/>
                </a:solidFill>
                <a:latin typeface="Arial Rounded MT Bold" panose="020F0704030504030204" pitchFamily="34" charset="0"/>
                <a:ea typeface="Nobile" pitchFamily="34" charset="-122"/>
                <a:cs typeface="Nobile" pitchFamily="34" charset="-120"/>
              </a:rPr>
              <a:t>Disponibilité ininterrompue des services</a:t>
            </a:r>
            <a:endParaRPr lang="en-US" sz="1750">
              <a:latin typeface="Arial Rounded MT Bold" panose="020F0704030504030204" pitchFamily="34" charset="0"/>
            </a:endParaRPr>
          </a:p>
        </p:txBody>
      </p:sp>
      <p:sp>
        <p:nvSpPr>
          <p:cNvPr id="12" name="Text 8"/>
          <p:cNvSpPr/>
          <p:nvPr/>
        </p:nvSpPr>
        <p:spPr>
          <a:xfrm>
            <a:off x="9087207" y="4528185"/>
            <a:ext cx="4530090" cy="725805"/>
          </a:xfrm>
          <a:prstGeom prst="rect">
            <a:avLst/>
          </a:prstGeom>
          <a:noFill/>
          <a:ln/>
        </p:spPr>
        <p:txBody>
          <a:bodyPr wrap="square" lIns="0" tIns="0" rIns="0" bIns="0" rtlCol="0" anchor="t"/>
          <a:lstStyle/>
          <a:p>
            <a:pPr marL="342900" indent="-342900" algn="l">
              <a:lnSpc>
                <a:spcPts val="2850"/>
              </a:lnSpc>
              <a:buSzPct val="100000"/>
              <a:buChar char="•"/>
            </a:pPr>
            <a:r>
              <a:rPr lang="en-US" sz="1750">
                <a:solidFill>
                  <a:srgbClr val="000000"/>
                </a:solidFill>
                <a:latin typeface="Arial Rounded MT Bold" panose="020F0704030504030204" pitchFamily="34" charset="0"/>
                <a:ea typeface="Nobile" pitchFamily="34" charset="-122"/>
                <a:cs typeface="Nobile" pitchFamily="34" charset="-120"/>
              </a:rPr>
              <a:t>Performance maintenue sous charge hostile</a:t>
            </a:r>
            <a:endParaRPr lang="en-US" sz="1750">
              <a:latin typeface="Arial Rounded MT Bold" panose="020F0704030504030204" pitchFamily="34" charset="0"/>
            </a:endParaRPr>
          </a:p>
        </p:txBody>
      </p:sp>
      <p:sp>
        <p:nvSpPr>
          <p:cNvPr id="13" name="Text 9"/>
          <p:cNvSpPr/>
          <p:nvPr/>
        </p:nvSpPr>
        <p:spPr>
          <a:xfrm>
            <a:off x="9087207" y="5333286"/>
            <a:ext cx="4530090" cy="362903"/>
          </a:xfrm>
          <a:prstGeom prst="rect">
            <a:avLst/>
          </a:prstGeom>
          <a:noFill/>
          <a:ln/>
        </p:spPr>
        <p:txBody>
          <a:bodyPr wrap="none" lIns="0" tIns="0" rIns="0" bIns="0" rtlCol="0" anchor="t"/>
          <a:lstStyle/>
          <a:p>
            <a:pPr marL="342900" indent="-342900" algn="l">
              <a:lnSpc>
                <a:spcPts val="2850"/>
              </a:lnSpc>
              <a:buSzPct val="100000"/>
              <a:buChar char="•"/>
            </a:pPr>
            <a:r>
              <a:rPr lang="en-US" sz="1750">
                <a:solidFill>
                  <a:srgbClr val="000000"/>
                </a:solidFill>
                <a:latin typeface="Arial Rounded MT Bold" panose="020F0704030504030204" pitchFamily="34" charset="0"/>
                <a:ea typeface="Nobile" pitchFamily="34" charset="-122"/>
                <a:cs typeface="Nobile" pitchFamily="34" charset="-120"/>
              </a:rPr>
              <a:t>Continuité d'activité assurée</a:t>
            </a:r>
            <a:endParaRPr lang="en-US" sz="1750">
              <a:latin typeface="Arial Rounded MT Bold" panose="020F0704030504030204" pitchFamily="34" charset="0"/>
            </a:endParaRPr>
          </a:p>
        </p:txBody>
      </p:sp>
      <p:pic>
        <p:nvPicPr>
          <p:cNvPr id="14" name="Image 13" descr="Une image contenant blanc, conception&#10;&#10;Le contenu généré par l’IA peut être incorrect.">
            <a:extLst>
              <a:ext uri="{FF2B5EF4-FFF2-40B4-BE49-F238E27FC236}">
                <a16:creationId xmlns:a16="http://schemas.microsoft.com/office/drawing/2014/main" id="{9275E920-5583-1B70-CA19-F21B2519AE76}"/>
              </a:ext>
            </a:extLst>
          </p:cNvPr>
          <p:cNvPicPr>
            <a:picLocks noChangeAspect="1"/>
          </p:cNvPicPr>
          <p:nvPr/>
        </p:nvPicPr>
        <p:blipFill>
          <a:blip r:embed="rId6"/>
          <a:stretch>
            <a:fillRect/>
          </a:stretch>
        </p:blipFill>
        <p:spPr>
          <a:xfrm>
            <a:off x="12563187" y="7359038"/>
            <a:ext cx="2067213" cy="870562"/>
          </a:xfrm>
          <a:prstGeom prst="rect">
            <a:avLst/>
          </a:prstGeom>
        </p:spPr>
      </p:pic>
      <p:sp>
        <p:nvSpPr>
          <p:cNvPr id="15" name="ZoneTexte 14">
            <a:extLst>
              <a:ext uri="{FF2B5EF4-FFF2-40B4-BE49-F238E27FC236}">
                <a16:creationId xmlns:a16="http://schemas.microsoft.com/office/drawing/2014/main" id="{D52EEE1E-B380-B41E-DEE7-C41166DD4930}"/>
              </a:ext>
            </a:extLst>
          </p:cNvPr>
          <p:cNvSpPr txBox="1"/>
          <p:nvPr/>
        </p:nvSpPr>
        <p:spPr>
          <a:xfrm>
            <a:off x="6359236" y="7460672"/>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a:ea typeface="Calibri"/>
                <a:cs typeface="Calibri"/>
              </a:rPr>
              <a:t>1</a:t>
            </a:r>
            <a:endParaRPr lang="fr-F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93790" y="1008459"/>
            <a:ext cx="1616154" cy="426244"/>
          </a:xfrm>
          <a:prstGeom prst="roundRect">
            <a:avLst>
              <a:gd name="adj" fmla="val 38315"/>
            </a:avLst>
          </a:prstGeom>
          <a:solidFill>
            <a:srgbClr val="DDEEE0"/>
          </a:solidFill>
          <a:ln/>
        </p:spPr>
        <p:txBody>
          <a:bodyPr/>
          <a:lstStyle/>
          <a:p>
            <a:endParaRPr lang="fr-FR">
              <a:latin typeface="Arial Rounded MT Bold" panose="020F0704030504030204" pitchFamily="34" charset="0"/>
            </a:endParaRPr>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9878" y="1130856"/>
            <a:ext cx="181451" cy="181451"/>
          </a:xfrm>
          <a:prstGeom prst="rect">
            <a:avLst/>
          </a:prstGeom>
        </p:spPr>
      </p:pic>
      <p:sp>
        <p:nvSpPr>
          <p:cNvPr id="4" name="Text 1"/>
          <p:cNvSpPr/>
          <p:nvPr/>
        </p:nvSpPr>
        <p:spPr>
          <a:xfrm>
            <a:off x="1202055" y="1076444"/>
            <a:ext cx="1071801" cy="290274"/>
          </a:xfrm>
          <a:prstGeom prst="rect">
            <a:avLst/>
          </a:prstGeom>
          <a:noFill/>
          <a:ln/>
        </p:spPr>
        <p:txBody>
          <a:bodyPr wrap="none" lIns="0" tIns="0" rIns="0" bIns="0" rtlCol="0" anchor="t"/>
          <a:lstStyle/>
          <a:p>
            <a:pPr marL="0" indent="0" algn="l">
              <a:lnSpc>
                <a:spcPts val="2250"/>
              </a:lnSpc>
              <a:buNone/>
            </a:pPr>
            <a:r>
              <a:rPr lang="en-US" sz="1400">
                <a:solidFill>
                  <a:srgbClr val="405449"/>
                </a:solidFill>
                <a:latin typeface="Arial Rounded MT Bold" panose="020F0704030504030204" pitchFamily="34" charset="0"/>
                <a:ea typeface="Nobile" pitchFamily="34" charset="-122"/>
                <a:cs typeface="Nobile" pitchFamily="34" charset="-120"/>
              </a:rPr>
              <a:t>DÉFINITION</a:t>
            </a:r>
            <a:endParaRPr lang="en-US" sz="1400">
              <a:latin typeface="Arial Rounded MT Bold" panose="020F0704030504030204" pitchFamily="34" charset="0"/>
            </a:endParaRPr>
          </a:p>
        </p:txBody>
      </p:sp>
      <p:sp>
        <p:nvSpPr>
          <p:cNvPr id="5" name="Text 2"/>
          <p:cNvSpPr/>
          <p:nvPr/>
        </p:nvSpPr>
        <p:spPr>
          <a:xfrm>
            <a:off x="793790" y="1525429"/>
            <a:ext cx="9222462" cy="708779"/>
          </a:xfrm>
          <a:prstGeom prst="rect">
            <a:avLst/>
          </a:prstGeom>
          <a:noFill/>
          <a:ln/>
        </p:spPr>
        <p:txBody>
          <a:bodyPr wrap="none" lIns="0" tIns="0" rIns="0" bIns="0" rtlCol="0" anchor="t"/>
          <a:lstStyle/>
          <a:p>
            <a:pPr marL="0" indent="0" algn="l">
              <a:lnSpc>
                <a:spcPts val="5550"/>
              </a:lnSpc>
              <a:buNone/>
            </a:pPr>
            <a:r>
              <a:rPr lang="en-US" sz="4450" b="1">
                <a:solidFill>
                  <a:srgbClr val="3B4540"/>
                </a:solidFill>
                <a:latin typeface="Arial Rounded MT Bold" panose="020F0704030504030204" pitchFamily="34" charset="0"/>
                <a:ea typeface="Fraunces Extra Bold" pitchFamily="34" charset="-122"/>
                <a:cs typeface="Fraunces Extra Bold" pitchFamily="34" charset="-120"/>
              </a:rPr>
              <a:t>Qu'est-ce qu'une attaque DDoS ?</a:t>
            </a:r>
            <a:endParaRPr lang="en-US" sz="4450">
              <a:latin typeface="Arial Rounded MT Bold" panose="020F0704030504030204" pitchFamily="34" charset="0"/>
            </a:endParaRPr>
          </a:p>
        </p:txBody>
      </p:sp>
      <p:sp>
        <p:nvSpPr>
          <p:cNvPr id="6" name="Text 3"/>
          <p:cNvSpPr/>
          <p:nvPr/>
        </p:nvSpPr>
        <p:spPr>
          <a:xfrm>
            <a:off x="793790" y="2574369"/>
            <a:ext cx="13042821" cy="1088708"/>
          </a:xfrm>
          <a:prstGeom prst="rect">
            <a:avLst/>
          </a:prstGeom>
          <a:noFill/>
          <a:ln/>
        </p:spPr>
        <p:txBody>
          <a:bodyPr wrap="square" lIns="0" tIns="0" rIns="0" bIns="0" rtlCol="0" anchor="t"/>
          <a:lstStyle/>
          <a:p>
            <a:pPr marL="0" indent="0" algn="l">
              <a:lnSpc>
                <a:spcPts val="2850"/>
              </a:lnSpc>
              <a:buNone/>
            </a:pPr>
            <a:r>
              <a:rPr lang="en-US" sz="1750">
                <a:solidFill>
                  <a:srgbClr val="405449"/>
                </a:solidFill>
                <a:latin typeface="Arial Rounded MT Bold" panose="020F0704030504030204" pitchFamily="34" charset="0"/>
                <a:ea typeface="Nobile" pitchFamily="34" charset="-122"/>
                <a:cs typeface="Nobile" pitchFamily="34" charset="-120"/>
              </a:rPr>
              <a:t>L'attaque par déni de service distribué (DDoS) est une perturbation systémique caractérisée par l'incapacité d'un service à délivrer sa fonction nominale. Les infrastructures subissent des dégradations causées par la saturation de la bande passante et l'épuisement des ressources processeur.</a:t>
            </a:r>
            <a:endParaRPr lang="en-US" sz="1750">
              <a:latin typeface="Arial Rounded MT Bold" panose="020F0704030504030204" pitchFamily="34" charset="0"/>
            </a:endParaRPr>
          </a:p>
        </p:txBody>
      </p:sp>
      <p:sp>
        <p:nvSpPr>
          <p:cNvPr id="7" name="Shape 4"/>
          <p:cNvSpPr/>
          <p:nvPr/>
        </p:nvSpPr>
        <p:spPr>
          <a:xfrm>
            <a:off x="793790" y="3918228"/>
            <a:ext cx="4196358" cy="3302913"/>
          </a:xfrm>
          <a:prstGeom prst="roundRect">
            <a:avLst>
              <a:gd name="adj" fmla="val 6181"/>
            </a:avLst>
          </a:prstGeom>
          <a:solidFill>
            <a:srgbClr val="E8F3E8"/>
          </a:solidFill>
          <a:ln/>
        </p:spPr>
        <p:txBody>
          <a:bodyPr/>
          <a:lstStyle/>
          <a:p>
            <a:endParaRPr lang="fr-FR">
              <a:latin typeface="Arial Rounded MT Bold" panose="020F0704030504030204" pitchFamily="34" charset="0"/>
            </a:endParaRPr>
          </a:p>
        </p:txBody>
      </p:sp>
      <p:sp>
        <p:nvSpPr>
          <p:cNvPr id="8" name="Shape 5"/>
          <p:cNvSpPr/>
          <p:nvPr/>
        </p:nvSpPr>
        <p:spPr>
          <a:xfrm>
            <a:off x="1020604" y="4145042"/>
            <a:ext cx="680442" cy="680442"/>
          </a:xfrm>
          <a:prstGeom prst="roundRect">
            <a:avLst>
              <a:gd name="adj" fmla="val 13436980"/>
            </a:avLst>
          </a:prstGeom>
          <a:solidFill>
            <a:srgbClr val="438951"/>
          </a:solidFill>
          <a:ln/>
        </p:spPr>
        <p:txBody>
          <a:bodyPr/>
          <a:lstStyle/>
          <a:p>
            <a:endParaRPr lang="fr-FR">
              <a:latin typeface="Arial Rounded MT Bold" panose="020F0704030504030204" pitchFamily="34" charset="0"/>
            </a:endParaRPr>
          </a:p>
        </p:txBody>
      </p:sp>
      <p:pic>
        <p:nvPicPr>
          <p:cNvPr id="9"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07770" y="4332089"/>
            <a:ext cx="306110" cy="306110"/>
          </a:xfrm>
          <a:prstGeom prst="rect">
            <a:avLst/>
          </a:prstGeom>
        </p:spPr>
      </p:pic>
      <p:sp>
        <p:nvSpPr>
          <p:cNvPr id="10" name="Text 6"/>
          <p:cNvSpPr/>
          <p:nvPr/>
        </p:nvSpPr>
        <p:spPr>
          <a:xfrm>
            <a:off x="1020604" y="5052298"/>
            <a:ext cx="2835235" cy="354330"/>
          </a:xfrm>
          <a:prstGeom prst="rect">
            <a:avLst/>
          </a:prstGeom>
          <a:noFill/>
          <a:ln/>
        </p:spPr>
        <p:txBody>
          <a:bodyPr wrap="none" lIns="0" tIns="0" rIns="0" bIns="0" rtlCol="0" anchor="t"/>
          <a:lstStyle/>
          <a:p>
            <a:pPr marL="0" indent="0" algn="l">
              <a:lnSpc>
                <a:spcPts val="2750"/>
              </a:lnSpc>
              <a:buNone/>
            </a:pPr>
            <a:r>
              <a:rPr lang="en-US" sz="2200" b="1">
                <a:solidFill>
                  <a:srgbClr val="405449"/>
                </a:solidFill>
                <a:latin typeface="Arial Rounded MT Bold" panose="020F0704030504030204" pitchFamily="34" charset="0"/>
                <a:ea typeface="Fraunces Extra Bold" pitchFamily="34" charset="-122"/>
                <a:cs typeface="Fraunces Extra Bold" pitchFamily="34" charset="-120"/>
              </a:rPr>
              <a:t>Botnets distribués</a:t>
            </a:r>
            <a:endParaRPr lang="en-US" sz="2200">
              <a:latin typeface="Arial Rounded MT Bold" panose="020F0704030504030204" pitchFamily="34" charset="0"/>
            </a:endParaRPr>
          </a:p>
        </p:txBody>
      </p:sp>
      <p:sp>
        <p:nvSpPr>
          <p:cNvPr id="11" name="Text 7"/>
          <p:cNvSpPr/>
          <p:nvPr/>
        </p:nvSpPr>
        <p:spPr>
          <a:xfrm>
            <a:off x="1020604" y="5542717"/>
            <a:ext cx="3742730" cy="1451610"/>
          </a:xfrm>
          <a:prstGeom prst="rect">
            <a:avLst/>
          </a:prstGeom>
          <a:noFill/>
          <a:ln/>
        </p:spPr>
        <p:txBody>
          <a:bodyPr wrap="square" lIns="0" tIns="0" rIns="0" bIns="0" rtlCol="0" anchor="t"/>
          <a:lstStyle/>
          <a:p>
            <a:pPr marL="0" indent="0" algn="l">
              <a:lnSpc>
                <a:spcPts val="2850"/>
              </a:lnSpc>
              <a:buNone/>
            </a:pPr>
            <a:r>
              <a:rPr lang="en-US" sz="1750">
                <a:solidFill>
                  <a:srgbClr val="405449"/>
                </a:solidFill>
                <a:latin typeface="Arial Rounded MT Bold" panose="020F0704030504030204" pitchFamily="34" charset="0"/>
                <a:ea typeface="Nobile" pitchFamily="34" charset="-122"/>
                <a:cs typeface="Nobile" pitchFamily="34" charset="-120"/>
              </a:rPr>
              <a:t>Coordination de milliers de terminaux compromis pour générer un volume massif de requêtes simultanées</a:t>
            </a:r>
            <a:endParaRPr lang="en-US" sz="1750">
              <a:latin typeface="Arial Rounded MT Bold" panose="020F0704030504030204" pitchFamily="34" charset="0"/>
            </a:endParaRPr>
          </a:p>
        </p:txBody>
      </p:sp>
      <p:sp>
        <p:nvSpPr>
          <p:cNvPr id="12" name="Shape 8"/>
          <p:cNvSpPr/>
          <p:nvPr/>
        </p:nvSpPr>
        <p:spPr>
          <a:xfrm>
            <a:off x="5216962" y="3918228"/>
            <a:ext cx="4196358" cy="3302913"/>
          </a:xfrm>
          <a:prstGeom prst="roundRect">
            <a:avLst>
              <a:gd name="adj" fmla="val 6181"/>
            </a:avLst>
          </a:prstGeom>
          <a:solidFill>
            <a:srgbClr val="E8F3E8"/>
          </a:solidFill>
          <a:ln/>
        </p:spPr>
        <p:txBody>
          <a:bodyPr/>
          <a:lstStyle/>
          <a:p>
            <a:endParaRPr lang="fr-FR">
              <a:latin typeface="Arial Rounded MT Bold" panose="020F0704030504030204" pitchFamily="34" charset="0"/>
            </a:endParaRPr>
          </a:p>
        </p:txBody>
      </p:sp>
      <p:sp>
        <p:nvSpPr>
          <p:cNvPr id="13" name="Shape 9"/>
          <p:cNvSpPr/>
          <p:nvPr/>
        </p:nvSpPr>
        <p:spPr>
          <a:xfrm>
            <a:off x="5443776" y="4145042"/>
            <a:ext cx="680442" cy="680442"/>
          </a:xfrm>
          <a:prstGeom prst="roundRect">
            <a:avLst>
              <a:gd name="adj" fmla="val 13436980"/>
            </a:avLst>
          </a:prstGeom>
          <a:solidFill>
            <a:srgbClr val="438951"/>
          </a:solidFill>
          <a:ln/>
        </p:spPr>
        <p:txBody>
          <a:bodyPr/>
          <a:lstStyle/>
          <a:p>
            <a:endParaRPr lang="fr-FR">
              <a:latin typeface="Arial Rounded MT Bold" panose="020F0704030504030204" pitchFamily="34" charset="0"/>
            </a:endParaRPr>
          </a:p>
        </p:txBody>
      </p:sp>
      <p:pic>
        <p:nvPicPr>
          <p:cNvPr id="14"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630942" y="4332089"/>
            <a:ext cx="306110" cy="306110"/>
          </a:xfrm>
          <a:prstGeom prst="rect">
            <a:avLst/>
          </a:prstGeom>
        </p:spPr>
      </p:pic>
      <p:sp>
        <p:nvSpPr>
          <p:cNvPr id="15" name="Text 10"/>
          <p:cNvSpPr/>
          <p:nvPr/>
        </p:nvSpPr>
        <p:spPr>
          <a:xfrm>
            <a:off x="5443776" y="5052298"/>
            <a:ext cx="2835235" cy="354330"/>
          </a:xfrm>
          <a:prstGeom prst="rect">
            <a:avLst/>
          </a:prstGeom>
          <a:noFill/>
          <a:ln/>
        </p:spPr>
        <p:txBody>
          <a:bodyPr wrap="none" lIns="0" tIns="0" rIns="0" bIns="0" rtlCol="0" anchor="t"/>
          <a:lstStyle/>
          <a:p>
            <a:pPr marL="0" indent="0" algn="l">
              <a:lnSpc>
                <a:spcPts val="2750"/>
              </a:lnSpc>
              <a:buNone/>
            </a:pPr>
            <a:r>
              <a:rPr lang="en-US" sz="2200" b="1">
                <a:solidFill>
                  <a:srgbClr val="405449"/>
                </a:solidFill>
                <a:latin typeface="Arial Rounded MT Bold" panose="020F0704030504030204" pitchFamily="34" charset="0"/>
                <a:ea typeface="Fraunces Extra Bold" pitchFamily="34" charset="-122"/>
                <a:cs typeface="Fraunces Extra Bold" pitchFamily="34" charset="-120"/>
              </a:rPr>
              <a:t>Saturation réseau</a:t>
            </a:r>
            <a:endParaRPr lang="en-US" sz="2200">
              <a:latin typeface="Arial Rounded MT Bold" panose="020F0704030504030204" pitchFamily="34" charset="0"/>
            </a:endParaRPr>
          </a:p>
        </p:txBody>
      </p:sp>
      <p:sp>
        <p:nvSpPr>
          <p:cNvPr id="16" name="Text 11"/>
          <p:cNvSpPr/>
          <p:nvPr/>
        </p:nvSpPr>
        <p:spPr>
          <a:xfrm>
            <a:off x="5443776" y="5542717"/>
            <a:ext cx="3742730" cy="1088708"/>
          </a:xfrm>
          <a:prstGeom prst="rect">
            <a:avLst/>
          </a:prstGeom>
          <a:noFill/>
          <a:ln/>
        </p:spPr>
        <p:txBody>
          <a:bodyPr wrap="square" lIns="0" tIns="0" rIns="0" bIns="0" rtlCol="0" anchor="t"/>
          <a:lstStyle/>
          <a:p>
            <a:pPr marL="0" indent="0" algn="l">
              <a:lnSpc>
                <a:spcPts val="2850"/>
              </a:lnSpc>
              <a:buNone/>
            </a:pPr>
            <a:r>
              <a:rPr lang="en-US" sz="1750">
                <a:solidFill>
                  <a:srgbClr val="405449"/>
                </a:solidFill>
                <a:latin typeface="Arial Rounded MT Bold" panose="020F0704030504030204" pitchFamily="34" charset="0"/>
                <a:ea typeface="Nobile" pitchFamily="34" charset="-122"/>
                <a:cs typeface="Nobile" pitchFamily="34" charset="-120"/>
              </a:rPr>
              <a:t>Congestion complète de la bande passante dépassant la capacité de traitement des serveurs frontaux</a:t>
            </a:r>
            <a:endParaRPr lang="en-US" sz="1750">
              <a:latin typeface="Arial Rounded MT Bold" panose="020F0704030504030204" pitchFamily="34" charset="0"/>
            </a:endParaRPr>
          </a:p>
        </p:txBody>
      </p:sp>
      <p:sp>
        <p:nvSpPr>
          <p:cNvPr id="17" name="Shape 12"/>
          <p:cNvSpPr/>
          <p:nvPr/>
        </p:nvSpPr>
        <p:spPr>
          <a:xfrm>
            <a:off x="9640133" y="3918228"/>
            <a:ext cx="4196358" cy="3302913"/>
          </a:xfrm>
          <a:prstGeom prst="roundRect">
            <a:avLst>
              <a:gd name="adj" fmla="val 6181"/>
            </a:avLst>
          </a:prstGeom>
          <a:solidFill>
            <a:srgbClr val="E8F3E8"/>
          </a:solidFill>
          <a:ln/>
        </p:spPr>
        <p:txBody>
          <a:bodyPr/>
          <a:lstStyle/>
          <a:p>
            <a:endParaRPr lang="fr-FR">
              <a:latin typeface="Arial Rounded MT Bold" panose="020F0704030504030204" pitchFamily="34" charset="0"/>
            </a:endParaRPr>
          </a:p>
        </p:txBody>
      </p:sp>
      <p:sp>
        <p:nvSpPr>
          <p:cNvPr id="18" name="Shape 13"/>
          <p:cNvSpPr/>
          <p:nvPr/>
        </p:nvSpPr>
        <p:spPr>
          <a:xfrm>
            <a:off x="9866948" y="4145042"/>
            <a:ext cx="680442" cy="680442"/>
          </a:xfrm>
          <a:prstGeom prst="roundRect">
            <a:avLst>
              <a:gd name="adj" fmla="val 13436980"/>
            </a:avLst>
          </a:prstGeom>
          <a:solidFill>
            <a:srgbClr val="438951"/>
          </a:solidFill>
          <a:ln/>
        </p:spPr>
        <p:txBody>
          <a:bodyPr/>
          <a:lstStyle/>
          <a:p>
            <a:endParaRPr lang="fr-FR">
              <a:latin typeface="Arial Rounded MT Bold" panose="020F0704030504030204" pitchFamily="34" charset="0"/>
            </a:endParaRPr>
          </a:p>
        </p:txBody>
      </p:sp>
      <p:pic>
        <p:nvPicPr>
          <p:cNvPr id="19"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054114" y="4332089"/>
            <a:ext cx="306110" cy="306110"/>
          </a:xfrm>
          <a:prstGeom prst="rect">
            <a:avLst/>
          </a:prstGeom>
        </p:spPr>
      </p:pic>
      <p:sp>
        <p:nvSpPr>
          <p:cNvPr id="20" name="Text 14"/>
          <p:cNvSpPr/>
          <p:nvPr/>
        </p:nvSpPr>
        <p:spPr>
          <a:xfrm>
            <a:off x="9866948" y="5052298"/>
            <a:ext cx="3338751" cy="354330"/>
          </a:xfrm>
          <a:prstGeom prst="rect">
            <a:avLst/>
          </a:prstGeom>
          <a:noFill/>
          <a:ln/>
        </p:spPr>
        <p:txBody>
          <a:bodyPr wrap="none" lIns="0" tIns="0" rIns="0" bIns="0" rtlCol="0" anchor="t"/>
          <a:lstStyle/>
          <a:p>
            <a:pPr marL="0" indent="0" algn="l">
              <a:lnSpc>
                <a:spcPts val="2750"/>
              </a:lnSpc>
              <a:buNone/>
            </a:pPr>
            <a:r>
              <a:rPr lang="en-US" sz="2200" b="1">
                <a:solidFill>
                  <a:srgbClr val="405449"/>
                </a:solidFill>
                <a:latin typeface="Arial Rounded MT Bold" panose="020F0704030504030204" pitchFamily="34" charset="0"/>
                <a:ea typeface="Fraunces Extra Bold" pitchFamily="34" charset="-122"/>
                <a:cs typeface="Fraunces Extra Bold" pitchFamily="34" charset="-120"/>
              </a:rPr>
              <a:t>Épuisement ressources</a:t>
            </a:r>
            <a:endParaRPr lang="en-US" sz="2200">
              <a:latin typeface="Arial Rounded MT Bold" panose="020F0704030504030204" pitchFamily="34" charset="0"/>
            </a:endParaRPr>
          </a:p>
        </p:txBody>
      </p:sp>
      <p:sp>
        <p:nvSpPr>
          <p:cNvPr id="21" name="Text 15"/>
          <p:cNvSpPr/>
          <p:nvPr/>
        </p:nvSpPr>
        <p:spPr>
          <a:xfrm>
            <a:off x="9866948" y="5542717"/>
            <a:ext cx="3742730" cy="1451610"/>
          </a:xfrm>
          <a:prstGeom prst="rect">
            <a:avLst/>
          </a:prstGeom>
          <a:noFill/>
          <a:ln/>
        </p:spPr>
        <p:txBody>
          <a:bodyPr wrap="square" lIns="0" tIns="0" rIns="0" bIns="0" rtlCol="0" anchor="t"/>
          <a:lstStyle/>
          <a:p>
            <a:pPr marL="0" indent="0" algn="l">
              <a:lnSpc>
                <a:spcPts val="2850"/>
              </a:lnSpc>
              <a:buNone/>
            </a:pPr>
            <a:r>
              <a:rPr lang="en-US" sz="1750">
                <a:solidFill>
                  <a:srgbClr val="405449"/>
                </a:solidFill>
                <a:latin typeface="Arial Rounded MT Bold" panose="020F0704030504030204" pitchFamily="34" charset="0"/>
                <a:ea typeface="Nobile" pitchFamily="34" charset="-122"/>
                <a:cs typeface="Nobile" pitchFamily="34" charset="-120"/>
              </a:rPr>
              <a:t>Consommation excessive du processeur et de la mémoire rendant le service inaccessible aux utilisateurs légitimes</a:t>
            </a:r>
            <a:endParaRPr lang="en-US" sz="1750">
              <a:latin typeface="Arial Rounded MT Bold" panose="020F0704030504030204" pitchFamily="34" charset="0"/>
            </a:endParaRPr>
          </a:p>
        </p:txBody>
      </p:sp>
      <p:pic>
        <p:nvPicPr>
          <p:cNvPr id="22" name="Image 21" descr="Une image contenant blanc, conception&#10;&#10;Le contenu généré par l’IA peut être incorrect.">
            <a:extLst>
              <a:ext uri="{FF2B5EF4-FFF2-40B4-BE49-F238E27FC236}">
                <a16:creationId xmlns:a16="http://schemas.microsoft.com/office/drawing/2014/main" id="{90DD6F3A-1059-ABB5-6216-EF36415E2536}"/>
              </a:ext>
            </a:extLst>
          </p:cNvPr>
          <p:cNvPicPr>
            <a:picLocks noChangeAspect="1"/>
          </p:cNvPicPr>
          <p:nvPr/>
        </p:nvPicPr>
        <p:blipFill>
          <a:blip r:embed="rId11"/>
          <a:stretch>
            <a:fillRect/>
          </a:stretch>
        </p:blipFill>
        <p:spPr>
          <a:xfrm>
            <a:off x="12563187" y="7359038"/>
            <a:ext cx="2067213" cy="870562"/>
          </a:xfrm>
          <a:prstGeom prst="rect">
            <a:avLst/>
          </a:prstGeom>
        </p:spPr>
      </p:pic>
      <p:sp>
        <p:nvSpPr>
          <p:cNvPr id="23" name="ZoneTexte 22">
            <a:extLst>
              <a:ext uri="{FF2B5EF4-FFF2-40B4-BE49-F238E27FC236}">
                <a16:creationId xmlns:a16="http://schemas.microsoft.com/office/drawing/2014/main" id="{F9E6AF78-2804-EDED-6B0B-89A2018DB0A0}"/>
              </a:ext>
            </a:extLst>
          </p:cNvPr>
          <p:cNvSpPr txBox="1"/>
          <p:nvPr/>
        </p:nvSpPr>
        <p:spPr>
          <a:xfrm>
            <a:off x="6556663" y="7710054"/>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a:ea typeface="Calibri"/>
                <a:cs typeface="Calibri"/>
              </a:rPr>
              <a:t>2</a:t>
            </a:r>
            <a:endParaRPr lang="fr-F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2393156" y="666512"/>
            <a:ext cx="1735693" cy="307777"/>
          </a:xfrm>
          <a:prstGeom prst="roundRect">
            <a:avLst>
              <a:gd name="adj" fmla="val 36409"/>
            </a:avLst>
          </a:prstGeom>
          <a:noFill/>
          <a:ln w="7620">
            <a:solidFill>
              <a:srgbClr val="438951"/>
            </a:solidFill>
            <a:prstDash val="solid"/>
          </a:ln>
        </p:spPr>
        <p:txBody>
          <a:bodyPr/>
          <a:lstStyle/>
          <a:p>
            <a:endParaRPr lang="fr-FR">
              <a:latin typeface="Arial Rounded MT Bold" panose="020F0704030504030204" pitchFamily="34" charset="0"/>
            </a:endParaRPr>
          </a:p>
        </p:txBody>
      </p:sp>
      <p:sp>
        <p:nvSpPr>
          <p:cNvPr id="3" name="Text 1"/>
          <p:cNvSpPr/>
          <p:nvPr/>
        </p:nvSpPr>
        <p:spPr>
          <a:xfrm>
            <a:off x="2479007" y="690576"/>
            <a:ext cx="1684903" cy="282319"/>
          </a:xfrm>
          <a:prstGeom prst="rect">
            <a:avLst/>
          </a:prstGeom>
          <a:noFill/>
          <a:ln/>
        </p:spPr>
        <p:txBody>
          <a:bodyPr wrap="none" lIns="0" tIns="0" rIns="0" bIns="0" rtlCol="0" anchor="t"/>
          <a:lstStyle/>
          <a:p>
            <a:pPr marL="0" indent="0" algn="l">
              <a:lnSpc>
                <a:spcPts val="1550"/>
              </a:lnSpc>
              <a:buNone/>
            </a:pPr>
            <a:r>
              <a:rPr lang="en-US" sz="950">
                <a:solidFill>
                  <a:srgbClr val="438951"/>
                </a:solidFill>
                <a:latin typeface="Arial Rounded MT Bold" panose="020F0704030504030204" pitchFamily="34" charset="0"/>
                <a:ea typeface="Nobile" pitchFamily="34" charset="-122"/>
                <a:cs typeface="Nobile" pitchFamily="34" charset="-120"/>
              </a:rPr>
              <a:t>VICTIMES POTENTIELLES</a:t>
            </a:r>
            <a:endParaRPr lang="en-US" sz="950">
              <a:latin typeface="Arial Rounded MT Bold" panose="020F0704030504030204" pitchFamily="34" charset="0"/>
            </a:endParaRPr>
          </a:p>
        </p:txBody>
      </p:sp>
      <p:sp>
        <p:nvSpPr>
          <p:cNvPr id="4" name="Text 2"/>
          <p:cNvSpPr/>
          <p:nvPr/>
        </p:nvSpPr>
        <p:spPr>
          <a:xfrm>
            <a:off x="2393156" y="1036439"/>
            <a:ext cx="8095417" cy="486370"/>
          </a:xfrm>
          <a:prstGeom prst="rect">
            <a:avLst/>
          </a:prstGeom>
          <a:noFill/>
          <a:ln/>
        </p:spPr>
        <p:txBody>
          <a:bodyPr wrap="none" lIns="0" tIns="0" rIns="0" bIns="0" rtlCol="0" anchor="t"/>
          <a:lstStyle/>
          <a:p>
            <a:pPr marL="0" indent="0" algn="l">
              <a:lnSpc>
                <a:spcPts val="3800"/>
              </a:lnSpc>
              <a:buNone/>
            </a:pPr>
            <a:r>
              <a:rPr lang="en-US" sz="3050" b="1">
                <a:solidFill>
                  <a:srgbClr val="3B4540"/>
                </a:solidFill>
                <a:latin typeface="Arial Rounded MT Bold" panose="020F0704030504030204" pitchFamily="34" charset="0"/>
                <a:ea typeface="Fraunces Extra Bold" pitchFamily="34" charset="-122"/>
                <a:cs typeface="Fraunces Extra Bold" pitchFamily="34" charset="-120"/>
              </a:rPr>
              <a:t>Qui peut être visé par une attaque DDoS ?</a:t>
            </a:r>
            <a:endParaRPr lang="en-US" sz="3050">
              <a:latin typeface="Arial Rounded MT Bold" panose="020F0704030504030204" pitchFamily="34" charset="0"/>
            </a:endParaRPr>
          </a:p>
        </p:txBody>
      </p:sp>
      <p:sp>
        <p:nvSpPr>
          <p:cNvPr id="5" name="Text 3"/>
          <p:cNvSpPr/>
          <p:nvPr/>
        </p:nvSpPr>
        <p:spPr>
          <a:xfrm>
            <a:off x="2393156" y="1896189"/>
            <a:ext cx="4732258" cy="995839"/>
          </a:xfrm>
          <a:prstGeom prst="rect">
            <a:avLst/>
          </a:prstGeom>
          <a:noFill/>
          <a:ln/>
        </p:spPr>
        <p:txBody>
          <a:bodyPr wrap="square" lIns="0" tIns="0" rIns="0" bIns="0" rtlCol="0" anchor="t"/>
          <a:lstStyle/>
          <a:p>
            <a:pPr marL="0" indent="0" algn="l">
              <a:lnSpc>
                <a:spcPts val="1950"/>
              </a:lnSpc>
              <a:buNone/>
            </a:pPr>
            <a:r>
              <a:rPr lang="en-US" sz="1200">
                <a:solidFill>
                  <a:srgbClr val="405449"/>
                </a:solidFill>
                <a:latin typeface="Arial Rounded MT Bold" panose="020F0704030504030204" pitchFamily="34" charset="0"/>
                <a:ea typeface="Nobile" pitchFamily="34" charset="-122"/>
                <a:cs typeface="Nobile" pitchFamily="34" charset="-120"/>
              </a:rPr>
              <a:t>Toute entité dont l'activité dépend de la disponibilité d'une infrastructure connectée constitue une victime potentielle. La vulnérabilité est directement liée à la dépendance numérique du secteur d'activité.</a:t>
            </a:r>
            <a:endParaRPr lang="en-US" sz="1200">
              <a:latin typeface="Arial Rounded MT Bold" panose="020F0704030504030204" pitchFamily="34" charset="0"/>
            </a:endParaRPr>
          </a:p>
        </p:txBody>
      </p:sp>
      <p:sp>
        <p:nvSpPr>
          <p:cNvPr id="6" name="Shape 4"/>
          <p:cNvSpPr/>
          <p:nvPr/>
        </p:nvSpPr>
        <p:spPr>
          <a:xfrm>
            <a:off x="2393156" y="3067050"/>
            <a:ext cx="4732258" cy="1502569"/>
          </a:xfrm>
          <a:prstGeom prst="roundRect">
            <a:avLst>
              <a:gd name="adj" fmla="val 7303"/>
            </a:avLst>
          </a:prstGeom>
          <a:solidFill>
            <a:srgbClr val="FAFFFA"/>
          </a:solidFill>
          <a:ln w="22860">
            <a:solidFill>
              <a:srgbClr val="CED9CE"/>
            </a:solidFill>
            <a:prstDash val="solid"/>
          </a:ln>
        </p:spPr>
        <p:txBody>
          <a:bodyPr/>
          <a:lstStyle/>
          <a:p>
            <a:endParaRPr lang="fr-FR">
              <a:latin typeface="Arial Rounded MT Bold" panose="020F0704030504030204" pitchFamily="34" charset="0"/>
            </a:endParaRPr>
          </a:p>
        </p:txBody>
      </p:sp>
      <p:sp>
        <p:nvSpPr>
          <p:cNvPr id="7" name="Shape 5"/>
          <p:cNvSpPr/>
          <p:nvPr/>
        </p:nvSpPr>
        <p:spPr>
          <a:xfrm>
            <a:off x="2370296" y="3067050"/>
            <a:ext cx="91440" cy="1502569"/>
          </a:xfrm>
          <a:prstGeom prst="roundRect">
            <a:avLst>
              <a:gd name="adj" fmla="val 153187"/>
            </a:avLst>
          </a:prstGeom>
          <a:solidFill>
            <a:srgbClr val="438951"/>
          </a:solidFill>
          <a:ln/>
        </p:spPr>
        <p:txBody>
          <a:bodyPr/>
          <a:lstStyle/>
          <a:p>
            <a:endParaRPr lang="fr-FR">
              <a:latin typeface="Arial Rounded MT Bold" panose="020F0704030504030204" pitchFamily="34" charset="0"/>
            </a:endParaRPr>
          </a:p>
        </p:txBody>
      </p:sp>
      <p:sp>
        <p:nvSpPr>
          <p:cNvPr id="8" name="Text 6"/>
          <p:cNvSpPr/>
          <p:nvPr/>
        </p:nvSpPr>
        <p:spPr>
          <a:xfrm>
            <a:off x="2640211" y="3245525"/>
            <a:ext cx="3914061" cy="243126"/>
          </a:xfrm>
          <a:prstGeom prst="rect">
            <a:avLst/>
          </a:prstGeom>
          <a:noFill/>
          <a:ln/>
        </p:spPr>
        <p:txBody>
          <a:bodyPr wrap="none" lIns="0" tIns="0" rIns="0" bIns="0" rtlCol="0" anchor="t"/>
          <a:lstStyle/>
          <a:p>
            <a:pPr marL="0" indent="0" algn="l">
              <a:lnSpc>
                <a:spcPts val="1900"/>
              </a:lnSpc>
              <a:buNone/>
            </a:pPr>
            <a:r>
              <a:rPr lang="en-US" sz="1500" b="1">
                <a:solidFill>
                  <a:srgbClr val="405449"/>
                </a:solidFill>
                <a:latin typeface="Arial Rounded MT Bold" panose="020F0704030504030204" pitchFamily="34" charset="0"/>
                <a:ea typeface="Fraunces Extra Bold" pitchFamily="34" charset="-122"/>
                <a:cs typeface="Fraunces Extra Bold" pitchFamily="34" charset="-120"/>
              </a:rPr>
              <a:t>E-commerce et services transactionnels</a:t>
            </a:r>
            <a:endParaRPr lang="en-US" sz="1500">
              <a:latin typeface="Arial Rounded MT Bold" panose="020F0704030504030204" pitchFamily="34" charset="0"/>
            </a:endParaRPr>
          </a:p>
        </p:txBody>
      </p:sp>
      <p:sp>
        <p:nvSpPr>
          <p:cNvPr id="9" name="Text 7"/>
          <p:cNvSpPr/>
          <p:nvPr/>
        </p:nvSpPr>
        <p:spPr>
          <a:xfrm>
            <a:off x="2640211" y="3644265"/>
            <a:ext cx="4306729" cy="746879"/>
          </a:xfrm>
          <a:prstGeom prst="rect">
            <a:avLst/>
          </a:prstGeom>
          <a:noFill/>
          <a:ln/>
        </p:spPr>
        <p:txBody>
          <a:bodyPr wrap="square" lIns="0" tIns="0" rIns="0" bIns="0" rtlCol="0" anchor="t"/>
          <a:lstStyle/>
          <a:p>
            <a:pPr marL="0" indent="0" algn="l">
              <a:lnSpc>
                <a:spcPts val="1950"/>
              </a:lnSpc>
              <a:buNone/>
            </a:pPr>
            <a:r>
              <a:rPr lang="en-US" sz="1200">
                <a:solidFill>
                  <a:srgbClr val="405449"/>
                </a:solidFill>
                <a:latin typeface="Arial Rounded MT Bold" panose="020F0704030504030204" pitchFamily="34" charset="0"/>
                <a:ea typeface="Nobile" pitchFamily="34" charset="-122"/>
                <a:cs typeface="Nobile" pitchFamily="34" charset="-120"/>
              </a:rPr>
              <a:t>Disponibilité directement corrélée au chiffre d'affaires. Chaque minute d'indisponibilité représente une perte financière mesurable.</a:t>
            </a:r>
            <a:endParaRPr lang="en-US" sz="1200">
              <a:latin typeface="Arial Rounded MT Bold" panose="020F0704030504030204" pitchFamily="34" charset="0"/>
            </a:endParaRPr>
          </a:p>
        </p:txBody>
      </p:sp>
      <p:sp>
        <p:nvSpPr>
          <p:cNvPr id="10" name="Shape 8"/>
          <p:cNvSpPr/>
          <p:nvPr/>
        </p:nvSpPr>
        <p:spPr>
          <a:xfrm>
            <a:off x="2393156" y="4725233"/>
            <a:ext cx="4732258" cy="1253609"/>
          </a:xfrm>
          <a:prstGeom prst="roundRect">
            <a:avLst>
              <a:gd name="adj" fmla="val 8753"/>
            </a:avLst>
          </a:prstGeom>
          <a:solidFill>
            <a:srgbClr val="FAFFFA"/>
          </a:solidFill>
          <a:ln w="22860">
            <a:solidFill>
              <a:srgbClr val="CED9CE"/>
            </a:solidFill>
            <a:prstDash val="solid"/>
          </a:ln>
        </p:spPr>
        <p:txBody>
          <a:bodyPr/>
          <a:lstStyle/>
          <a:p>
            <a:endParaRPr lang="fr-FR">
              <a:latin typeface="Arial Rounded MT Bold" panose="020F0704030504030204" pitchFamily="34" charset="0"/>
            </a:endParaRPr>
          </a:p>
        </p:txBody>
      </p:sp>
      <p:sp>
        <p:nvSpPr>
          <p:cNvPr id="11" name="Shape 9"/>
          <p:cNvSpPr/>
          <p:nvPr/>
        </p:nvSpPr>
        <p:spPr>
          <a:xfrm>
            <a:off x="2370296" y="4725233"/>
            <a:ext cx="91440" cy="1253609"/>
          </a:xfrm>
          <a:prstGeom prst="roundRect">
            <a:avLst>
              <a:gd name="adj" fmla="val 153187"/>
            </a:avLst>
          </a:prstGeom>
          <a:solidFill>
            <a:srgbClr val="438951"/>
          </a:solidFill>
          <a:ln/>
        </p:spPr>
        <p:txBody>
          <a:bodyPr/>
          <a:lstStyle/>
          <a:p>
            <a:endParaRPr lang="fr-FR">
              <a:latin typeface="Arial Rounded MT Bold" panose="020F0704030504030204" pitchFamily="34" charset="0"/>
            </a:endParaRPr>
          </a:p>
        </p:txBody>
      </p:sp>
      <p:sp>
        <p:nvSpPr>
          <p:cNvPr id="12" name="Text 10"/>
          <p:cNvSpPr/>
          <p:nvPr/>
        </p:nvSpPr>
        <p:spPr>
          <a:xfrm>
            <a:off x="2640211" y="4903708"/>
            <a:ext cx="3144798" cy="243126"/>
          </a:xfrm>
          <a:prstGeom prst="rect">
            <a:avLst/>
          </a:prstGeom>
          <a:noFill/>
          <a:ln/>
        </p:spPr>
        <p:txBody>
          <a:bodyPr wrap="none" lIns="0" tIns="0" rIns="0" bIns="0" rtlCol="0" anchor="t"/>
          <a:lstStyle/>
          <a:p>
            <a:pPr marL="0" indent="0" algn="l">
              <a:lnSpc>
                <a:spcPts val="1900"/>
              </a:lnSpc>
              <a:buNone/>
            </a:pPr>
            <a:r>
              <a:rPr lang="en-US" sz="1500" b="1">
                <a:solidFill>
                  <a:srgbClr val="405449"/>
                </a:solidFill>
                <a:latin typeface="Arial Rounded MT Bold" panose="020F0704030504030204" pitchFamily="34" charset="0"/>
                <a:ea typeface="Fraunces Extra Bold" pitchFamily="34" charset="-122"/>
                <a:cs typeface="Fraunces Extra Bold" pitchFamily="34" charset="-120"/>
              </a:rPr>
              <a:t>Secteurs financiers et bancaires</a:t>
            </a:r>
            <a:endParaRPr lang="en-US" sz="1500">
              <a:latin typeface="Arial Rounded MT Bold" panose="020F0704030504030204" pitchFamily="34" charset="0"/>
            </a:endParaRPr>
          </a:p>
        </p:txBody>
      </p:sp>
      <p:sp>
        <p:nvSpPr>
          <p:cNvPr id="13" name="Text 11"/>
          <p:cNvSpPr/>
          <p:nvPr/>
        </p:nvSpPr>
        <p:spPr>
          <a:xfrm>
            <a:off x="2640211" y="5302448"/>
            <a:ext cx="4306729" cy="497919"/>
          </a:xfrm>
          <a:prstGeom prst="rect">
            <a:avLst/>
          </a:prstGeom>
          <a:noFill/>
          <a:ln/>
        </p:spPr>
        <p:txBody>
          <a:bodyPr wrap="square" lIns="0" tIns="0" rIns="0" bIns="0" rtlCol="0" anchor="t"/>
          <a:lstStyle/>
          <a:p>
            <a:pPr marL="0" indent="0" algn="l">
              <a:lnSpc>
                <a:spcPts val="1950"/>
              </a:lnSpc>
              <a:buNone/>
            </a:pPr>
            <a:r>
              <a:rPr lang="en-US" sz="1200">
                <a:solidFill>
                  <a:srgbClr val="405449"/>
                </a:solidFill>
                <a:latin typeface="Arial Rounded MT Bold" panose="020F0704030504030204" pitchFamily="34" charset="0"/>
                <a:ea typeface="Nobile" pitchFamily="34" charset="-122"/>
                <a:cs typeface="Nobile" pitchFamily="34" charset="-120"/>
              </a:rPr>
              <a:t>Au-delà de l'interruption des paiements, le DDoS sert de diversion lors d'opérations complexes de fraude.</a:t>
            </a:r>
            <a:endParaRPr lang="en-US" sz="1200">
              <a:latin typeface="Arial Rounded MT Bold" panose="020F0704030504030204" pitchFamily="34" charset="0"/>
            </a:endParaRPr>
          </a:p>
        </p:txBody>
      </p:sp>
      <p:sp>
        <p:nvSpPr>
          <p:cNvPr id="14" name="Shape 12"/>
          <p:cNvSpPr/>
          <p:nvPr/>
        </p:nvSpPr>
        <p:spPr>
          <a:xfrm>
            <a:off x="2393156" y="6134457"/>
            <a:ext cx="4732258" cy="1253609"/>
          </a:xfrm>
          <a:prstGeom prst="roundRect">
            <a:avLst>
              <a:gd name="adj" fmla="val 8753"/>
            </a:avLst>
          </a:prstGeom>
          <a:solidFill>
            <a:srgbClr val="FAFFFA"/>
          </a:solidFill>
          <a:ln w="22860">
            <a:solidFill>
              <a:srgbClr val="CED9CE"/>
            </a:solidFill>
            <a:prstDash val="solid"/>
          </a:ln>
        </p:spPr>
        <p:txBody>
          <a:bodyPr/>
          <a:lstStyle/>
          <a:p>
            <a:endParaRPr lang="fr-FR">
              <a:latin typeface="Arial Rounded MT Bold" panose="020F0704030504030204" pitchFamily="34" charset="0"/>
            </a:endParaRPr>
          </a:p>
        </p:txBody>
      </p:sp>
      <p:sp>
        <p:nvSpPr>
          <p:cNvPr id="15" name="Shape 13"/>
          <p:cNvSpPr/>
          <p:nvPr/>
        </p:nvSpPr>
        <p:spPr>
          <a:xfrm>
            <a:off x="2370296" y="6134457"/>
            <a:ext cx="91440" cy="1253609"/>
          </a:xfrm>
          <a:prstGeom prst="roundRect">
            <a:avLst>
              <a:gd name="adj" fmla="val 153187"/>
            </a:avLst>
          </a:prstGeom>
          <a:solidFill>
            <a:srgbClr val="438951"/>
          </a:solidFill>
          <a:ln/>
        </p:spPr>
        <p:txBody>
          <a:bodyPr/>
          <a:lstStyle/>
          <a:p>
            <a:endParaRPr lang="fr-FR">
              <a:latin typeface="Arial Rounded MT Bold" panose="020F0704030504030204" pitchFamily="34" charset="0"/>
            </a:endParaRPr>
          </a:p>
        </p:txBody>
      </p:sp>
      <p:sp>
        <p:nvSpPr>
          <p:cNvPr id="16" name="Text 14"/>
          <p:cNvSpPr/>
          <p:nvPr/>
        </p:nvSpPr>
        <p:spPr>
          <a:xfrm>
            <a:off x="2640211" y="6312932"/>
            <a:ext cx="2637830" cy="243126"/>
          </a:xfrm>
          <a:prstGeom prst="rect">
            <a:avLst/>
          </a:prstGeom>
          <a:noFill/>
          <a:ln/>
        </p:spPr>
        <p:txBody>
          <a:bodyPr wrap="none" lIns="0" tIns="0" rIns="0" bIns="0" rtlCol="0" anchor="t"/>
          <a:lstStyle/>
          <a:p>
            <a:pPr marL="0" indent="0" algn="l">
              <a:lnSpc>
                <a:spcPts val="1900"/>
              </a:lnSpc>
              <a:buNone/>
            </a:pPr>
            <a:r>
              <a:rPr lang="en-US" sz="1500" b="1">
                <a:solidFill>
                  <a:srgbClr val="405449"/>
                </a:solidFill>
                <a:latin typeface="Arial Rounded MT Bold" panose="020F0704030504030204" pitchFamily="34" charset="0"/>
                <a:ea typeface="Fraunces Extra Bold" pitchFamily="34" charset="-122"/>
                <a:cs typeface="Fraunces Extra Bold" pitchFamily="34" charset="-120"/>
              </a:rPr>
              <a:t>Santé et services d'urgence</a:t>
            </a:r>
            <a:endParaRPr lang="en-US" sz="1500">
              <a:latin typeface="Arial Rounded MT Bold" panose="020F0704030504030204" pitchFamily="34" charset="0"/>
            </a:endParaRPr>
          </a:p>
        </p:txBody>
      </p:sp>
      <p:sp>
        <p:nvSpPr>
          <p:cNvPr id="17" name="Text 15"/>
          <p:cNvSpPr/>
          <p:nvPr/>
        </p:nvSpPr>
        <p:spPr>
          <a:xfrm>
            <a:off x="2640211" y="6711672"/>
            <a:ext cx="4306729" cy="497919"/>
          </a:xfrm>
          <a:prstGeom prst="rect">
            <a:avLst/>
          </a:prstGeom>
          <a:noFill/>
          <a:ln/>
        </p:spPr>
        <p:txBody>
          <a:bodyPr wrap="square" lIns="0" tIns="0" rIns="0" bIns="0" rtlCol="0" anchor="t"/>
          <a:lstStyle/>
          <a:p>
            <a:pPr marL="0" indent="0" algn="l">
              <a:lnSpc>
                <a:spcPts val="1950"/>
              </a:lnSpc>
              <a:buNone/>
            </a:pPr>
            <a:r>
              <a:rPr lang="en-US" sz="1200">
                <a:solidFill>
                  <a:srgbClr val="405449"/>
                </a:solidFill>
                <a:latin typeface="Arial Rounded MT Bold" panose="020F0704030504030204" pitchFamily="34" charset="0"/>
                <a:ea typeface="Nobile" pitchFamily="34" charset="-122"/>
                <a:cs typeface="Nobile" pitchFamily="34" charset="-120"/>
              </a:rPr>
              <a:t>Les informations médicales deviennent un risque vital pouvant paralyser les soins critiques.</a:t>
            </a:r>
            <a:endParaRPr lang="en-US" sz="1200">
              <a:latin typeface="Arial Rounded MT Bold" panose="020F0704030504030204" pitchFamily="34" charset="0"/>
            </a:endParaRPr>
          </a:p>
        </p:txBody>
      </p:sp>
      <p:sp>
        <p:nvSpPr>
          <p:cNvPr id="18" name="Text 16"/>
          <p:cNvSpPr/>
          <p:nvPr/>
        </p:nvSpPr>
        <p:spPr>
          <a:xfrm>
            <a:off x="7512606" y="3433405"/>
            <a:ext cx="2676049" cy="243126"/>
          </a:xfrm>
          <a:prstGeom prst="rect">
            <a:avLst/>
          </a:prstGeom>
          <a:noFill/>
          <a:ln/>
        </p:spPr>
        <p:txBody>
          <a:bodyPr wrap="none" lIns="0" tIns="0" rIns="0" bIns="0" rtlCol="0" anchor="t"/>
          <a:lstStyle/>
          <a:p>
            <a:pPr marL="0" indent="0" algn="l">
              <a:lnSpc>
                <a:spcPts val="1900"/>
              </a:lnSpc>
              <a:buNone/>
            </a:pPr>
            <a:r>
              <a:rPr lang="en-US" sz="1500" b="1">
                <a:solidFill>
                  <a:srgbClr val="3B4540"/>
                </a:solidFill>
                <a:latin typeface="Arial Rounded MT Bold" panose="020F0704030504030204" pitchFamily="34" charset="0"/>
                <a:ea typeface="Fraunces Extra Bold" pitchFamily="34" charset="-122"/>
                <a:cs typeface="Fraunces Extra Bold" pitchFamily="34" charset="-120"/>
              </a:rPr>
              <a:t>Motivations des attaquants</a:t>
            </a:r>
            <a:endParaRPr lang="en-US" sz="1500">
              <a:latin typeface="Arial Rounded MT Bold" panose="020F0704030504030204" pitchFamily="34" charset="0"/>
            </a:endParaRPr>
          </a:p>
        </p:txBody>
      </p:sp>
      <p:sp>
        <p:nvSpPr>
          <p:cNvPr id="19" name="Text 17"/>
          <p:cNvSpPr/>
          <p:nvPr/>
        </p:nvSpPr>
        <p:spPr>
          <a:xfrm>
            <a:off x="7512606" y="3832146"/>
            <a:ext cx="4732258" cy="497919"/>
          </a:xfrm>
          <a:prstGeom prst="rect">
            <a:avLst/>
          </a:prstGeom>
          <a:noFill/>
          <a:ln/>
        </p:spPr>
        <p:txBody>
          <a:bodyPr wrap="square" lIns="0" tIns="0" rIns="0" bIns="0" rtlCol="0" anchor="t"/>
          <a:lstStyle/>
          <a:p>
            <a:pPr marL="342900" indent="-342900" algn="l">
              <a:lnSpc>
                <a:spcPts val="1950"/>
              </a:lnSpc>
              <a:buSzPct val="100000"/>
              <a:buChar char="•"/>
            </a:pPr>
            <a:r>
              <a:rPr lang="en-US" sz="1200" b="1">
                <a:solidFill>
                  <a:srgbClr val="405449"/>
                </a:solidFill>
                <a:latin typeface="Arial Rounded MT Bold"/>
                <a:ea typeface="Nobile" pitchFamily="34" charset="-122"/>
                <a:cs typeface="Nobile" pitchFamily="34" charset="-120"/>
              </a:rPr>
              <a:t>Extorsion de fonds (</a:t>
            </a:r>
            <a:r>
              <a:rPr lang="en-US" sz="1200" b="1" err="1">
                <a:solidFill>
                  <a:srgbClr val="405449"/>
                </a:solidFill>
                <a:latin typeface="Arial Rounded MT Bold"/>
                <a:ea typeface="Nobile" pitchFamily="34" charset="-122"/>
                <a:cs typeface="Nobile" pitchFamily="34" charset="-120"/>
              </a:rPr>
              <a:t>RDoS</a:t>
            </a:r>
            <a:r>
              <a:rPr lang="en-US" sz="1200" b="1">
                <a:solidFill>
                  <a:srgbClr val="405449"/>
                </a:solidFill>
                <a:latin typeface="Arial Rounded MT Bold"/>
                <a:ea typeface="Nobile" pitchFamily="34" charset="-122"/>
                <a:cs typeface="Nobile" pitchFamily="34" charset="-120"/>
              </a:rPr>
              <a:t>)</a:t>
            </a:r>
            <a:r>
              <a:rPr lang="en-US" sz="1200">
                <a:solidFill>
                  <a:srgbClr val="405449"/>
                </a:solidFill>
                <a:latin typeface="Arial Rounded MT Bold"/>
                <a:ea typeface="Nobile" pitchFamily="34" charset="-122"/>
                <a:cs typeface="Nobile" pitchFamily="34" charset="-120"/>
              </a:rPr>
              <a:t> : </a:t>
            </a:r>
            <a:r>
              <a:rPr lang="en-US" sz="1200" err="1">
                <a:solidFill>
                  <a:srgbClr val="405449"/>
                </a:solidFill>
                <a:latin typeface="Arial Rounded MT Bold"/>
                <a:ea typeface="Nobile" pitchFamily="34" charset="-122"/>
                <a:cs typeface="Nobile" pitchFamily="34" charset="-120"/>
              </a:rPr>
              <a:t>Démonstration</a:t>
            </a:r>
            <a:r>
              <a:rPr lang="en-US" sz="1200">
                <a:solidFill>
                  <a:srgbClr val="405449"/>
                </a:solidFill>
                <a:latin typeface="Arial Rounded MT Bold"/>
                <a:ea typeface="Nobile" pitchFamily="34" charset="-122"/>
                <a:cs typeface="Nobile" pitchFamily="34" charset="-120"/>
              </a:rPr>
              <a:t> </a:t>
            </a:r>
            <a:r>
              <a:rPr lang="en-US" sz="1200" err="1">
                <a:solidFill>
                  <a:srgbClr val="405449"/>
                </a:solidFill>
                <a:latin typeface="Arial Rounded MT Bold"/>
                <a:ea typeface="Nobile" pitchFamily="34" charset="-122"/>
                <a:cs typeface="Nobile" pitchFamily="34" charset="-120"/>
              </a:rPr>
              <a:t>suivie</a:t>
            </a:r>
            <a:r>
              <a:rPr lang="en-US" sz="1200">
                <a:solidFill>
                  <a:srgbClr val="405449"/>
                </a:solidFill>
                <a:latin typeface="Arial Rounded MT Bold"/>
                <a:ea typeface="Nobile" pitchFamily="34" charset="-122"/>
                <a:cs typeface="Nobile" pitchFamily="34" charset="-120"/>
              </a:rPr>
              <a:t> de </a:t>
            </a:r>
            <a:r>
              <a:rPr lang="en-US" sz="1200" err="1">
                <a:solidFill>
                  <a:srgbClr val="405449"/>
                </a:solidFill>
                <a:latin typeface="Arial Rounded MT Bold"/>
                <a:ea typeface="Nobile" pitchFamily="34" charset="-122"/>
                <a:cs typeface="Nobile" pitchFamily="34" charset="-120"/>
              </a:rPr>
              <a:t>demande</a:t>
            </a:r>
            <a:r>
              <a:rPr lang="en-US" sz="1200">
                <a:solidFill>
                  <a:srgbClr val="405449"/>
                </a:solidFill>
                <a:latin typeface="Arial Rounded MT Bold"/>
                <a:ea typeface="Nobile" pitchFamily="34" charset="-122"/>
                <a:cs typeface="Nobile" pitchFamily="34" charset="-120"/>
              </a:rPr>
              <a:t> de </a:t>
            </a:r>
            <a:r>
              <a:rPr lang="en-US" sz="1200" err="1">
                <a:solidFill>
                  <a:srgbClr val="405449"/>
                </a:solidFill>
                <a:latin typeface="Arial Rounded MT Bold"/>
                <a:ea typeface="Nobile" pitchFamily="34" charset="-122"/>
                <a:cs typeface="Nobile" pitchFamily="34" charset="-120"/>
              </a:rPr>
              <a:t>rançon</a:t>
            </a:r>
            <a:endParaRPr lang="en-US" sz="1200" err="1">
              <a:latin typeface="Arial Rounded MT Bold"/>
            </a:endParaRPr>
          </a:p>
        </p:txBody>
      </p:sp>
      <p:sp>
        <p:nvSpPr>
          <p:cNvPr id="20" name="Text 18"/>
          <p:cNvSpPr/>
          <p:nvPr/>
        </p:nvSpPr>
        <p:spPr>
          <a:xfrm>
            <a:off x="7512606" y="4384477"/>
            <a:ext cx="4732258" cy="497919"/>
          </a:xfrm>
          <a:prstGeom prst="rect">
            <a:avLst/>
          </a:prstGeom>
          <a:noFill/>
          <a:ln/>
        </p:spPr>
        <p:txBody>
          <a:bodyPr wrap="square" lIns="0" tIns="0" rIns="0" bIns="0" rtlCol="0" anchor="t"/>
          <a:lstStyle/>
          <a:p>
            <a:pPr marL="342900" indent="-342900" algn="l">
              <a:lnSpc>
                <a:spcPts val="1950"/>
              </a:lnSpc>
              <a:buSzPct val="100000"/>
              <a:buChar char="•"/>
            </a:pPr>
            <a:r>
              <a:rPr lang="en-US" sz="1200" b="1" err="1">
                <a:solidFill>
                  <a:srgbClr val="405449"/>
                </a:solidFill>
                <a:latin typeface="Arial Rounded MT Bold"/>
                <a:ea typeface="Nobile" pitchFamily="34" charset="-122"/>
                <a:cs typeface="Nobile" pitchFamily="34" charset="-120"/>
              </a:rPr>
              <a:t>Hacktivisme</a:t>
            </a:r>
            <a:r>
              <a:rPr lang="en-US" sz="1200">
                <a:solidFill>
                  <a:srgbClr val="405449"/>
                </a:solidFill>
                <a:latin typeface="Arial Rounded MT Bold"/>
                <a:ea typeface="Nobile" pitchFamily="34" charset="-122"/>
                <a:cs typeface="Nobile" pitchFamily="34" charset="-120"/>
              </a:rPr>
              <a:t> : Revendications </a:t>
            </a:r>
            <a:r>
              <a:rPr lang="en-US" sz="1200" err="1">
                <a:solidFill>
                  <a:srgbClr val="405449"/>
                </a:solidFill>
                <a:latin typeface="Arial Rounded MT Bold"/>
                <a:ea typeface="Nobile" pitchFamily="34" charset="-122"/>
                <a:cs typeface="Nobile" pitchFamily="34" charset="-120"/>
              </a:rPr>
              <a:t>idéologiques</a:t>
            </a:r>
            <a:r>
              <a:rPr lang="en-US" sz="1200">
                <a:solidFill>
                  <a:srgbClr val="405449"/>
                </a:solidFill>
                <a:latin typeface="Arial Rounded MT Bold"/>
                <a:ea typeface="Nobile" pitchFamily="34" charset="-122"/>
                <a:cs typeface="Nobile" pitchFamily="34" charset="-120"/>
              </a:rPr>
              <a:t>, politiques </a:t>
            </a:r>
            <a:r>
              <a:rPr lang="en-US" sz="1200" err="1">
                <a:solidFill>
                  <a:srgbClr val="405449"/>
                </a:solidFill>
                <a:latin typeface="Arial Rounded MT Bold"/>
                <a:ea typeface="Nobile" pitchFamily="34" charset="-122"/>
                <a:cs typeface="Nobile" pitchFamily="34" charset="-120"/>
              </a:rPr>
              <a:t>ou</a:t>
            </a:r>
            <a:r>
              <a:rPr lang="en-US" sz="1200">
                <a:solidFill>
                  <a:srgbClr val="405449"/>
                </a:solidFill>
                <a:latin typeface="Arial Rounded MT Bold"/>
                <a:ea typeface="Nobile" pitchFamily="34" charset="-122"/>
                <a:cs typeface="Nobile" pitchFamily="34" charset="-120"/>
              </a:rPr>
              <a:t> </a:t>
            </a:r>
            <a:r>
              <a:rPr lang="en-US" sz="1200" err="1">
                <a:solidFill>
                  <a:srgbClr val="405449"/>
                </a:solidFill>
                <a:latin typeface="Arial Rounded MT Bold"/>
                <a:ea typeface="Nobile" pitchFamily="34" charset="-122"/>
                <a:cs typeface="Nobile" pitchFamily="34" charset="-120"/>
              </a:rPr>
              <a:t>sociales</a:t>
            </a:r>
            <a:endParaRPr lang="en-US" sz="1200" err="1">
              <a:latin typeface="Arial Rounded MT Bold"/>
            </a:endParaRPr>
          </a:p>
        </p:txBody>
      </p:sp>
      <p:sp>
        <p:nvSpPr>
          <p:cNvPr id="21" name="Text 19"/>
          <p:cNvSpPr/>
          <p:nvPr/>
        </p:nvSpPr>
        <p:spPr>
          <a:xfrm>
            <a:off x="7512606" y="4936808"/>
            <a:ext cx="4732258" cy="497919"/>
          </a:xfrm>
          <a:prstGeom prst="rect">
            <a:avLst/>
          </a:prstGeom>
          <a:noFill/>
          <a:ln/>
        </p:spPr>
        <p:txBody>
          <a:bodyPr wrap="square" lIns="0" tIns="0" rIns="0" bIns="0" rtlCol="0" anchor="t"/>
          <a:lstStyle/>
          <a:p>
            <a:pPr marL="342900" indent="-342900" algn="l">
              <a:lnSpc>
                <a:spcPts val="1950"/>
              </a:lnSpc>
              <a:buSzPct val="100000"/>
              <a:buChar char="•"/>
            </a:pPr>
            <a:r>
              <a:rPr lang="en-US" sz="1200">
                <a:solidFill>
                  <a:srgbClr val="405449"/>
                </a:solidFill>
                <a:latin typeface="Arial Rounded MT Bold"/>
                <a:ea typeface="Nobile" pitchFamily="34" charset="-122"/>
                <a:cs typeface="Nobile" pitchFamily="34" charset="-120"/>
              </a:rPr>
              <a:t>Concurrence </a:t>
            </a:r>
            <a:r>
              <a:rPr lang="en-US" sz="1200" err="1">
                <a:solidFill>
                  <a:srgbClr val="405449"/>
                </a:solidFill>
                <a:latin typeface="Arial Rounded MT Bold"/>
                <a:ea typeface="Nobile" pitchFamily="34" charset="-122"/>
                <a:cs typeface="Nobile" pitchFamily="34" charset="-120"/>
              </a:rPr>
              <a:t>déloyale</a:t>
            </a:r>
            <a:r>
              <a:rPr lang="en-US" sz="1200">
                <a:solidFill>
                  <a:srgbClr val="405449"/>
                </a:solidFill>
                <a:latin typeface="Arial Rounded MT Bold"/>
                <a:ea typeface="Nobile" pitchFamily="34" charset="-122"/>
                <a:cs typeface="Nobile" pitchFamily="34" charset="-120"/>
              </a:rPr>
              <a:t> : Sabotage commercial pendant des </a:t>
            </a:r>
            <a:r>
              <a:rPr lang="en-US" sz="1200" err="1">
                <a:solidFill>
                  <a:srgbClr val="405449"/>
                </a:solidFill>
                <a:latin typeface="Arial Rounded MT Bold"/>
                <a:ea typeface="Nobile" pitchFamily="34" charset="-122"/>
                <a:cs typeface="Nobile" pitchFamily="34" charset="-120"/>
              </a:rPr>
              <a:t>périodes</a:t>
            </a:r>
            <a:r>
              <a:rPr lang="en-US" sz="1200">
                <a:solidFill>
                  <a:srgbClr val="405449"/>
                </a:solidFill>
                <a:latin typeface="Arial Rounded MT Bold"/>
                <a:ea typeface="Nobile" pitchFamily="34" charset="-122"/>
                <a:cs typeface="Nobile" pitchFamily="34" charset="-120"/>
              </a:rPr>
              <a:t> critiques</a:t>
            </a:r>
            <a:endParaRPr lang="en-US" sz="1200">
              <a:latin typeface="Arial Rounded MT Bold"/>
            </a:endParaRPr>
          </a:p>
        </p:txBody>
      </p:sp>
      <p:sp>
        <p:nvSpPr>
          <p:cNvPr id="22" name="Text 20"/>
          <p:cNvSpPr/>
          <p:nvPr/>
        </p:nvSpPr>
        <p:spPr>
          <a:xfrm>
            <a:off x="7512606" y="5489138"/>
            <a:ext cx="4732258" cy="497919"/>
          </a:xfrm>
          <a:prstGeom prst="rect">
            <a:avLst/>
          </a:prstGeom>
          <a:noFill/>
          <a:ln/>
        </p:spPr>
        <p:txBody>
          <a:bodyPr wrap="square" lIns="0" tIns="0" rIns="0" bIns="0" rtlCol="0" anchor="t"/>
          <a:lstStyle/>
          <a:p>
            <a:pPr marL="342900" indent="-342900">
              <a:lnSpc>
                <a:spcPts val="1950"/>
              </a:lnSpc>
              <a:buSzPct val="100000"/>
              <a:buChar char="•"/>
            </a:pPr>
            <a:r>
              <a:rPr lang="en-US" sz="1200" err="1">
                <a:solidFill>
                  <a:srgbClr val="405449"/>
                </a:solidFill>
                <a:latin typeface="Arial Rounded MT Bold"/>
                <a:ea typeface="Nobile" pitchFamily="34" charset="-122"/>
                <a:cs typeface="Nobile" pitchFamily="34" charset="-120"/>
              </a:rPr>
              <a:t>Écran</a:t>
            </a:r>
            <a:r>
              <a:rPr lang="en-US" sz="1200">
                <a:solidFill>
                  <a:srgbClr val="405449"/>
                </a:solidFill>
                <a:latin typeface="Arial Rounded MT Bold"/>
                <a:ea typeface="Nobile" pitchFamily="34" charset="-122"/>
                <a:cs typeface="Nobile" pitchFamily="34" charset="-120"/>
              </a:rPr>
              <a:t> de </a:t>
            </a:r>
            <a:r>
              <a:rPr lang="en-US" sz="1200" err="1">
                <a:solidFill>
                  <a:srgbClr val="405449"/>
                </a:solidFill>
                <a:latin typeface="Arial Rounded MT Bold"/>
                <a:ea typeface="Nobile" pitchFamily="34" charset="-122"/>
                <a:cs typeface="Nobile" pitchFamily="34" charset="-120"/>
              </a:rPr>
              <a:t>fumée</a:t>
            </a:r>
            <a:r>
              <a:rPr lang="en-US" sz="1200">
                <a:solidFill>
                  <a:srgbClr val="405449"/>
                </a:solidFill>
                <a:latin typeface="Arial Rounded MT Bold"/>
                <a:ea typeface="Nobile" pitchFamily="34" charset="-122"/>
                <a:cs typeface="Nobile" pitchFamily="34" charset="-120"/>
              </a:rPr>
              <a:t> : Saturation du Centre </a:t>
            </a:r>
            <a:r>
              <a:rPr lang="en-US" sz="1200" err="1">
                <a:solidFill>
                  <a:srgbClr val="405449"/>
                </a:solidFill>
                <a:latin typeface="Arial Rounded MT Bold"/>
                <a:ea typeface="Nobile" pitchFamily="34" charset="-122"/>
                <a:cs typeface="Nobile" pitchFamily="34" charset="-120"/>
              </a:rPr>
              <a:t>d'Opérations</a:t>
            </a:r>
            <a:r>
              <a:rPr lang="en-US" sz="1200">
                <a:solidFill>
                  <a:srgbClr val="405449"/>
                </a:solidFill>
                <a:latin typeface="Arial Rounded MT Bold"/>
                <a:ea typeface="Nobile" pitchFamily="34" charset="-122"/>
                <a:cs typeface="Nobile" pitchFamily="34" charset="-120"/>
              </a:rPr>
              <a:t> de </a:t>
            </a:r>
            <a:r>
              <a:rPr lang="en-US" sz="1200" err="1">
                <a:solidFill>
                  <a:srgbClr val="405449"/>
                </a:solidFill>
                <a:latin typeface="Arial Rounded MT Bold"/>
                <a:ea typeface="Nobile" pitchFamily="34" charset="-122"/>
                <a:cs typeface="Nobile" pitchFamily="34" charset="-120"/>
              </a:rPr>
              <a:t>Sécurité</a:t>
            </a:r>
            <a:r>
              <a:rPr lang="en-US" sz="1200">
                <a:solidFill>
                  <a:srgbClr val="405449"/>
                </a:solidFill>
                <a:latin typeface="Arial Rounded MT Bold"/>
                <a:ea typeface="Nobile" pitchFamily="34" charset="-122"/>
                <a:cs typeface="Nobile" pitchFamily="34" charset="-120"/>
              </a:rPr>
              <a:t> pour masquer </a:t>
            </a:r>
            <a:r>
              <a:rPr lang="en-US" sz="1200" err="1">
                <a:solidFill>
                  <a:srgbClr val="405449"/>
                </a:solidFill>
                <a:latin typeface="Arial Rounded MT Bold"/>
                <a:ea typeface="Nobile" pitchFamily="34" charset="-122"/>
                <a:cs typeface="Nobile" pitchFamily="34" charset="-120"/>
              </a:rPr>
              <a:t>l'exfiltration</a:t>
            </a:r>
            <a:r>
              <a:rPr lang="en-US" sz="1200">
                <a:solidFill>
                  <a:srgbClr val="405449"/>
                </a:solidFill>
                <a:latin typeface="Arial Rounded MT Bold"/>
                <a:ea typeface="Nobile" pitchFamily="34" charset="-122"/>
                <a:cs typeface="Nobile" pitchFamily="34" charset="-120"/>
              </a:rPr>
              <a:t> de données</a:t>
            </a:r>
            <a:endParaRPr lang="en-US" sz="1200">
              <a:latin typeface="Arial Rounded MT Bold"/>
            </a:endParaRPr>
          </a:p>
        </p:txBody>
      </p:sp>
      <p:pic>
        <p:nvPicPr>
          <p:cNvPr id="23" name="Image 22" descr="Une image contenant blanc, conception&#10;&#10;Le contenu généré par l’IA peut être incorrect.">
            <a:extLst>
              <a:ext uri="{FF2B5EF4-FFF2-40B4-BE49-F238E27FC236}">
                <a16:creationId xmlns:a16="http://schemas.microsoft.com/office/drawing/2014/main" id="{DAF0D222-C9DD-242B-D0AC-3AD2844D37AB}"/>
              </a:ext>
            </a:extLst>
          </p:cNvPr>
          <p:cNvPicPr>
            <a:picLocks noChangeAspect="1"/>
          </p:cNvPicPr>
          <p:nvPr/>
        </p:nvPicPr>
        <p:blipFill>
          <a:blip r:embed="rId3"/>
          <a:stretch>
            <a:fillRect/>
          </a:stretch>
        </p:blipFill>
        <p:spPr>
          <a:xfrm>
            <a:off x="12563187" y="7359038"/>
            <a:ext cx="2067213" cy="870562"/>
          </a:xfrm>
          <a:prstGeom prst="rect">
            <a:avLst/>
          </a:prstGeom>
        </p:spPr>
      </p:pic>
      <p:sp>
        <p:nvSpPr>
          <p:cNvPr id="24" name="ZoneTexte 23">
            <a:extLst>
              <a:ext uri="{FF2B5EF4-FFF2-40B4-BE49-F238E27FC236}">
                <a16:creationId xmlns:a16="http://schemas.microsoft.com/office/drawing/2014/main" id="{E4758995-416E-42F2-ADE2-6CA0B3011FE9}"/>
              </a:ext>
            </a:extLst>
          </p:cNvPr>
          <p:cNvSpPr txBox="1"/>
          <p:nvPr/>
        </p:nvSpPr>
        <p:spPr>
          <a:xfrm>
            <a:off x="6961909" y="7803572"/>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a:ea typeface="Calibri"/>
                <a:cs typeface="Calibri"/>
              </a:rPr>
              <a:t>3</a:t>
            </a:r>
            <a:endParaRPr lang="fr-F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99386" y="893445"/>
            <a:ext cx="2010251" cy="387191"/>
          </a:xfrm>
          <a:prstGeom prst="roundRect">
            <a:avLst>
              <a:gd name="adj" fmla="val 38313"/>
            </a:avLst>
          </a:prstGeom>
          <a:solidFill>
            <a:srgbClr val="DDEEE0"/>
          </a:solidFill>
          <a:ln/>
        </p:spPr>
        <p:txBody>
          <a:bodyPr/>
          <a:lstStyle/>
          <a:p>
            <a:endParaRPr lang="fr-FR">
              <a:latin typeface="Arial Rounded MT Bold" panose="020F0704030504030204" pitchFamily="34" charset="0"/>
            </a:endParaRPr>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2972" y="1004649"/>
            <a:ext cx="164783" cy="164783"/>
          </a:xfrm>
          <a:prstGeom prst="rect">
            <a:avLst/>
          </a:prstGeom>
        </p:spPr>
      </p:pic>
      <p:sp>
        <p:nvSpPr>
          <p:cNvPr id="4" name="Text 1"/>
          <p:cNvSpPr/>
          <p:nvPr/>
        </p:nvSpPr>
        <p:spPr>
          <a:xfrm>
            <a:off x="1155032" y="977909"/>
            <a:ext cx="1644373" cy="218262"/>
          </a:xfrm>
          <a:prstGeom prst="rect">
            <a:avLst/>
          </a:prstGeom>
          <a:noFill/>
          <a:ln/>
        </p:spPr>
        <p:txBody>
          <a:bodyPr wrap="none" lIns="0" tIns="0" rIns="0" bIns="0" rtlCol="0" anchor="t"/>
          <a:lstStyle/>
          <a:p>
            <a:pPr marL="0" indent="0" algn="l">
              <a:lnSpc>
                <a:spcPts val="2050"/>
              </a:lnSpc>
              <a:buNone/>
            </a:pPr>
            <a:r>
              <a:rPr lang="en-US" sz="1250">
                <a:solidFill>
                  <a:srgbClr val="405449"/>
                </a:solidFill>
                <a:latin typeface="Arial Rounded MT Bold" panose="020F0704030504030204" pitchFamily="34" charset="0"/>
                <a:ea typeface="Nobile" pitchFamily="34" charset="-122"/>
                <a:cs typeface="Nobile" pitchFamily="34" charset="-120"/>
              </a:rPr>
              <a:t>RECONNAISSANCE</a:t>
            </a:r>
            <a:endParaRPr lang="en-US" sz="1250">
              <a:latin typeface="Arial Rounded MT Bold" panose="020F0704030504030204" pitchFamily="34" charset="0"/>
            </a:endParaRPr>
          </a:p>
        </p:txBody>
      </p:sp>
      <p:sp>
        <p:nvSpPr>
          <p:cNvPr id="5" name="Text 2"/>
          <p:cNvSpPr/>
          <p:nvPr/>
        </p:nvSpPr>
        <p:spPr>
          <a:xfrm>
            <a:off x="799386" y="1363028"/>
            <a:ext cx="11267361" cy="643771"/>
          </a:xfrm>
          <a:prstGeom prst="rect">
            <a:avLst/>
          </a:prstGeom>
          <a:noFill/>
          <a:ln/>
        </p:spPr>
        <p:txBody>
          <a:bodyPr wrap="none" lIns="0" tIns="0" rIns="0" bIns="0" rtlCol="0" anchor="t"/>
          <a:lstStyle/>
          <a:p>
            <a:pPr marL="0" indent="0" algn="l">
              <a:lnSpc>
                <a:spcPts val="5050"/>
              </a:lnSpc>
              <a:buNone/>
            </a:pPr>
            <a:r>
              <a:rPr lang="en-US" sz="4050" b="1">
                <a:solidFill>
                  <a:srgbClr val="3B4540"/>
                </a:solidFill>
                <a:latin typeface="Arial Rounded MT Bold" panose="020F0704030504030204" pitchFamily="34" charset="0"/>
                <a:ea typeface="Fraunces Extra Bold" pitchFamily="34" charset="-122"/>
                <a:cs typeface="Fraunces Extra Bold" pitchFamily="34" charset="-120"/>
              </a:rPr>
              <a:t>Le Portscan : Technique de Reconnaissance</a:t>
            </a:r>
            <a:endParaRPr lang="en-US" sz="4050">
              <a:latin typeface="Arial Rounded MT Bold" panose="020F0704030504030204" pitchFamily="34" charset="0"/>
            </a:endParaRPr>
          </a:p>
        </p:txBody>
      </p:sp>
      <p:sp>
        <p:nvSpPr>
          <p:cNvPr id="6" name="Text 3"/>
          <p:cNvSpPr/>
          <p:nvPr/>
        </p:nvSpPr>
        <p:spPr>
          <a:xfrm>
            <a:off x="799386" y="2315766"/>
            <a:ext cx="13031629" cy="681990"/>
          </a:xfrm>
          <a:prstGeom prst="rect">
            <a:avLst/>
          </a:prstGeom>
          <a:noFill/>
          <a:ln/>
        </p:spPr>
        <p:txBody>
          <a:bodyPr wrap="square" lIns="0" tIns="0" rIns="0" bIns="0" rtlCol="0" anchor="t"/>
          <a:lstStyle/>
          <a:p>
            <a:pPr marL="0" indent="0" algn="l">
              <a:lnSpc>
                <a:spcPts val="2550"/>
              </a:lnSpc>
              <a:buNone/>
            </a:pPr>
            <a:r>
              <a:rPr lang="en-US" sz="1600">
                <a:solidFill>
                  <a:srgbClr val="405449"/>
                </a:solidFill>
                <a:latin typeface="Arial Rounded MT Bold" panose="020F0704030504030204" pitchFamily="34" charset="0"/>
                <a:ea typeface="Nobile" pitchFamily="34" charset="-122"/>
                <a:cs typeface="Nobile" pitchFamily="34" charset="-120"/>
              </a:rPr>
              <a:t>Le balayage de ports est une technique de reconnaissance servant à identifier le statut des ports d'une machine. Des outils comme </a:t>
            </a:r>
            <a:r>
              <a:rPr lang="en-US" sz="1600">
                <a:solidFill>
                  <a:srgbClr val="405449"/>
                </a:solidFill>
                <a:highlight>
                  <a:srgbClr val="EDF2ED"/>
                </a:highlight>
                <a:latin typeface="Arial Rounded MT Bold" panose="020F0704030504030204" pitchFamily="34" charset="0"/>
                <a:ea typeface="Consolas" pitchFamily="34" charset="-122"/>
                <a:cs typeface="Consolas" pitchFamily="34" charset="-120"/>
              </a:rPr>
              <a:t>nmap</a:t>
            </a:r>
            <a:r>
              <a:rPr lang="en-US" sz="1600">
                <a:solidFill>
                  <a:srgbClr val="405449"/>
                </a:solidFill>
                <a:latin typeface="Arial Rounded MT Bold" panose="020F0704030504030204" pitchFamily="34" charset="0"/>
                <a:ea typeface="Nobile" pitchFamily="34" charset="-122"/>
                <a:cs typeface="Nobile" pitchFamily="34" charset="-120"/>
              </a:rPr>
              <a:t> permettent de déterminer si un port est ouvert, fermé ou filtré.</a:t>
            </a:r>
            <a:endParaRPr lang="en-US" sz="1600">
              <a:latin typeface="Arial Rounded MT Bold" panose="020F0704030504030204" pitchFamily="34" charset="0"/>
            </a:endParaRPr>
          </a:p>
        </p:txBody>
      </p:sp>
      <p:pic>
        <p:nvPicPr>
          <p:cNvPr id="7" name="Image 1" descr="preencoded.png"/>
          <p:cNvPicPr>
            <a:picLocks noChangeAspect="1"/>
          </p:cNvPicPr>
          <p:nvPr/>
        </p:nvPicPr>
        <p:blipFill>
          <a:blip r:embed="rId5"/>
          <a:stretch>
            <a:fillRect/>
          </a:stretch>
        </p:blipFill>
        <p:spPr>
          <a:xfrm>
            <a:off x="799386" y="3229451"/>
            <a:ext cx="4343876" cy="824032"/>
          </a:xfrm>
          <a:prstGeom prst="rect">
            <a:avLst/>
          </a:prstGeom>
        </p:spPr>
      </p:pic>
      <p:sp>
        <p:nvSpPr>
          <p:cNvPr id="8" name="Text 4"/>
          <p:cNvSpPr/>
          <p:nvPr/>
        </p:nvSpPr>
        <p:spPr>
          <a:xfrm>
            <a:off x="1005364" y="4259461"/>
            <a:ext cx="3428524" cy="321826"/>
          </a:xfrm>
          <a:prstGeom prst="rect">
            <a:avLst/>
          </a:prstGeom>
          <a:noFill/>
          <a:ln/>
        </p:spPr>
        <p:txBody>
          <a:bodyPr wrap="none" lIns="0" tIns="0" rIns="0" bIns="0" rtlCol="0" anchor="t"/>
          <a:lstStyle/>
          <a:p>
            <a:pPr marL="0" indent="0" algn="l">
              <a:lnSpc>
                <a:spcPts val="2500"/>
              </a:lnSpc>
              <a:buNone/>
            </a:pPr>
            <a:r>
              <a:rPr lang="en-US" sz="2000" b="1">
                <a:solidFill>
                  <a:srgbClr val="405449"/>
                </a:solidFill>
                <a:latin typeface="Arial Rounded MT Bold" panose="020F0704030504030204" pitchFamily="34" charset="0"/>
                <a:ea typeface="Fraunces Extra Bold" pitchFamily="34" charset="-122"/>
                <a:cs typeface="Fraunces Extra Bold" pitchFamily="34" charset="-120"/>
              </a:rPr>
              <a:t>Identification des services</a:t>
            </a:r>
            <a:endParaRPr lang="en-US" sz="2000">
              <a:latin typeface="Arial Rounded MT Bold" panose="020F0704030504030204" pitchFamily="34" charset="0"/>
            </a:endParaRPr>
          </a:p>
        </p:txBody>
      </p:sp>
      <p:sp>
        <p:nvSpPr>
          <p:cNvPr id="9" name="Text 5"/>
          <p:cNvSpPr/>
          <p:nvPr/>
        </p:nvSpPr>
        <p:spPr>
          <a:xfrm>
            <a:off x="1005364" y="4704874"/>
            <a:ext cx="3931920" cy="988695"/>
          </a:xfrm>
          <a:prstGeom prst="rect">
            <a:avLst/>
          </a:prstGeom>
          <a:noFill/>
          <a:ln/>
        </p:spPr>
        <p:txBody>
          <a:bodyPr wrap="square" lIns="0" tIns="0" rIns="0" bIns="0" rtlCol="0" anchor="t"/>
          <a:lstStyle/>
          <a:p>
            <a:pPr marL="0" indent="0" algn="l">
              <a:lnSpc>
                <a:spcPts val="2550"/>
              </a:lnSpc>
              <a:buNone/>
            </a:pPr>
            <a:r>
              <a:rPr lang="en-US" sz="1600">
                <a:solidFill>
                  <a:srgbClr val="405449"/>
                </a:solidFill>
                <a:latin typeface="Arial Rounded MT Bold" panose="020F0704030504030204" pitchFamily="34" charset="0"/>
                <a:ea typeface="Nobile" pitchFamily="34" charset="-122"/>
                <a:cs typeface="Nobile" pitchFamily="34" charset="-120"/>
              </a:rPr>
              <a:t>Scanner pour déterminer la disponibilité d'un service rattaché à un port spécifique</a:t>
            </a:r>
            <a:endParaRPr lang="en-US" sz="1600">
              <a:latin typeface="Arial Rounded MT Bold" panose="020F0704030504030204" pitchFamily="34" charset="0"/>
            </a:endParaRPr>
          </a:p>
        </p:txBody>
      </p:sp>
      <p:pic>
        <p:nvPicPr>
          <p:cNvPr id="10" name="Image 2" descr="preencoded.png"/>
          <p:cNvPicPr>
            <a:picLocks noChangeAspect="1"/>
          </p:cNvPicPr>
          <p:nvPr/>
        </p:nvPicPr>
        <p:blipFill>
          <a:blip r:embed="rId6"/>
          <a:stretch>
            <a:fillRect/>
          </a:stretch>
        </p:blipFill>
        <p:spPr>
          <a:xfrm>
            <a:off x="5143262" y="3229451"/>
            <a:ext cx="4343876" cy="824032"/>
          </a:xfrm>
          <a:prstGeom prst="rect">
            <a:avLst/>
          </a:prstGeom>
        </p:spPr>
      </p:pic>
      <p:sp>
        <p:nvSpPr>
          <p:cNvPr id="11" name="Text 6"/>
          <p:cNvSpPr/>
          <p:nvPr/>
        </p:nvSpPr>
        <p:spPr>
          <a:xfrm>
            <a:off x="5349240" y="4259461"/>
            <a:ext cx="3931920" cy="643652"/>
          </a:xfrm>
          <a:prstGeom prst="rect">
            <a:avLst/>
          </a:prstGeom>
          <a:noFill/>
          <a:ln/>
        </p:spPr>
        <p:txBody>
          <a:bodyPr wrap="square" lIns="0" tIns="0" rIns="0" bIns="0" rtlCol="0" anchor="t"/>
          <a:lstStyle/>
          <a:p>
            <a:pPr marL="0" indent="0" algn="l">
              <a:lnSpc>
                <a:spcPts val="2500"/>
              </a:lnSpc>
              <a:buNone/>
            </a:pPr>
            <a:r>
              <a:rPr lang="en-US" sz="2000" b="1">
                <a:solidFill>
                  <a:srgbClr val="405449"/>
                </a:solidFill>
                <a:latin typeface="Arial Rounded MT Bold" panose="020F0704030504030204" pitchFamily="34" charset="0"/>
                <a:ea typeface="Fraunces Extra Bold" pitchFamily="34" charset="-122"/>
                <a:cs typeface="Fraunces Extra Bold" pitchFamily="34" charset="-120"/>
              </a:rPr>
              <a:t>Détection des vecteurs d'attaque</a:t>
            </a:r>
            <a:endParaRPr lang="en-US" sz="2000">
              <a:latin typeface="Arial Rounded MT Bold" panose="020F0704030504030204" pitchFamily="34" charset="0"/>
            </a:endParaRPr>
          </a:p>
        </p:txBody>
      </p:sp>
      <p:sp>
        <p:nvSpPr>
          <p:cNvPr id="12" name="Text 7"/>
          <p:cNvSpPr/>
          <p:nvPr/>
        </p:nvSpPr>
        <p:spPr>
          <a:xfrm>
            <a:off x="5349240" y="5026700"/>
            <a:ext cx="3931920" cy="659130"/>
          </a:xfrm>
          <a:prstGeom prst="rect">
            <a:avLst/>
          </a:prstGeom>
          <a:noFill/>
          <a:ln/>
        </p:spPr>
        <p:txBody>
          <a:bodyPr wrap="square" lIns="0" tIns="0" rIns="0" bIns="0" rtlCol="0" anchor="t"/>
          <a:lstStyle/>
          <a:p>
            <a:pPr marL="0" indent="0" algn="l">
              <a:lnSpc>
                <a:spcPts val="2550"/>
              </a:lnSpc>
              <a:buNone/>
            </a:pPr>
            <a:r>
              <a:rPr lang="en-US" sz="1600">
                <a:solidFill>
                  <a:srgbClr val="405449"/>
                </a:solidFill>
                <a:latin typeface="Arial Rounded MT Bold" panose="020F0704030504030204" pitchFamily="34" charset="0"/>
                <a:ea typeface="Nobile" pitchFamily="34" charset="-122"/>
                <a:cs typeface="Nobile" pitchFamily="34" charset="-120"/>
              </a:rPr>
              <a:t>Trouver des ports ouverts dont on peut exploiter une vulnérabilité connue</a:t>
            </a:r>
            <a:endParaRPr lang="en-US" sz="1600">
              <a:latin typeface="Arial Rounded MT Bold" panose="020F0704030504030204" pitchFamily="34" charset="0"/>
            </a:endParaRPr>
          </a:p>
        </p:txBody>
      </p:sp>
      <p:pic>
        <p:nvPicPr>
          <p:cNvPr id="13" name="Image 3" descr="preencoded.png"/>
          <p:cNvPicPr>
            <a:picLocks noChangeAspect="1"/>
          </p:cNvPicPr>
          <p:nvPr/>
        </p:nvPicPr>
        <p:blipFill>
          <a:blip r:embed="rId7"/>
          <a:stretch>
            <a:fillRect/>
          </a:stretch>
        </p:blipFill>
        <p:spPr>
          <a:xfrm>
            <a:off x="9487138" y="3229451"/>
            <a:ext cx="4343876" cy="824032"/>
          </a:xfrm>
          <a:prstGeom prst="rect">
            <a:avLst/>
          </a:prstGeom>
        </p:spPr>
      </p:pic>
      <p:sp>
        <p:nvSpPr>
          <p:cNvPr id="14" name="Text 8"/>
          <p:cNvSpPr/>
          <p:nvPr/>
        </p:nvSpPr>
        <p:spPr>
          <a:xfrm>
            <a:off x="9693116" y="4259461"/>
            <a:ext cx="3622477" cy="321826"/>
          </a:xfrm>
          <a:prstGeom prst="rect">
            <a:avLst/>
          </a:prstGeom>
          <a:noFill/>
          <a:ln/>
        </p:spPr>
        <p:txBody>
          <a:bodyPr wrap="none" lIns="0" tIns="0" rIns="0" bIns="0" rtlCol="0" anchor="t"/>
          <a:lstStyle/>
          <a:p>
            <a:pPr marL="0" indent="0" algn="l">
              <a:lnSpc>
                <a:spcPts val="2500"/>
              </a:lnSpc>
              <a:buNone/>
            </a:pPr>
            <a:r>
              <a:rPr lang="en-US" sz="2000" b="1">
                <a:solidFill>
                  <a:srgbClr val="405449"/>
                </a:solidFill>
                <a:latin typeface="Arial Rounded MT Bold" panose="020F0704030504030204" pitchFamily="34" charset="0"/>
                <a:ea typeface="Fraunces Extra Bold" pitchFamily="34" charset="-122"/>
                <a:cs typeface="Fraunces Extra Bold" pitchFamily="34" charset="-120"/>
              </a:rPr>
              <a:t>Contournement de pare-feu</a:t>
            </a:r>
            <a:endParaRPr lang="en-US" sz="2000">
              <a:latin typeface="Arial Rounded MT Bold" panose="020F0704030504030204" pitchFamily="34" charset="0"/>
            </a:endParaRPr>
          </a:p>
        </p:txBody>
      </p:sp>
      <p:sp>
        <p:nvSpPr>
          <p:cNvPr id="15" name="Text 9"/>
          <p:cNvSpPr/>
          <p:nvPr/>
        </p:nvSpPr>
        <p:spPr>
          <a:xfrm>
            <a:off x="9693116" y="4704874"/>
            <a:ext cx="3931920" cy="988695"/>
          </a:xfrm>
          <a:prstGeom prst="rect">
            <a:avLst/>
          </a:prstGeom>
          <a:noFill/>
          <a:ln/>
        </p:spPr>
        <p:txBody>
          <a:bodyPr wrap="square" lIns="0" tIns="0" rIns="0" bIns="0" rtlCol="0" anchor="t"/>
          <a:lstStyle/>
          <a:p>
            <a:pPr marL="0" indent="0" algn="l">
              <a:lnSpc>
                <a:spcPts val="2550"/>
              </a:lnSpc>
              <a:buNone/>
            </a:pPr>
            <a:r>
              <a:rPr lang="en-US" sz="1600">
                <a:solidFill>
                  <a:srgbClr val="405449"/>
                </a:solidFill>
                <a:latin typeface="Arial Rounded MT Bold" panose="020F0704030504030204" pitchFamily="34" charset="0"/>
                <a:ea typeface="Nobile" pitchFamily="34" charset="-122"/>
                <a:cs typeface="Nobile" pitchFamily="34" charset="-120"/>
              </a:rPr>
              <a:t>Utiliser des variantes de méthodes TCP (SYN, ACK, FIN) pour tester les réponses</a:t>
            </a:r>
            <a:endParaRPr lang="en-US" sz="1600">
              <a:latin typeface="Arial Rounded MT Bold" panose="020F0704030504030204" pitchFamily="34" charset="0"/>
            </a:endParaRPr>
          </a:p>
        </p:txBody>
      </p:sp>
      <p:sp>
        <p:nvSpPr>
          <p:cNvPr id="16" name="Shape 10"/>
          <p:cNvSpPr/>
          <p:nvPr/>
        </p:nvSpPr>
        <p:spPr>
          <a:xfrm>
            <a:off x="799386" y="6131242"/>
            <a:ext cx="13031629" cy="1204913"/>
          </a:xfrm>
          <a:prstGeom prst="roundRect">
            <a:avLst>
              <a:gd name="adj" fmla="val 15390"/>
            </a:avLst>
          </a:prstGeom>
          <a:solidFill>
            <a:srgbClr val="CCE6D1"/>
          </a:solidFill>
          <a:ln/>
        </p:spPr>
        <p:txBody>
          <a:bodyPr/>
          <a:lstStyle/>
          <a:p>
            <a:endParaRPr lang="fr-FR">
              <a:latin typeface="Arial Rounded MT Bold" panose="020F0704030504030204" pitchFamily="34" charset="0"/>
            </a:endParaRPr>
          </a:p>
        </p:txBody>
      </p:sp>
      <p:pic>
        <p:nvPicPr>
          <p:cNvPr id="17" name="Image 4" descr="preencoded.png"/>
          <p:cNvPicPr>
            <a:picLocks noChangeAspect="1"/>
          </p:cNvPicPr>
          <p:nvPr/>
        </p:nvPicPr>
        <p:blipFill>
          <a:blip r:embed="rId8"/>
          <a:stretch>
            <a:fillRect/>
          </a:stretch>
        </p:blipFill>
        <p:spPr>
          <a:xfrm>
            <a:off x="1005364" y="6429375"/>
            <a:ext cx="257532" cy="205978"/>
          </a:xfrm>
          <a:prstGeom prst="rect">
            <a:avLst/>
          </a:prstGeom>
        </p:spPr>
      </p:pic>
      <p:sp>
        <p:nvSpPr>
          <p:cNvPr id="18" name="Text 11"/>
          <p:cNvSpPr/>
          <p:nvPr/>
        </p:nvSpPr>
        <p:spPr>
          <a:xfrm>
            <a:off x="1468874" y="6388656"/>
            <a:ext cx="12156162" cy="659130"/>
          </a:xfrm>
          <a:prstGeom prst="rect">
            <a:avLst/>
          </a:prstGeom>
          <a:noFill/>
          <a:ln/>
        </p:spPr>
        <p:txBody>
          <a:bodyPr wrap="square" lIns="0" tIns="0" rIns="0" bIns="0" rtlCol="0" anchor="t"/>
          <a:lstStyle/>
          <a:p>
            <a:pPr marL="0" indent="0" algn="l">
              <a:lnSpc>
                <a:spcPts val="2550"/>
              </a:lnSpc>
              <a:buNone/>
            </a:pPr>
            <a:r>
              <a:rPr lang="en-US" sz="1600" b="1">
                <a:solidFill>
                  <a:srgbClr val="000000"/>
                </a:solidFill>
                <a:latin typeface="Arial Rounded MT Bold" panose="020F0704030504030204" pitchFamily="34" charset="0"/>
                <a:ea typeface="Nobile" pitchFamily="34" charset="-122"/>
                <a:cs typeface="Nobile" pitchFamily="34" charset="-120"/>
              </a:rPr>
              <a:t>Protocoles utilisés :</a:t>
            </a:r>
            <a:r>
              <a:rPr lang="en-US" sz="1600">
                <a:solidFill>
                  <a:srgbClr val="000000"/>
                </a:solidFill>
                <a:latin typeface="Arial Rounded MT Bold" panose="020F0704030504030204" pitchFamily="34" charset="0"/>
                <a:ea typeface="Nobile" pitchFamily="34" charset="-122"/>
                <a:cs typeface="Nobile" pitchFamily="34" charset="-120"/>
              </a:rPr>
              <a:t> Le scan se fait principalement via TCP (paquet + analyse de réponse) ou UDP (moins fiable, orienté connexion). Les ports modifiés non conformes aux normes TCP/UDP sont plus difficiles à scanner.</a:t>
            </a:r>
            <a:endParaRPr lang="en-US" sz="1600">
              <a:latin typeface="Arial Rounded MT Bold" panose="020F0704030504030204" pitchFamily="34" charset="0"/>
            </a:endParaRPr>
          </a:p>
        </p:txBody>
      </p:sp>
      <p:pic>
        <p:nvPicPr>
          <p:cNvPr id="20" name="Image 19" descr="Une image contenant blanc, conception&#10;&#10;Le contenu généré par l’IA peut être incorrect.">
            <a:extLst>
              <a:ext uri="{FF2B5EF4-FFF2-40B4-BE49-F238E27FC236}">
                <a16:creationId xmlns:a16="http://schemas.microsoft.com/office/drawing/2014/main" id="{7229D3CF-9BF5-C6F4-8A59-514408F7D04D}"/>
              </a:ext>
            </a:extLst>
          </p:cNvPr>
          <p:cNvPicPr>
            <a:picLocks noChangeAspect="1"/>
          </p:cNvPicPr>
          <p:nvPr/>
        </p:nvPicPr>
        <p:blipFill>
          <a:blip r:embed="rId9"/>
          <a:stretch>
            <a:fillRect/>
          </a:stretch>
        </p:blipFill>
        <p:spPr>
          <a:xfrm>
            <a:off x="12563187" y="7359038"/>
            <a:ext cx="2067213" cy="870562"/>
          </a:xfrm>
          <a:prstGeom prst="rect">
            <a:avLst/>
          </a:prstGeom>
        </p:spPr>
      </p:pic>
      <p:sp>
        <p:nvSpPr>
          <p:cNvPr id="19" name="ZoneTexte 18">
            <a:extLst>
              <a:ext uri="{FF2B5EF4-FFF2-40B4-BE49-F238E27FC236}">
                <a16:creationId xmlns:a16="http://schemas.microsoft.com/office/drawing/2014/main" id="{612D4360-FCA5-DA27-89B7-AFC449EB7F76}"/>
              </a:ext>
            </a:extLst>
          </p:cNvPr>
          <p:cNvSpPr txBox="1"/>
          <p:nvPr/>
        </p:nvSpPr>
        <p:spPr>
          <a:xfrm>
            <a:off x="7252854" y="7762009"/>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a:ea typeface="Calibri"/>
                <a:cs typeface="Calibri"/>
              </a:rPr>
              <a:t>4</a:t>
            </a:r>
            <a:endParaRPr lang="fr-F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3018353" y="692587"/>
            <a:ext cx="966788" cy="270510"/>
          </a:xfrm>
          <a:prstGeom prst="roundRect">
            <a:avLst>
              <a:gd name="adj" fmla="val 36164"/>
            </a:avLst>
          </a:prstGeom>
          <a:noFill/>
          <a:ln w="7620">
            <a:solidFill>
              <a:srgbClr val="438951"/>
            </a:solidFill>
            <a:prstDash val="solid"/>
          </a:ln>
        </p:spPr>
        <p:txBody>
          <a:bodyPr/>
          <a:lstStyle/>
          <a:p>
            <a:endParaRPr lang="fr-FR">
              <a:latin typeface="Arial Rounded MT Bold" panose="020F0704030504030204" pitchFamily="34" charset="0"/>
            </a:endParaRPr>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07412" y="773549"/>
            <a:ext cx="108585" cy="108585"/>
          </a:xfrm>
          <a:prstGeom prst="rect">
            <a:avLst/>
          </a:prstGeom>
        </p:spPr>
      </p:pic>
      <p:sp>
        <p:nvSpPr>
          <p:cNvPr id="4" name="Text 1"/>
          <p:cNvSpPr/>
          <p:nvPr/>
        </p:nvSpPr>
        <p:spPr>
          <a:xfrm>
            <a:off x="3247619" y="756040"/>
            <a:ext cx="731591" cy="226730"/>
          </a:xfrm>
          <a:prstGeom prst="rect">
            <a:avLst/>
          </a:prstGeom>
          <a:noFill/>
          <a:ln/>
        </p:spPr>
        <p:txBody>
          <a:bodyPr wrap="none" lIns="0" tIns="0" rIns="0" bIns="0" rtlCol="0" anchor="t"/>
          <a:lstStyle/>
          <a:p>
            <a:pPr marL="0" indent="0" algn="l">
              <a:lnSpc>
                <a:spcPts val="1350"/>
              </a:lnSpc>
              <a:buNone/>
            </a:pPr>
            <a:r>
              <a:rPr lang="en-US" sz="850">
                <a:solidFill>
                  <a:srgbClr val="438951"/>
                </a:solidFill>
                <a:latin typeface="Arial Rounded MT Bold" panose="020F0704030504030204" pitchFamily="34" charset="0"/>
                <a:ea typeface="Nobile" pitchFamily="34" charset="-122"/>
                <a:cs typeface="Nobile" pitchFamily="34" charset="-120"/>
              </a:rPr>
              <a:t>CHAPITRE 2</a:t>
            </a:r>
            <a:endParaRPr lang="en-US" sz="850">
              <a:latin typeface="Arial Rounded MT Bold" panose="020F0704030504030204" pitchFamily="34" charset="0"/>
            </a:endParaRPr>
          </a:p>
        </p:txBody>
      </p:sp>
      <p:sp>
        <p:nvSpPr>
          <p:cNvPr id="5" name="Text 2"/>
          <p:cNvSpPr/>
          <p:nvPr/>
        </p:nvSpPr>
        <p:spPr>
          <a:xfrm>
            <a:off x="3018353" y="1017389"/>
            <a:ext cx="8446056" cy="424577"/>
          </a:xfrm>
          <a:prstGeom prst="rect">
            <a:avLst/>
          </a:prstGeom>
          <a:noFill/>
          <a:ln/>
        </p:spPr>
        <p:txBody>
          <a:bodyPr wrap="none" lIns="0" tIns="0" rIns="0" bIns="0" rtlCol="0" anchor="t"/>
          <a:lstStyle/>
          <a:p>
            <a:pPr marL="0" indent="0" algn="l">
              <a:lnSpc>
                <a:spcPts val="3300"/>
              </a:lnSpc>
              <a:buNone/>
            </a:pPr>
            <a:r>
              <a:rPr lang="en-US" sz="2650" b="1">
                <a:solidFill>
                  <a:srgbClr val="3B4540"/>
                </a:solidFill>
                <a:latin typeface="Arial Rounded MT Bold" panose="020F0704030504030204" pitchFamily="34" charset="0"/>
                <a:ea typeface="Fraunces Extra Bold" pitchFamily="34" charset="-122"/>
                <a:cs typeface="Fraunces Extra Bold" pitchFamily="34" charset="-120"/>
              </a:rPr>
              <a:t>Attaques de Protocole : SYN Flooding et Teardrop</a:t>
            </a:r>
            <a:endParaRPr lang="en-US" sz="2650">
              <a:latin typeface="Arial Rounded MT Bold" panose="020F0704030504030204" pitchFamily="34" charset="0"/>
            </a:endParaRPr>
          </a:p>
        </p:txBody>
      </p:sp>
      <p:sp>
        <p:nvSpPr>
          <p:cNvPr id="6" name="Text 3"/>
          <p:cNvSpPr/>
          <p:nvPr/>
        </p:nvSpPr>
        <p:spPr>
          <a:xfrm>
            <a:off x="3018353" y="1781532"/>
            <a:ext cx="2037993" cy="254794"/>
          </a:xfrm>
          <a:prstGeom prst="rect">
            <a:avLst/>
          </a:prstGeom>
          <a:noFill/>
          <a:ln/>
        </p:spPr>
        <p:txBody>
          <a:bodyPr wrap="none" lIns="0" tIns="0" rIns="0" bIns="0" rtlCol="0" anchor="t"/>
          <a:lstStyle/>
          <a:p>
            <a:pPr marL="0" indent="0" algn="l">
              <a:lnSpc>
                <a:spcPts val="2000"/>
              </a:lnSpc>
              <a:buNone/>
            </a:pPr>
            <a:r>
              <a:rPr lang="en-US" sz="1600" b="1">
                <a:solidFill>
                  <a:srgbClr val="3B4540"/>
                </a:solidFill>
                <a:latin typeface="Arial Rounded MT Bold" panose="020F0704030504030204" pitchFamily="34" charset="0"/>
                <a:ea typeface="Fraunces Extra Bold" pitchFamily="34" charset="-122"/>
                <a:cs typeface="Fraunces Extra Bold" pitchFamily="34" charset="-120"/>
              </a:rPr>
              <a:t>SYN Flooding</a:t>
            </a:r>
            <a:endParaRPr lang="en-US" sz="1600">
              <a:latin typeface="Arial Rounded MT Bold" panose="020F0704030504030204" pitchFamily="34" charset="0"/>
            </a:endParaRPr>
          </a:p>
        </p:txBody>
      </p:sp>
      <p:sp>
        <p:nvSpPr>
          <p:cNvPr id="7" name="Text 4"/>
          <p:cNvSpPr/>
          <p:nvPr/>
        </p:nvSpPr>
        <p:spPr>
          <a:xfrm>
            <a:off x="3018353" y="2172176"/>
            <a:ext cx="4131112" cy="1086445"/>
          </a:xfrm>
          <a:prstGeom prst="rect">
            <a:avLst/>
          </a:prstGeom>
          <a:noFill/>
          <a:ln/>
        </p:spPr>
        <p:txBody>
          <a:bodyPr wrap="square" lIns="0" tIns="0" rIns="0" bIns="0" rtlCol="0" anchor="t"/>
          <a:lstStyle/>
          <a:p>
            <a:pPr marL="0" indent="0" algn="l">
              <a:lnSpc>
                <a:spcPts val="1700"/>
              </a:lnSpc>
              <a:buNone/>
            </a:pPr>
            <a:r>
              <a:rPr lang="en-US" sz="1050">
                <a:solidFill>
                  <a:srgbClr val="405449"/>
                </a:solidFill>
                <a:latin typeface="Arial Rounded MT Bold" panose="020F0704030504030204" pitchFamily="34" charset="0"/>
                <a:ea typeface="Nobile" pitchFamily="34" charset="-122"/>
                <a:cs typeface="Nobile" pitchFamily="34" charset="-120"/>
              </a:rPr>
              <a:t>Saturation progressive de la file </a:t>
            </a:r>
            <a:r>
              <a:rPr lang="en-US" sz="1050" err="1">
                <a:solidFill>
                  <a:srgbClr val="405449"/>
                </a:solidFill>
                <a:latin typeface="Arial Rounded MT Bold" panose="020F0704030504030204" pitchFamily="34" charset="0"/>
                <a:ea typeface="Nobile" pitchFamily="34" charset="-122"/>
                <a:cs typeface="Nobile" pitchFamily="34" charset="-120"/>
              </a:rPr>
              <a:t>d'attente</a:t>
            </a:r>
            <a:r>
              <a:rPr lang="en-US" sz="1050">
                <a:solidFill>
                  <a:srgbClr val="405449"/>
                </a:solidFill>
                <a:latin typeface="Arial Rounded MT Bold" panose="020F0704030504030204" pitchFamily="34" charset="0"/>
                <a:ea typeface="Nobile" pitchFamily="34" charset="-122"/>
                <a:cs typeface="Nobile" pitchFamily="34" charset="-120"/>
              </a:rPr>
              <a:t> des connexions (_backlog_) par </a:t>
            </a:r>
            <a:r>
              <a:rPr lang="en-US" sz="1050" err="1">
                <a:solidFill>
                  <a:srgbClr val="405449"/>
                </a:solidFill>
                <a:latin typeface="Arial Rounded MT Bold" panose="020F0704030504030204" pitchFamily="34" charset="0"/>
                <a:ea typeface="Nobile" pitchFamily="34" charset="-122"/>
                <a:cs typeface="Nobile" pitchFamily="34" charset="-120"/>
              </a:rPr>
              <a:t>l'émission</a:t>
            </a:r>
            <a:r>
              <a:rPr lang="en-US" sz="1050">
                <a:solidFill>
                  <a:srgbClr val="405449"/>
                </a:solidFill>
                <a:latin typeface="Arial Rounded MT Bold" panose="020F0704030504030204" pitchFamily="34" charset="0"/>
                <a:ea typeface="Nobile" pitchFamily="34" charset="-122"/>
                <a:cs typeface="Nobile" pitchFamily="34" charset="-120"/>
              </a:rPr>
              <a:t> à haute </a:t>
            </a:r>
            <a:r>
              <a:rPr lang="en-US" sz="1050" err="1">
                <a:solidFill>
                  <a:srgbClr val="405449"/>
                </a:solidFill>
                <a:latin typeface="Arial Rounded MT Bold" panose="020F0704030504030204" pitchFamily="34" charset="0"/>
                <a:ea typeface="Nobile" pitchFamily="34" charset="-122"/>
                <a:cs typeface="Nobile" pitchFamily="34" charset="-120"/>
              </a:rPr>
              <a:t>fréquence</a:t>
            </a:r>
            <a:r>
              <a:rPr lang="en-US" sz="1050">
                <a:solidFill>
                  <a:srgbClr val="405449"/>
                </a:solidFill>
                <a:latin typeface="Arial Rounded MT Bold" panose="020F0704030504030204" pitchFamily="34" charset="0"/>
                <a:ea typeface="Nobile" pitchFamily="34" charset="-122"/>
                <a:cs typeface="Nobile" pitchFamily="34" charset="-120"/>
              </a:rPr>
              <a:t> de segments SYN </a:t>
            </a:r>
            <a:r>
              <a:rPr lang="en-US" sz="1050" err="1">
                <a:solidFill>
                  <a:srgbClr val="405449"/>
                </a:solidFill>
                <a:latin typeface="Arial Rounded MT Bold" panose="020F0704030504030204" pitchFamily="34" charset="0"/>
                <a:ea typeface="Nobile" pitchFamily="34" charset="-122"/>
                <a:cs typeface="Nobile" pitchFamily="34" charset="-120"/>
              </a:rPr>
              <a:t>avec</a:t>
            </a:r>
            <a:r>
              <a:rPr lang="en-US" sz="1050">
                <a:solidFill>
                  <a:srgbClr val="405449"/>
                </a:solidFill>
                <a:latin typeface="Arial Rounded MT Bold" panose="020F0704030504030204" pitchFamily="34" charset="0"/>
                <a:ea typeface="Nobile" pitchFamily="34" charset="-122"/>
                <a:cs typeface="Nobile" pitchFamily="34" charset="-120"/>
              </a:rPr>
              <a:t> </a:t>
            </a:r>
            <a:r>
              <a:rPr lang="en-US" sz="1050" err="1">
                <a:solidFill>
                  <a:srgbClr val="405449"/>
                </a:solidFill>
                <a:latin typeface="Arial Rounded MT Bold" panose="020F0704030504030204" pitchFamily="34" charset="0"/>
                <a:ea typeface="Nobile" pitchFamily="34" charset="-122"/>
                <a:cs typeface="Nobile" pitchFamily="34" charset="-120"/>
              </a:rPr>
              <a:t>adresse</a:t>
            </a:r>
            <a:r>
              <a:rPr lang="en-US" sz="1050">
                <a:solidFill>
                  <a:srgbClr val="405449"/>
                </a:solidFill>
                <a:latin typeface="Arial Rounded MT Bold" panose="020F0704030504030204" pitchFamily="34" charset="0"/>
                <a:ea typeface="Nobile" pitchFamily="34" charset="-122"/>
                <a:cs typeface="Nobile" pitchFamily="34" charset="-120"/>
              </a:rPr>
              <a:t> source </a:t>
            </a:r>
            <a:r>
              <a:rPr lang="en-US" sz="1050" err="1">
                <a:solidFill>
                  <a:srgbClr val="405449"/>
                </a:solidFill>
                <a:latin typeface="Arial Rounded MT Bold" panose="020F0704030504030204" pitchFamily="34" charset="0"/>
                <a:ea typeface="Nobile" pitchFamily="34" charset="-122"/>
                <a:cs typeface="Nobile" pitchFamily="34" charset="-120"/>
              </a:rPr>
              <a:t>falsifiée</a:t>
            </a:r>
            <a:r>
              <a:rPr lang="en-US" sz="1050">
                <a:solidFill>
                  <a:srgbClr val="405449"/>
                </a:solidFill>
                <a:latin typeface="Arial Rounded MT Bold" panose="020F0704030504030204" pitchFamily="34" charset="0"/>
                <a:ea typeface="Nobile" pitchFamily="34" charset="-122"/>
                <a:cs typeface="Nobile" pitchFamily="34" charset="-120"/>
              </a:rPr>
              <a:t>. Le </a:t>
            </a:r>
            <a:r>
              <a:rPr lang="en-US" sz="1050" err="1">
                <a:solidFill>
                  <a:srgbClr val="405449"/>
                </a:solidFill>
                <a:latin typeface="Arial Rounded MT Bold" panose="020F0704030504030204" pitchFamily="34" charset="0"/>
                <a:ea typeface="Nobile" pitchFamily="34" charset="-122"/>
                <a:cs typeface="Nobile" pitchFamily="34" charset="-120"/>
              </a:rPr>
              <a:t>serveur</a:t>
            </a:r>
            <a:r>
              <a:rPr lang="en-US" sz="1050">
                <a:solidFill>
                  <a:srgbClr val="405449"/>
                </a:solidFill>
                <a:latin typeface="Arial Rounded MT Bold" panose="020F0704030504030204" pitchFamily="34" charset="0"/>
                <a:ea typeface="Nobile" pitchFamily="34" charset="-122"/>
                <a:cs typeface="Nobile" pitchFamily="34" charset="-120"/>
              </a:rPr>
              <a:t> </a:t>
            </a:r>
            <a:r>
              <a:rPr lang="en-US" sz="1050" err="1">
                <a:solidFill>
                  <a:srgbClr val="405449"/>
                </a:solidFill>
                <a:latin typeface="Arial Rounded MT Bold" panose="020F0704030504030204" pitchFamily="34" charset="0"/>
                <a:ea typeface="Nobile" pitchFamily="34" charset="-122"/>
                <a:cs typeface="Nobile" pitchFamily="34" charset="-120"/>
              </a:rPr>
              <a:t>alloue</a:t>
            </a:r>
            <a:r>
              <a:rPr lang="en-US" sz="1050">
                <a:solidFill>
                  <a:srgbClr val="405449"/>
                </a:solidFill>
                <a:latin typeface="Arial Rounded MT Bold" panose="020F0704030504030204" pitchFamily="34" charset="0"/>
                <a:ea typeface="Nobile" pitchFamily="34" charset="-122"/>
                <a:cs typeface="Nobile" pitchFamily="34" charset="-120"/>
              </a:rPr>
              <a:t> des structures de </a:t>
            </a:r>
            <a:r>
              <a:rPr lang="en-US" sz="1050" err="1">
                <a:solidFill>
                  <a:srgbClr val="405449"/>
                </a:solidFill>
                <a:latin typeface="Arial Rounded MT Bold" panose="020F0704030504030204" pitchFamily="34" charset="0"/>
                <a:ea typeface="Nobile" pitchFamily="34" charset="-122"/>
                <a:cs typeface="Nobile" pitchFamily="34" charset="-120"/>
              </a:rPr>
              <a:t>données</a:t>
            </a:r>
            <a:r>
              <a:rPr lang="en-US" sz="1050">
                <a:solidFill>
                  <a:srgbClr val="405449"/>
                </a:solidFill>
                <a:latin typeface="Arial Rounded MT Bold" panose="020F0704030504030204" pitchFamily="34" charset="0"/>
                <a:ea typeface="Nobile" pitchFamily="34" charset="-122"/>
                <a:cs typeface="Nobile" pitchFamily="34" charset="-120"/>
              </a:rPr>
              <a:t> pour </a:t>
            </a:r>
            <a:r>
              <a:rPr lang="en-US" sz="1050" err="1">
                <a:solidFill>
                  <a:srgbClr val="405449"/>
                </a:solidFill>
                <a:latin typeface="Arial Rounded MT Bold" panose="020F0704030504030204" pitchFamily="34" charset="0"/>
                <a:ea typeface="Nobile" pitchFamily="34" charset="-122"/>
                <a:cs typeface="Nobile" pitchFamily="34" charset="-120"/>
              </a:rPr>
              <a:t>chaque</a:t>
            </a:r>
            <a:r>
              <a:rPr lang="en-US" sz="1050">
                <a:solidFill>
                  <a:srgbClr val="405449"/>
                </a:solidFill>
                <a:latin typeface="Arial Rounded MT Bold" panose="020F0704030504030204" pitchFamily="34" charset="0"/>
                <a:ea typeface="Nobile" pitchFamily="34" charset="-122"/>
                <a:cs typeface="Nobile" pitchFamily="34" charset="-120"/>
              </a:rPr>
              <a:t> session </a:t>
            </a:r>
            <a:r>
              <a:rPr lang="en-US" sz="1050" err="1">
                <a:solidFill>
                  <a:srgbClr val="405449"/>
                </a:solidFill>
                <a:latin typeface="Arial Rounded MT Bold" panose="020F0704030504030204" pitchFamily="34" charset="0"/>
                <a:ea typeface="Nobile" pitchFamily="34" charset="-122"/>
                <a:cs typeface="Nobile" pitchFamily="34" charset="-120"/>
              </a:rPr>
              <a:t>semi-ouverte</a:t>
            </a:r>
            <a:r>
              <a:rPr lang="en-US" sz="1050">
                <a:solidFill>
                  <a:srgbClr val="405449"/>
                </a:solidFill>
                <a:latin typeface="Arial Rounded MT Bold" panose="020F0704030504030204" pitchFamily="34" charset="0"/>
                <a:ea typeface="Nobile" pitchFamily="34" charset="-122"/>
                <a:cs typeface="Nobile" pitchFamily="34" charset="-120"/>
              </a:rPr>
              <a:t> </a:t>
            </a:r>
            <a:r>
              <a:rPr lang="en-US" sz="1050" err="1">
                <a:solidFill>
                  <a:srgbClr val="405449"/>
                </a:solidFill>
                <a:latin typeface="Arial Rounded MT Bold" panose="020F0704030504030204" pitchFamily="34" charset="0"/>
                <a:ea typeface="Nobile" pitchFamily="34" charset="-122"/>
                <a:cs typeface="Nobile" pitchFamily="34" charset="-120"/>
              </a:rPr>
              <a:t>jusqu'à</a:t>
            </a:r>
            <a:r>
              <a:rPr lang="en-US" sz="1050">
                <a:solidFill>
                  <a:srgbClr val="405449"/>
                </a:solidFill>
                <a:latin typeface="Arial Rounded MT Bold" panose="020F0704030504030204" pitchFamily="34" charset="0"/>
                <a:ea typeface="Nobile" pitchFamily="34" charset="-122"/>
                <a:cs typeface="Nobile" pitchFamily="34" charset="-120"/>
              </a:rPr>
              <a:t> </a:t>
            </a:r>
            <a:r>
              <a:rPr lang="en-US" sz="1050" err="1">
                <a:solidFill>
                  <a:srgbClr val="405449"/>
                </a:solidFill>
                <a:latin typeface="Arial Rounded MT Bold" panose="020F0704030504030204" pitchFamily="34" charset="0"/>
                <a:ea typeface="Nobile" pitchFamily="34" charset="-122"/>
                <a:cs typeface="Nobile" pitchFamily="34" charset="-120"/>
              </a:rPr>
              <a:t>épuisement</a:t>
            </a:r>
            <a:r>
              <a:rPr lang="en-US" sz="1050">
                <a:solidFill>
                  <a:srgbClr val="405449"/>
                </a:solidFill>
                <a:latin typeface="Arial Rounded MT Bold" panose="020F0704030504030204" pitchFamily="34" charset="0"/>
                <a:ea typeface="Nobile" pitchFamily="34" charset="-122"/>
                <a:cs typeface="Nobile" pitchFamily="34" charset="-120"/>
              </a:rPr>
              <a:t> total des </a:t>
            </a:r>
            <a:r>
              <a:rPr lang="en-US" sz="1050" err="1">
                <a:solidFill>
                  <a:srgbClr val="405449"/>
                </a:solidFill>
                <a:latin typeface="Arial Rounded MT Bold" panose="020F0704030504030204" pitchFamily="34" charset="0"/>
                <a:ea typeface="Nobile" pitchFamily="34" charset="-122"/>
                <a:cs typeface="Nobile" pitchFamily="34" charset="-120"/>
              </a:rPr>
              <a:t>ressources</a:t>
            </a:r>
            <a:r>
              <a:rPr lang="en-US" sz="1050">
                <a:solidFill>
                  <a:srgbClr val="405449"/>
                </a:solidFill>
                <a:latin typeface="Arial Rounded MT Bold" panose="020F0704030504030204" pitchFamily="34" charset="0"/>
                <a:ea typeface="Nobile" pitchFamily="34" charset="-122"/>
                <a:cs typeface="Nobile" pitchFamily="34" charset="-120"/>
              </a:rPr>
              <a:t>.</a:t>
            </a:r>
            <a:endParaRPr lang="en-US" sz="1050">
              <a:latin typeface="Arial Rounded MT Bold" panose="020F0704030504030204" pitchFamily="34" charset="0"/>
            </a:endParaRPr>
          </a:p>
        </p:txBody>
      </p:sp>
      <p:pic>
        <p:nvPicPr>
          <p:cNvPr id="8" name="Image 1" descr="preencoded.png"/>
          <p:cNvPicPr>
            <a:picLocks noChangeAspect="1"/>
          </p:cNvPicPr>
          <p:nvPr/>
        </p:nvPicPr>
        <p:blipFill>
          <a:blip r:embed="rId5"/>
          <a:stretch>
            <a:fillRect/>
          </a:stretch>
        </p:blipFill>
        <p:spPr>
          <a:xfrm>
            <a:off x="3018353" y="3411379"/>
            <a:ext cx="407551" cy="1143000"/>
          </a:xfrm>
          <a:prstGeom prst="rect">
            <a:avLst/>
          </a:prstGeom>
        </p:spPr>
      </p:pic>
      <p:sp>
        <p:nvSpPr>
          <p:cNvPr id="9" name="Text 5"/>
          <p:cNvSpPr/>
          <p:nvPr/>
        </p:nvSpPr>
        <p:spPr>
          <a:xfrm>
            <a:off x="3561755" y="3547229"/>
            <a:ext cx="1800463" cy="212169"/>
          </a:xfrm>
          <a:prstGeom prst="rect">
            <a:avLst/>
          </a:prstGeom>
          <a:noFill/>
          <a:ln/>
        </p:spPr>
        <p:txBody>
          <a:bodyPr wrap="none" lIns="0" tIns="0" rIns="0" bIns="0" rtlCol="0" anchor="t"/>
          <a:lstStyle/>
          <a:p>
            <a:pPr marL="0" indent="0" algn="l">
              <a:lnSpc>
                <a:spcPts val="1650"/>
              </a:lnSpc>
              <a:buNone/>
            </a:pPr>
            <a:r>
              <a:rPr lang="en-US" sz="1300" b="1">
                <a:solidFill>
                  <a:srgbClr val="405449"/>
                </a:solidFill>
                <a:latin typeface="Arial Rounded MT Bold" panose="020F0704030504030204" pitchFamily="34" charset="0"/>
                <a:ea typeface="Fraunces Extra Bold" pitchFamily="34" charset="-122"/>
                <a:cs typeface="Fraunces Extra Bold" pitchFamily="34" charset="-120"/>
              </a:rPr>
              <a:t>Émission SYN massif</a:t>
            </a:r>
            <a:endParaRPr lang="en-US" sz="1300">
              <a:latin typeface="Arial Rounded MT Bold" panose="020F0704030504030204" pitchFamily="34" charset="0"/>
            </a:endParaRPr>
          </a:p>
        </p:txBody>
      </p:sp>
      <p:sp>
        <p:nvSpPr>
          <p:cNvPr id="10" name="Text 6"/>
          <p:cNvSpPr/>
          <p:nvPr/>
        </p:nvSpPr>
        <p:spPr>
          <a:xfrm>
            <a:off x="3561755" y="3895249"/>
            <a:ext cx="3587710" cy="217289"/>
          </a:xfrm>
          <a:prstGeom prst="rect">
            <a:avLst/>
          </a:prstGeom>
          <a:noFill/>
          <a:ln/>
        </p:spPr>
        <p:txBody>
          <a:bodyPr wrap="none" lIns="0" tIns="0" rIns="0" bIns="0" rtlCol="0" anchor="t"/>
          <a:lstStyle/>
          <a:p>
            <a:pPr marL="0" indent="0" algn="l">
              <a:lnSpc>
                <a:spcPts val="1700"/>
              </a:lnSpc>
              <a:buNone/>
            </a:pPr>
            <a:r>
              <a:rPr lang="en-US" sz="1050">
                <a:solidFill>
                  <a:srgbClr val="405449"/>
                </a:solidFill>
                <a:latin typeface="Arial Rounded MT Bold" panose="020F0704030504030204" pitchFamily="34" charset="0"/>
                <a:ea typeface="Nobile" pitchFamily="34" charset="-122"/>
                <a:cs typeface="Nobile" pitchFamily="34" charset="-120"/>
              </a:rPr>
              <a:t>Envoi de milliers de requêtes avec IP spoofée</a:t>
            </a:r>
            <a:endParaRPr lang="en-US" sz="1050">
              <a:latin typeface="Arial Rounded MT Bold" panose="020F0704030504030204" pitchFamily="34" charset="0"/>
            </a:endParaRPr>
          </a:p>
        </p:txBody>
      </p:sp>
      <p:pic>
        <p:nvPicPr>
          <p:cNvPr id="11" name="Image 2" descr="preencoded.png"/>
          <p:cNvPicPr>
            <a:picLocks noChangeAspect="1"/>
          </p:cNvPicPr>
          <p:nvPr/>
        </p:nvPicPr>
        <p:blipFill>
          <a:blip r:embed="rId5"/>
          <a:stretch>
            <a:fillRect/>
          </a:stretch>
        </p:blipFill>
        <p:spPr>
          <a:xfrm>
            <a:off x="3222069" y="4384238"/>
            <a:ext cx="407551" cy="1143000"/>
          </a:xfrm>
          <a:prstGeom prst="rect">
            <a:avLst/>
          </a:prstGeom>
        </p:spPr>
      </p:pic>
      <p:sp>
        <p:nvSpPr>
          <p:cNvPr id="12" name="Text 7"/>
          <p:cNvSpPr/>
          <p:nvPr/>
        </p:nvSpPr>
        <p:spPr>
          <a:xfrm>
            <a:off x="3765471" y="4520089"/>
            <a:ext cx="1703665" cy="212169"/>
          </a:xfrm>
          <a:prstGeom prst="rect">
            <a:avLst/>
          </a:prstGeom>
          <a:noFill/>
          <a:ln/>
        </p:spPr>
        <p:txBody>
          <a:bodyPr wrap="none" lIns="0" tIns="0" rIns="0" bIns="0" rtlCol="0" anchor="t"/>
          <a:lstStyle/>
          <a:p>
            <a:pPr marL="0" indent="0" algn="l">
              <a:lnSpc>
                <a:spcPts val="1650"/>
              </a:lnSpc>
              <a:buNone/>
            </a:pPr>
            <a:r>
              <a:rPr lang="en-US" sz="1300" b="1">
                <a:solidFill>
                  <a:srgbClr val="405449"/>
                </a:solidFill>
                <a:latin typeface="Arial Rounded MT Bold" panose="020F0704030504030204" pitchFamily="34" charset="0"/>
                <a:ea typeface="Fraunces Extra Bold" pitchFamily="34" charset="-122"/>
                <a:cs typeface="Fraunces Extra Bold" pitchFamily="34" charset="-120"/>
              </a:rPr>
              <a:t>Allocation mémoire</a:t>
            </a:r>
            <a:endParaRPr lang="en-US" sz="1300">
              <a:latin typeface="Arial Rounded MT Bold" panose="020F0704030504030204" pitchFamily="34" charset="0"/>
            </a:endParaRPr>
          </a:p>
        </p:txBody>
      </p:sp>
      <p:sp>
        <p:nvSpPr>
          <p:cNvPr id="13" name="Text 8"/>
          <p:cNvSpPr/>
          <p:nvPr/>
        </p:nvSpPr>
        <p:spPr>
          <a:xfrm>
            <a:off x="3765471" y="4868108"/>
            <a:ext cx="3383994" cy="217289"/>
          </a:xfrm>
          <a:prstGeom prst="rect">
            <a:avLst/>
          </a:prstGeom>
          <a:noFill/>
          <a:ln/>
        </p:spPr>
        <p:txBody>
          <a:bodyPr wrap="none" lIns="0" tIns="0" rIns="0" bIns="0" rtlCol="0" anchor="t"/>
          <a:lstStyle/>
          <a:p>
            <a:pPr marL="0" indent="0" algn="l">
              <a:lnSpc>
                <a:spcPts val="1700"/>
              </a:lnSpc>
              <a:buNone/>
            </a:pPr>
            <a:r>
              <a:rPr lang="en-US" sz="1050">
                <a:solidFill>
                  <a:srgbClr val="405449"/>
                </a:solidFill>
                <a:latin typeface="Arial Rounded MT Bold" panose="020F0704030504030204" pitchFamily="34" charset="0"/>
                <a:ea typeface="Nobile" pitchFamily="34" charset="-122"/>
                <a:cs typeface="Nobile" pitchFamily="34" charset="-120"/>
              </a:rPr>
              <a:t>Serveur maintient les connexions en attente d'ACK</a:t>
            </a:r>
            <a:endParaRPr lang="en-US" sz="1050">
              <a:latin typeface="Arial Rounded MT Bold" panose="020F0704030504030204" pitchFamily="34" charset="0"/>
            </a:endParaRPr>
          </a:p>
        </p:txBody>
      </p:sp>
      <p:pic>
        <p:nvPicPr>
          <p:cNvPr id="14" name="Image 3" descr="preencoded.png"/>
          <p:cNvPicPr>
            <a:picLocks noChangeAspect="1"/>
          </p:cNvPicPr>
          <p:nvPr/>
        </p:nvPicPr>
        <p:blipFill>
          <a:blip r:embed="rId5"/>
          <a:stretch>
            <a:fillRect/>
          </a:stretch>
        </p:blipFill>
        <p:spPr>
          <a:xfrm>
            <a:off x="3425904" y="5357098"/>
            <a:ext cx="407551" cy="1143000"/>
          </a:xfrm>
          <a:prstGeom prst="rect">
            <a:avLst/>
          </a:prstGeom>
        </p:spPr>
      </p:pic>
      <p:sp>
        <p:nvSpPr>
          <p:cNvPr id="15" name="Text 9"/>
          <p:cNvSpPr/>
          <p:nvPr/>
        </p:nvSpPr>
        <p:spPr>
          <a:xfrm>
            <a:off x="3969306" y="5492948"/>
            <a:ext cx="1698308" cy="212169"/>
          </a:xfrm>
          <a:prstGeom prst="rect">
            <a:avLst/>
          </a:prstGeom>
          <a:noFill/>
          <a:ln/>
        </p:spPr>
        <p:txBody>
          <a:bodyPr wrap="none" lIns="0" tIns="0" rIns="0" bIns="0" rtlCol="0" anchor="t"/>
          <a:lstStyle/>
          <a:p>
            <a:pPr marL="0" indent="0" algn="l">
              <a:lnSpc>
                <a:spcPts val="1650"/>
              </a:lnSpc>
              <a:buNone/>
            </a:pPr>
            <a:r>
              <a:rPr lang="en-US" sz="1300" b="1">
                <a:solidFill>
                  <a:srgbClr val="405449"/>
                </a:solidFill>
                <a:latin typeface="Arial Rounded MT Bold" panose="020F0704030504030204" pitchFamily="34" charset="0"/>
                <a:ea typeface="Fraunces Extra Bold" pitchFamily="34" charset="-122"/>
                <a:cs typeface="Fraunces Extra Bold" pitchFamily="34" charset="-120"/>
              </a:rPr>
              <a:t>Saturation table</a:t>
            </a:r>
            <a:endParaRPr lang="en-US" sz="1300">
              <a:latin typeface="Arial Rounded MT Bold" panose="020F0704030504030204" pitchFamily="34" charset="0"/>
            </a:endParaRPr>
          </a:p>
        </p:txBody>
      </p:sp>
      <p:sp>
        <p:nvSpPr>
          <p:cNvPr id="16" name="Text 10"/>
          <p:cNvSpPr/>
          <p:nvPr/>
        </p:nvSpPr>
        <p:spPr>
          <a:xfrm>
            <a:off x="3969306" y="5840968"/>
            <a:ext cx="3180159" cy="217289"/>
          </a:xfrm>
          <a:prstGeom prst="rect">
            <a:avLst/>
          </a:prstGeom>
          <a:noFill/>
          <a:ln/>
        </p:spPr>
        <p:txBody>
          <a:bodyPr wrap="none" lIns="0" tIns="0" rIns="0" bIns="0" rtlCol="0" anchor="t"/>
          <a:lstStyle/>
          <a:p>
            <a:pPr marL="0" indent="0" algn="l">
              <a:lnSpc>
                <a:spcPts val="1700"/>
              </a:lnSpc>
              <a:buNone/>
            </a:pPr>
            <a:r>
              <a:rPr lang="en-US" sz="1050">
                <a:solidFill>
                  <a:srgbClr val="405449"/>
                </a:solidFill>
                <a:latin typeface="Arial Rounded MT Bold" panose="020F0704030504030204" pitchFamily="34" charset="0"/>
                <a:ea typeface="Nobile" pitchFamily="34" charset="-122"/>
                <a:cs typeface="Nobile" pitchFamily="34" charset="-120"/>
              </a:rPr>
              <a:t>Épuisement des descripteurs disponibles</a:t>
            </a:r>
            <a:endParaRPr lang="en-US" sz="1050">
              <a:latin typeface="Arial Rounded MT Bold" panose="020F0704030504030204" pitchFamily="34" charset="0"/>
            </a:endParaRPr>
          </a:p>
        </p:txBody>
      </p:sp>
      <p:pic>
        <p:nvPicPr>
          <p:cNvPr id="17" name="Image 4" descr="preencoded.png"/>
          <p:cNvPicPr>
            <a:picLocks noChangeAspect="1"/>
          </p:cNvPicPr>
          <p:nvPr/>
        </p:nvPicPr>
        <p:blipFill>
          <a:blip r:embed="rId6"/>
          <a:stretch>
            <a:fillRect/>
          </a:stretch>
        </p:blipFill>
        <p:spPr>
          <a:xfrm>
            <a:off x="3629739" y="6329958"/>
            <a:ext cx="407551" cy="1143000"/>
          </a:xfrm>
          <a:prstGeom prst="rect">
            <a:avLst/>
          </a:prstGeom>
        </p:spPr>
      </p:pic>
      <p:sp>
        <p:nvSpPr>
          <p:cNvPr id="18" name="Text 11"/>
          <p:cNvSpPr/>
          <p:nvPr/>
        </p:nvSpPr>
        <p:spPr>
          <a:xfrm>
            <a:off x="4173141" y="6465808"/>
            <a:ext cx="1698308" cy="212169"/>
          </a:xfrm>
          <a:prstGeom prst="rect">
            <a:avLst/>
          </a:prstGeom>
          <a:noFill/>
          <a:ln/>
        </p:spPr>
        <p:txBody>
          <a:bodyPr wrap="none" lIns="0" tIns="0" rIns="0" bIns="0" rtlCol="0" anchor="t"/>
          <a:lstStyle/>
          <a:p>
            <a:pPr marL="0" indent="0" algn="l">
              <a:lnSpc>
                <a:spcPts val="1650"/>
              </a:lnSpc>
              <a:buNone/>
            </a:pPr>
            <a:r>
              <a:rPr lang="en-US" sz="1300" b="1">
                <a:solidFill>
                  <a:srgbClr val="405449"/>
                </a:solidFill>
                <a:latin typeface="Arial Rounded MT Bold" panose="020F0704030504030204" pitchFamily="34" charset="0"/>
                <a:ea typeface="Fraunces Extra Bold" pitchFamily="34" charset="-122"/>
                <a:cs typeface="Fraunces Extra Bold" pitchFamily="34" charset="-120"/>
              </a:rPr>
              <a:t>Déni de service</a:t>
            </a:r>
            <a:endParaRPr lang="en-US" sz="1300">
              <a:latin typeface="Arial Rounded MT Bold" panose="020F0704030504030204" pitchFamily="34" charset="0"/>
            </a:endParaRPr>
          </a:p>
        </p:txBody>
      </p:sp>
      <p:sp>
        <p:nvSpPr>
          <p:cNvPr id="19" name="Text 12"/>
          <p:cNvSpPr/>
          <p:nvPr/>
        </p:nvSpPr>
        <p:spPr>
          <a:xfrm>
            <a:off x="4173141" y="6813828"/>
            <a:ext cx="2976324" cy="434578"/>
          </a:xfrm>
          <a:prstGeom prst="rect">
            <a:avLst/>
          </a:prstGeom>
          <a:noFill/>
          <a:ln/>
        </p:spPr>
        <p:txBody>
          <a:bodyPr wrap="square" lIns="0" tIns="0" rIns="0" bIns="0" rtlCol="0" anchor="t"/>
          <a:lstStyle/>
          <a:p>
            <a:pPr marL="0" indent="0" algn="l">
              <a:lnSpc>
                <a:spcPts val="1700"/>
              </a:lnSpc>
              <a:buNone/>
            </a:pPr>
            <a:r>
              <a:rPr lang="en-US" sz="1050">
                <a:solidFill>
                  <a:srgbClr val="405449"/>
                </a:solidFill>
                <a:latin typeface="Arial Rounded MT Bold" panose="020F0704030504030204" pitchFamily="34" charset="0"/>
                <a:ea typeface="Nobile" pitchFamily="34" charset="-122"/>
                <a:cs typeface="Nobile" pitchFamily="34" charset="-120"/>
              </a:rPr>
              <a:t>Impossibilité d'accepter nouvelles connexions légitimes</a:t>
            </a:r>
            <a:endParaRPr lang="en-US" sz="1050">
              <a:latin typeface="Arial Rounded MT Bold" panose="020F0704030504030204" pitchFamily="34" charset="0"/>
            </a:endParaRPr>
          </a:p>
        </p:txBody>
      </p:sp>
      <p:sp>
        <p:nvSpPr>
          <p:cNvPr id="20" name="Text 13"/>
          <p:cNvSpPr/>
          <p:nvPr/>
        </p:nvSpPr>
        <p:spPr>
          <a:xfrm>
            <a:off x="7488555" y="1781532"/>
            <a:ext cx="2037993" cy="254794"/>
          </a:xfrm>
          <a:prstGeom prst="rect">
            <a:avLst/>
          </a:prstGeom>
          <a:noFill/>
          <a:ln/>
        </p:spPr>
        <p:txBody>
          <a:bodyPr wrap="none" lIns="0" tIns="0" rIns="0" bIns="0" rtlCol="0" anchor="t"/>
          <a:lstStyle/>
          <a:p>
            <a:pPr marL="0" indent="0" algn="l">
              <a:lnSpc>
                <a:spcPts val="2000"/>
              </a:lnSpc>
              <a:buNone/>
            </a:pPr>
            <a:r>
              <a:rPr lang="en-US" sz="1600" b="1">
                <a:solidFill>
                  <a:srgbClr val="3B4540"/>
                </a:solidFill>
                <a:latin typeface="Arial Rounded MT Bold" panose="020F0704030504030204" pitchFamily="34" charset="0"/>
                <a:ea typeface="Fraunces Extra Bold" pitchFamily="34" charset="-122"/>
                <a:cs typeface="Fraunces Extra Bold" pitchFamily="34" charset="-120"/>
              </a:rPr>
              <a:t>Attaque Teardrop</a:t>
            </a:r>
            <a:endParaRPr lang="en-US" sz="1600">
              <a:latin typeface="Arial Rounded MT Bold" panose="020F0704030504030204" pitchFamily="34" charset="0"/>
            </a:endParaRPr>
          </a:p>
        </p:txBody>
      </p:sp>
      <p:sp>
        <p:nvSpPr>
          <p:cNvPr id="21" name="Text 14"/>
          <p:cNvSpPr/>
          <p:nvPr/>
        </p:nvSpPr>
        <p:spPr>
          <a:xfrm>
            <a:off x="7488555" y="2172176"/>
            <a:ext cx="4131112" cy="5300782"/>
          </a:xfrm>
          <a:prstGeom prst="rect">
            <a:avLst/>
          </a:prstGeom>
          <a:noFill/>
          <a:ln/>
        </p:spPr>
        <p:txBody>
          <a:bodyPr wrap="square" lIns="0" tIns="0" rIns="0" bIns="0" rtlCol="0" anchor="t"/>
          <a:lstStyle/>
          <a:p>
            <a:endParaRPr lang="fr-FR" sz="700">
              <a:solidFill>
                <a:srgbClr val="405449"/>
              </a:solidFill>
              <a:latin typeface="Arial Rounded MT Bold" panose="020F0704030504030204" pitchFamily="34" charset="0"/>
              <a:ea typeface="Nobile" pitchFamily="34" charset="-122"/>
              <a:cs typeface="Nobile" pitchFamily="34" charset="-120"/>
            </a:endParaRPr>
          </a:p>
          <a:p>
            <a:endParaRPr lang="fr-FR" sz="700">
              <a:solidFill>
                <a:srgbClr val="405449"/>
              </a:solidFill>
              <a:latin typeface="Arial Rounded MT Bold" panose="020F0704030504030204" pitchFamily="34" charset="0"/>
              <a:ea typeface="Nobile" pitchFamily="34" charset="-122"/>
              <a:cs typeface="Nobile" pitchFamily="34" charset="-120"/>
            </a:endParaRPr>
          </a:p>
          <a:p>
            <a:endParaRPr lang="fr-FR" sz="700">
              <a:solidFill>
                <a:srgbClr val="405449"/>
              </a:solidFill>
              <a:latin typeface="Arial Rounded MT Bold" panose="020F0704030504030204" pitchFamily="34" charset="0"/>
              <a:ea typeface="Nobile" pitchFamily="34" charset="-122"/>
              <a:cs typeface="Nobile" pitchFamily="34" charset="-120"/>
            </a:endParaRPr>
          </a:p>
          <a:p>
            <a:r>
              <a:rPr lang="fr-FR" sz="1000">
                <a:latin typeface="Arial Rounded MT Bold"/>
              </a:rPr>
              <a:t>L’’attaque </a:t>
            </a:r>
            <a:r>
              <a:rPr lang="fr-FR" sz="1000" err="1">
                <a:latin typeface="Arial Rounded MT Bold"/>
              </a:rPr>
              <a:t>Teardrop</a:t>
            </a:r>
            <a:r>
              <a:rPr lang="fr-FR" sz="1000">
                <a:latin typeface="Arial Rounded MT Bold"/>
              </a:rPr>
              <a:t> est différente, car elle cible la fragmentation des paquets IP.</a:t>
            </a:r>
          </a:p>
          <a:p>
            <a:br>
              <a:rPr lang="fr-FR" sz="1050"/>
            </a:br>
            <a:endParaRPr lang="fr-FR" sz="700">
              <a:latin typeface="Arial Rounded MT Bold"/>
            </a:endParaRPr>
          </a:p>
          <a:p>
            <a:r>
              <a:rPr lang="fr-FR" sz="1000">
                <a:latin typeface="Arial Rounded MT Bold"/>
              </a:rPr>
              <a:t>L’attaquant envoie des fragments avec des champs de décalage et de longueur </a:t>
            </a:r>
            <a:r>
              <a:rPr lang="fr-FR" sz="1050">
                <a:latin typeface="Arial Rounded MT Bold"/>
              </a:rPr>
              <a:t>incohérents</a:t>
            </a:r>
            <a:r>
              <a:rPr lang="fr-FR" sz="1000">
                <a:latin typeface="Arial Rounded MT Bold"/>
              </a:rPr>
              <a:t>, ce qui empêche leur réassemblage correct.</a:t>
            </a:r>
          </a:p>
          <a:p>
            <a:br>
              <a:rPr lang="fr-FR" sz="1050"/>
            </a:br>
            <a:endParaRPr lang="fr-FR" sz="700">
              <a:latin typeface="Arial Rounded MT Bold"/>
            </a:endParaRPr>
          </a:p>
          <a:p>
            <a:r>
              <a:rPr lang="fr-FR" sz="1000">
                <a:latin typeface="Arial Rounded MT Bold"/>
              </a:rPr>
              <a:t>Le système d’exploitation ne sait pas gérer ces erreurs et cela peut provoquer une corruption de la mémoire noyau.</a:t>
            </a:r>
          </a:p>
          <a:p>
            <a:br>
              <a:rPr lang="fr-FR" sz="1050"/>
            </a:br>
            <a:endParaRPr lang="fr-FR" sz="700">
              <a:latin typeface="Arial Rounded MT Bold"/>
            </a:endParaRPr>
          </a:p>
          <a:p>
            <a:r>
              <a:rPr lang="fr-FR" sz="1000">
                <a:latin typeface="Arial Rounded MT Bold"/>
              </a:rPr>
              <a:t>L’impact est immédiat : le système peut planter, ce qui entraîne l’arrêt brutal des services réseau.</a:t>
            </a:r>
          </a:p>
          <a:p>
            <a:pPr marL="0" indent="0" algn="l">
              <a:lnSpc>
                <a:spcPts val="1700"/>
              </a:lnSpc>
              <a:buNone/>
            </a:pPr>
            <a:endParaRPr lang="fr-FR" sz="700">
              <a:solidFill>
                <a:srgbClr val="405449"/>
              </a:solidFill>
              <a:latin typeface="Arial Rounded MT Bold" panose="020F0704030504030204" pitchFamily="34" charset="0"/>
              <a:ea typeface="Nobile" pitchFamily="34" charset="-122"/>
              <a:cs typeface="Nobile" pitchFamily="34" charset="-120"/>
            </a:endParaRPr>
          </a:p>
          <a:p>
            <a:pPr marL="0" indent="0" algn="l">
              <a:lnSpc>
                <a:spcPts val="1700"/>
              </a:lnSpc>
              <a:buNone/>
            </a:pPr>
            <a:endParaRPr lang="fr-FR" sz="700">
              <a:solidFill>
                <a:srgbClr val="405449"/>
              </a:solidFill>
              <a:latin typeface="Arial Rounded MT Bold" panose="020F0704030504030204" pitchFamily="34" charset="0"/>
            </a:endParaRPr>
          </a:p>
          <a:p>
            <a:pPr marL="0" indent="0" algn="l">
              <a:lnSpc>
                <a:spcPts val="1700"/>
              </a:lnSpc>
              <a:buNone/>
            </a:pPr>
            <a:endParaRPr lang="en-US" sz="700">
              <a:latin typeface="Arial Rounded MT Bold" panose="020F0704030504030204" pitchFamily="34" charset="0"/>
            </a:endParaRPr>
          </a:p>
        </p:txBody>
      </p:sp>
      <p:pic>
        <p:nvPicPr>
          <p:cNvPr id="24" name="Image 23" descr="Une image contenant blanc, conception&#10;&#10;Le contenu généré par l’IA peut être incorrect.">
            <a:extLst>
              <a:ext uri="{FF2B5EF4-FFF2-40B4-BE49-F238E27FC236}">
                <a16:creationId xmlns:a16="http://schemas.microsoft.com/office/drawing/2014/main" id="{A4A7D5CB-68ED-AB50-22FB-614FE18E8FE8}"/>
              </a:ext>
            </a:extLst>
          </p:cNvPr>
          <p:cNvPicPr>
            <a:picLocks noChangeAspect="1"/>
          </p:cNvPicPr>
          <p:nvPr/>
        </p:nvPicPr>
        <p:blipFill>
          <a:blip r:embed="rId7"/>
          <a:stretch>
            <a:fillRect/>
          </a:stretch>
        </p:blipFill>
        <p:spPr>
          <a:xfrm>
            <a:off x="12456150" y="6783651"/>
            <a:ext cx="2067213" cy="1390844"/>
          </a:xfrm>
          <a:prstGeom prst="rect">
            <a:avLst/>
          </a:prstGeom>
        </p:spPr>
      </p:pic>
      <p:sp>
        <p:nvSpPr>
          <p:cNvPr id="23" name="ZoneTexte 22">
            <a:extLst>
              <a:ext uri="{FF2B5EF4-FFF2-40B4-BE49-F238E27FC236}">
                <a16:creationId xmlns:a16="http://schemas.microsoft.com/office/drawing/2014/main" id="{6CA79460-4D8D-93BD-B256-3A635A81470A}"/>
              </a:ext>
            </a:extLst>
          </p:cNvPr>
          <p:cNvSpPr txBox="1"/>
          <p:nvPr/>
        </p:nvSpPr>
        <p:spPr>
          <a:xfrm>
            <a:off x="6811240" y="7808768"/>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a:ea typeface="Calibri"/>
                <a:cs typeface="Calibri"/>
              </a:rPr>
              <a:t>5</a:t>
            </a:r>
            <a:endParaRPr lang="fr-F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1441609" y="660559"/>
            <a:ext cx="2096572" cy="348853"/>
          </a:xfrm>
          <a:prstGeom prst="roundRect">
            <a:avLst>
              <a:gd name="adj" fmla="val 38332"/>
            </a:avLst>
          </a:prstGeom>
          <a:solidFill>
            <a:srgbClr val="DDEEE0"/>
          </a:solidFill>
          <a:ln/>
        </p:spPr>
        <p:txBody>
          <a:bodyPr/>
          <a:lstStyle/>
          <a:p>
            <a:endParaRPr lang="fr-FR">
              <a:latin typeface="Arial Rounded MT Bold" panose="020F0704030504030204" pitchFamily="34" charset="0"/>
            </a:endParaRPr>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52932" y="760690"/>
            <a:ext cx="148471" cy="148471"/>
          </a:xfrm>
          <a:prstGeom prst="rect">
            <a:avLst/>
          </a:prstGeom>
        </p:spPr>
      </p:pic>
      <p:sp>
        <p:nvSpPr>
          <p:cNvPr id="4" name="Text 1"/>
          <p:cNvSpPr/>
          <p:nvPr/>
        </p:nvSpPr>
        <p:spPr>
          <a:xfrm>
            <a:off x="1737794" y="738832"/>
            <a:ext cx="1908216" cy="252763"/>
          </a:xfrm>
          <a:prstGeom prst="rect">
            <a:avLst/>
          </a:prstGeom>
          <a:noFill/>
          <a:ln/>
        </p:spPr>
        <p:txBody>
          <a:bodyPr wrap="none" lIns="0" tIns="0" rIns="0" bIns="0" rtlCol="0" anchor="t"/>
          <a:lstStyle/>
          <a:p>
            <a:pPr marL="0" indent="0" algn="l">
              <a:lnSpc>
                <a:spcPts val="1850"/>
              </a:lnSpc>
              <a:buNone/>
            </a:pPr>
            <a:r>
              <a:rPr lang="en-US" sz="1150">
                <a:solidFill>
                  <a:srgbClr val="405449"/>
                </a:solidFill>
                <a:latin typeface="Arial Rounded MT Bold" panose="020F0704030504030204" pitchFamily="34" charset="0"/>
                <a:ea typeface="Nobile" pitchFamily="34" charset="-122"/>
                <a:cs typeface="Nobile" pitchFamily="34" charset="-120"/>
              </a:rPr>
              <a:t>COUCHE APPLICATION</a:t>
            </a:r>
            <a:endParaRPr lang="en-US" sz="1150">
              <a:latin typeface="Arial Rounded MT Bold" panose="020F0704030504030204" pitchFamily="34" charset="0"/>
            </a:endParaRPr>
          </a:p>
        </p:txBody>
      </p:sp>
      <p:sp>
        <p:nvSpPr>
          <p:cNvPr id="5" name="Text 2"/>
          <p:cNvSpPr/>
          <p:nvPr/>
        </p:nvSpPr>
        <p:spPr>
          <a:xfrm>
            <a:off x="1441609" y="1083588"/>
            <a:ext cx="10205323" cy="580430"/>
          </a:xfrm>
          <a:prstGeom prst="rect">
            <a:avLst/>
          </a:prstGeom>
          <a:noFill/>
          <a:ln/>
        </p:spPr>
        <p:txBody>
          <a:bodyPr wrap="none" lIns="0" tIns="0" rIns="0" bIns="0" rtlCol="0" anchor="t"/>
          <a:lstStyle/>
          <a:p>
            <a:pPr marL="0" indent="0" algn="l">
              <a:lnSpc>
                <a:spcPts val="4550"/>
              </a:lnSpc>
              <a:buNone/>
            </a:pPr>
            <a:r>
              <a:rPr lang="en-US" sz="3650" b="1" err="1">
                <a:solidFill>
                  <a:srgbClr val="3B4540"/>
                </a:solidFill>
                <a:latin typeface="Arial Rounded MT Bold" panose="020F0704030504030204" pitchFamily="34" charset="0"/>
                <a:ea typeface="Fraunces Extra Bold" pitchFamily="34" charset="-122"/>
                <a:cs typeface="Fraunces Extra Bold" pitchFamily="34" charset="-120"/>
              </a:rPr>
              <a:t>Attaques</a:t>
            </a:r>
            <a:r>
              <a:rPr lang="en-US" sz="3650" b="1">
                <a:solidFill>
                  <a:srgbClr val="3B4540"/>
                </a:solidFill>
                <a:latin typeface="Arial Rounded MT Bold" panose="020F0704030504030204" pitchFamily="34" charset="0"/>
                <a:ea typeface="Fraunces Extra Bold" pitchFamily="34" charset="-122"/>
                <a:cs typeface="Fraunces Extra Bold" pitchFamily="34" charset="-120"/>
              </a:rPr>
              <a:t> HTTP et </a:t>
            </a:r>
            <a:r>
              <a:rPr lang="en-US" sz="3650" b="1" err="1">
                <a:solidFill>
                  <a:srgbClr val="3B4540"/>
                </a:solidFill>
                <a:latin typeface="Arial Rounded MT Bold" panose="020F0704030504030204" pitchFamily="34" charset="0"/>
                <a:ea typeface="Fraunces Extra Bold" pitchFamily="34" charset="-122"/>
                <a:cs typeface="Fraunces Extra Bold" pitchFamily="34" charset="-120"/>
              </a:rPr>
              <a:t>Stratégies</a:t>
            </a:r>
            <a:r>
              <a:rPr lang="en-US" sz="3650" b="1">
                <a:solidFill>
                  <a:srgbClr val="3B4540"/>
                </a:solidFill>
                <a:latin typeface="Arial Rounded MT Bold" panose="020F0704030504030204" pitchFamily="34" charset="0"/>
                <a:ea typeface="Fraunces Extra Bold" pitchFamily="34" charset="-122"/>
                <a:cs typeface="Fraunces Extra Bold" pitchFamily="34" charset="-120"/>
              </a:rPr>
              <a:t> Low-and-Slow</a:t>
            </a:r>
            <a:endParaRPr lang="en-US" sz="3650">
              <a:latin typeface="Arial Rounded MT Bold" panose="020F0704030504030204" pitchFamily="34" charset="0"/>
            </a:endParaRPr>
          </a:p>
        </p:txBody>
      </p:sp>
      <p:sp>
        <p:nvSpPr>
          <p:cNvPr id="6" name="Text 3"/>
          <p:cNvSpPr/>
          <p:nvPr/>
        </p:nvSpPr>
        <p:spPr>
          <a:xfrm>
            <a:off x="1441609" y="1942505"/>
            <a:ext cx="11747183" cy="594360"/>
          </a:xfrm>
          <a:prstGeom prst="rect">
            <a:avLst/>
          </a:prstGeom>
          <a:noFill/>
          <a:ln/>
        </p:spPr>
        <p:txBody>
          <a:bodyPr wrap="square" lIns="0" tIns="0" rIns="0" bIns="0" rtlCol="0" anchor="t"/>
          <a:lstStyle/>
          <a:p>
            <a:pPr marL="0" indent="0" algn="l">
              <a:lnSpc>
                <a:spcPts val="2300"/>
              </a:lnSpc>
              <a:buNone/>
            </a:pPr>
            <a:r>
              <a:rPr lang="en-US" sz="1450">
                <a:solidFill>
                  <a:srgbClr val="405449"/>
                </a:solidFill>
                <a:latin typeface="Arial Rounded MT Bold" panose="020F0704030504030204" pitchFamily="34" charset="0"/>
                <a:ea typeface="Nobile" pitchFamily="34" charset="-122"/>
                <a:cs typeface="Nobile" pitchFamily="34" charset="-120"/>
              </a:rPr>
              <a:t>Les offensives de la couche application (couche 7 OSI) exploitent directement le protocole HTTP pour paralyser les services web en imitant le trafic légitime, rendant la détection impossible pour les systèmes traditionnels.</a:t>
            </a:r>
            <a:endParaRPr lang="en-US" sz="1450">
              <a:latin typeface="Arial Rounded MT Bold" panose="020F0704030504030204" pitchFamily="34" charset="0"/>
            </a:endParaRPr>
          </a:p>
        </p:txBody>
      </p:sp>
      <p:sp>
        <p:nvSpPr>
          <p:cNvPr id="7" name="Shape 4"/>
          <p:cNvSpPr/>
          <p:nvPr/>
        </p:nvSpPr>
        <p:spPr>
          <a:xfrm>
            <a:off x="1441609" y="3024188"/>
            <a:ext cx="5780723" cy="1668542"/>
          </a:xfrm>
          <a:prstGeom prst="roundRect">
            <a:avLst>
              <a:gd name="adj" fmla="val 6576"/>
            </a:avLst>
          </a:prstGeom>
          <a:solidFill>
            <a:srgbClr val="FAFFFA"/>
          </a:solidFill>
          <a:ln/>
        </p:spPr>
        <p:txBody>
          <a:bodyPr/>
          <a:lstStyle/>
          <a:p>
            <a:endParaRPr lang="fr-FR">
              <a:latin typeface="Arial Rounded MT Bold" panose="020F0704030504030204" pitchFamily="34" charset="0"/>
            </a:endParaRPr>
          </a:p>
        </p:txBody>
      </p:sp>
      <p:sp>
        <p:nvSpPr>
          <p:cNvPr id="8" name="Shape 5"/>
          <p:cNvSpPr/>
          <p:nvPr/>
        </p:nvSpPr>
        <p:spPr>
          <a:xfrm>
            <a:off x="1441609" y="3001327"/>
            <a:ext cx="5780723" cy="91440"/>
          </a:xfrm>
          <a:prstGeom prst="roundRect">
            <a:avLst>
              <a:gd name="adj" fmla="val 182802"/>
            </a:avLst>
          </a:prstGeom>
          <a:solidFill>
            <a:srgbClr val="438951"/>
          </a:solidFill>
          <a:ln/>
        </p:spPr>
        <p:txBody>
          <a:bodyPr/>
          <a:lstStyle/>
          <a:p>
            <a:endParaRPr lang="fr-FR">
              <a:latin typeface="Arial Rounded MT Bold" panose="020F0704030504030204" pitchFamily="34" charset="0"/>
            </a:endParaRPr>
          </a:p>
        </p:txBody>
      </p:sp>
      <p:sp>
        <p:nvSpPr>
          <p:cNvPr id="9" name="Shape 6"/>
          <p:cNvSpPr/>
          <p:nvPr/>
        </p:nvSpPr>
        <p:spPr>
          <a:xfrm>
            <a:off x="4053423" y="2745700"/>
            <a:ext cx="557093" cy="557093"/>
          </a:xfrm>
          <a:prstGeom prst="roundRect">
            <a:avLst>
              <a:gd name="adj" fmla="val 164138"/>
            </a:avLst>
          </a:prstGeom>
          <a:solidFill>
            <a:srgbClr val="438951"/>
          </a:solidFill>
          <a:ln/>
        </p:spPr>
        <p:txBody>
          <a:bodyPr/>
          <a:lstStyle/>
          <a:p>
            <a:endParaRPr lang="fr-FR">
              <a:latin typeface="Arial Rounded MT Bold" panose="020F0704030504030204" pitchFamily="34" charset="0"/>
            </a:endParaRPr>
          </a:p>
        </p:txBody>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220587" y="2912864"/>
            <a:ext cx="222766" cy="222766"/>
          </a:xfrm>
          <a:prstGeom prst="rect">
            <a:avLst/>
          </a:prstGeom>
        </p:spPr>
      </p:pic>
      <p:sp>
        <p:nvSpPr>
          <p:cNvPr id="11" name="Text 7"/>
          <p:cNvSpPr/>
          <p:nvPr/>
        </p:nvSpPr>
        <p:spPr>
          <a:xfrm>
            <a:off x="1650087" y="3488412"/>
            <a:ext cx="2321481" cy="290155"/>
          </a:xfrm>
          <a:prstGeom prst="rect">
            <a:avLst/>
          </a:prstGeom>
          <a:noFill/>
          <a:ln/>
        </p:spPr>
        <p:txBody>
          <a:bodyPr wrap="none" lIns="0" tIns="0" rIns="0" bIns="0" rtlCol="0" anchor="t"/>
          <a:lstStyle/>
          <a:p>
            <a:pPr marL="0" indent="0" algn="l">
              <a:lnSpc>
                <a:spcPts val="2250"/>
              </a:lnSpc>
              <a:buNone/>
            </a:pPr>
            <a:r>
              <a:rPr lang="en-US" sz="1800" b="1">
                <a:solidFill>
                  <a:srgbClr val="405449"/>
                </a:solidFill>
                <a:latin typeface="Arial Rounded MT Bold" panose="020F0704030504030204" pitchFamily="34" charset="0"/>
                <a:ea typeface="Fraunces Extra Bold" pitchFamily="34" charset="-122"/>
                <a:cs typeface="Fraunces Extra Bold" pitchFamily="34" charset="-120"/>
              </a:rPr>
              <a:t>HTTP GET Flood</a:t>
            </a:r>
            <a:endParaRPr lang="en-US" sz="1800">
              <a:latin typeface="Arial Rounded MT Bold" panose="020F0704030504030204" pitchFamily="34" charset="0"/>
            </a:endParaRPr>
          </a:p>
        </p:txBody>
      </p:sp>
      <p:sp>
        <p:nvSpPr>
          <p:cNvPr id="12" name="Text 8"/>
          <p:cNvSpPr/>
          <p:nvPr/>
        </p:nvSpPr>
        <p:spPr>
          <a:xfrm>
            <a:off x="1650087" y="3889891"/>
            <a:ext cx="5363766" cy="594360"/>
          </a:xfrm>
          <a:prstGeom prst="rect">
            <a:avLst/>
          </a:prstGeom>
          <a:noFill/>
          <a:ln/>
        </p:spPr>
        <p:txBody>
          <a:bodyPr wrap="square" lIns="0" tIns="0" rIns="0" bIns="0" rtlCol="0" anchor="t"/>
          <a:lstStyle/>
          <a:p>
            <a:pPr marL="0" indent="0" algn="l">
              <a:lnSpc>
                <a:spcPts val="2300"/>
              </a:lnSpc>
              <a:buNone/>
            </a:pPr>
            <a:r>
              <a:rPr lang="en-US" sz="1450">
                <a:solidFill>
                  <a:srgbClr val="405449"/>
                </a:solidFill>
                <a:latin typeface="Arial Rounded MT Bold" panose="020F0704030504030204" pitchFamily="34" charset="0"/>
                <a:ea typeface="Nobile" pitchFamily="34" charset="-122"/>
                <a:cs typeface="Nobile" pitchFamily="34" charset="-120"/>
              </a:rPr>
              <a:t>Sollicitation massive d'éléments statiques (images, fichiers volumineux) saturant les ressources d'E/S du serveur</a:t>
            </a:r>
            <a:endParaRPr lang="en-US" sz="1450">
              <a:latin typeface="Arial Rounded MT Bold" panose="020F0704030504030204" pitchFamily="34" charset="0"/>
            </a:endParaRPr>
          </a:p>
        </p:txBody>
      </p:sp>
      <p:sp>
        <p:nvSpPr>
          <p:cNvPr id="13" name="Shape 9"/>
          <p:cNvSpPr/>
          <p:nvPr/>
        </p:nvSpPr>
        <p:spPr>
          <a:xfrm>
            <a:off x="7407950" y="3024188"/>
            <a:ext cx="5780842" cy="1668542"/>
          </a:xfrm>
          <a:prstGeom prst="roundRect">
            <a:avLst>
              <a:gd name="adj" fmla="val 6576"/>
            </a:avLst>
          </a:prstGeom>
          <a:solidFill>
            <a:srgbClr val="FAFFFA"/>
          </a:solidFill>
          <a:ln/>
        </p:spPr>
        <p:txBody>
          <a:bodyPr/>
          <a:lstStyle/>
          <a:p>
            <a:endParaRPr lang="fr-FR">
              <a:latin typeface="Arial Rounded MT Bold" panose="020F0704030504030204" pitchFamily="34" charset="0"/>
            </a:endParaRPr>
          </a:p>
        </p:txBody>
      </p:sp>
      <p:sp>
        <p:nvSpPr>
          <p:cNvPr id="14" name="Shape 10"/>
          <p:cNvSpPr/>
          <p:nvPr/>
        </p:nvSpPr>
        <p:spPr>
          <a:xfrm>
            <a:off x="7407950" y="3001327"/>
            <a:ext cx="5780842" cy="91440"/>
          </a:xfrm>
          <a:prstGeom prst="roundRect">
            <a:avLst>
              <a:gd name="adj" fmla="val 182802"/>
            </a:avLst>
          </a:prstGeom>
          <a:solidFill>
            <a:srgbClr val="438951"/>
          </a:solidFill>
          <a:ln/>
        </p:spPr>
        <p:txBody>
          <a:bodyPr/>
          <a:lstStyle/>
          <a:p>
            <a:endParaRPr lang="fr-FR">
              <a:latin typeface="Arial Rounded MT Bold" panose="020F0704030504030204" pitchFamily="34" charset="0"/>
            </a:endParaRPr>
          </a:p>
        </p:txBody>
      </p:sp>
      <p:sp>
        <p:nvSpPr>
          <p:cNvPr id="15" name="Shape 11"/>
          <p:cNvSpPr/>
          <p:nvPr/>
        </p:nvSpPr>
        <p:spPr>
          <a:xfrm>
            <a:off x="10019764" y="2745700"/>
            <a:ext cx="557093" cy="557093"/>
          </a:xfrm>
          <a:prstGeom prst="roundRect">
            <a:avLst>
              <a:gd name="adj" fmla="val 164138"/>
            </a:avLst>
          </a:prstGeom>
          <a:solidFill>
            <a:srgbClr val="438951"/>
          </a:solidFill>
          <a:ln/>
        </p:spPr>
        <p:txBody>
          <a:bodyPr/>
          <a:lstStyle/>
          <a:p>
            <a:endParaRPr lang="fr-FR">
              <a:latin typeface="Arial Rounded MT Bold" panose="020F0704030504030204" pitchFamily="34" charset="0"/>
            </a:endParaRPr>
          </a:p>
        </p:txBody>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186928" y="2912864"/>
            <a:ext cx="222766" cy="222766"/>
          </a:xfrm>
          <a:prstGeom prst="rect">
            <a:avLst/>
          </a:prstGeom>
        </p:spPr>
      </p:pic>
      <p:sp>
        <p:nvSpPr>
          <p:cNvPr id="17" name="Text 12"/>
          <p:cNvSpPr/>
          <p:nvPr/>
        </p:nvSpPr>
        <p:spPr>
          <a:xfrm>
            <a:off x="7616428" y="3488412"/>
            <a:ext cx="2321481" cy="290155"/>
          </a:xfrm>
          <a:prstGeom prst="rect">
            <a:avLst/>
          </a:prstGeom>
          <a:noFill/>
          <a:ln/>
        </p:spPr>
        <p:txBody>
          <a:bodyPr wrap="none" lIns="0" tIns="0" rIns="0" bIns="0" rtlCol="0" anchor="t"/>
          <a:lstStyle/>
          <a:p>
            <a:pPr marL="0" indent="0" algn="l">
              <a:lnSpc>
                <a:spcPts val="2250"/>
              </a:lnSpc>
              <a:buNone/>
            </a:pPr>
            <a:r>
              <a:rPr lang="en-US" sz="1800" b="1">
                <a:solidFill>
                  <a:srgbClr val="405449"/>
                </a:solidFill>
                <a:latin typeface="Arial Rounded MT Bold" panose="020F0704030504030204" pitchFamily="34" charset="0"/>
                <a:ea typeface="Fraunces Extra Bold" pitchFamily="34" charset="-122"/>
                <a:cs typeface="Fraunces Extra Bold" pitchFamily="34" charset="-120"/>
              </a:rPr>
              <a:t>HTTP POST Flood</a:t>
            </a:r>
            <a:endParaRPr lang="en-US" sz="1800">
              <a:latin typeface="Arial Rounded MT Bold" panose="020F0704030504030204" pitchFamily="34" charset="0"/>
            </a:endParaRPr>
          </a:p>
        </p:txBody>
      </p:sp>
      <p:sp>
        <p:nvSpPr>
          <p:cNvPr id="18" name="Text 13"/>
          <p:cNvSpPr/>
          <p:nvPr/>
        </p:nvSpPr>
        <p:spPr>
          <a:xfrm>
            <a:off x="7616428" y="3889891"/>
            <a:ext cx="5363885" cy="594360"/>
          </a:xfrm>
          <a:prstGeom prst="rect">
            <a:avLst/>
          </a:prstGeom>
          <a:noFill/>
          <a:ln/>
        </p:spPr>
        <p:txBody>
          <a:bodyPr wrap="square" lIns="0" tIns="0" rIns="0" bIns="0" rtlCol="0" anchor="t"/>
          <a:lstStyle/>
          <a:p>
            <a:pPr marL="0" indent="0" algn="l">
              <a:lnSpc>
                <a:spcPts val="2300"/>
              </a:lnSpc>
              <a:buNone/>
            </a:pPr>
            <a:r>
              <a:rPr lang="en-US" sz="1450">
                <a:solidFill>
                  <a:srgbClr val="405449"/>
                </a:solidFill>
                <a:latin typeface="Arial Rounded MT Bold" panose="020F0704030504030204" pitchFamily="34" charset="0"/>
                <a:ea typeface="Nobile" pitchFamily="34" charset="-122"/>
                <a:cs typeface="Nobile" pitchFamily="34" charset="-120"/>
              </a:rPr>
              <a:t>Soumission de formulaires complexes forçant des calculs intensifs et transactions en base de données</a:t>
            </a:r>
            <a:endParaRPr lang="en-US" sz="1450">
              <a:latin typeface="Arial Rounded MT Bold" panose="020F0704030504030204" pitchFamily="34" charset="0"/>
            </a:endParaRPr>
          </a:p>
        </p:txBody>
      </p:sp>
      <p:sp>
        <p:nvSpPr>
          <p:cNvPr id="19" name="Shape 14"/>
          <p:cNvSpPr/>
          <p:nvPr/>
        </p:nvSpPr>
        <p:spPr>
          <a:xfrm>
            <a:off x="1441609" y="5156835"/>
            <a:ext cx="5780723" cy="1965722"/>
          </a:xfrm>
          <a:prstGeom prst="roundRect">
            <a:avLst>
              <a:gd name="adj" fmla="val 5582"/>
            </a:avLst>
          </a:prstGeom>
          <a:solidFill>
            <a:srgbClr val="FAFFFA"/>
          </a:solidFill>
          <a:ln/>
        </p:spPr>
        <p:txBody>
          <a:bodyPr/>
          <a:lstStyle/>
          <a:p>
            <a:endParaRPr lang="fr-FR">
              <a:latin typeface="Arial Rounded MT Bold" panose="020F0704030504030204" pitchFamily="34" charset="0"/>
            </a:endParaRPr>
          </a:p>
        </p:txBody>
      </p:sp>
      <p:sp>
        <p:nvSpPr>
          <p:cNvPr id="20" name="Shape 15"/>
          <p:cNvSpPr/>
          <p:nvPr/>
        </p:nvSpPr>
        <p:spPr>
          <a:xfrm>
            <a:off x="1441609" y="5133975"/>
            <a:ext cx="5780723" cy="91440"/>
          </a:xfrm>
          <a:prstGeom prst="roundRect">
            <a:avLst>
              <a:gd name="adj" fmla="val 182802"/>
            </a:avLst>
          </a:prstGeom>
          <a:solidFill>
            <a:srgbClr val="438951"/>
          </a:solidFill>
          <a:ln/>
        </p:spPr>
        <p:txBody>
          <a:bodyPr/>
          <a:lstStyle/>
          <a:p>
            <a:endParaRPr lang="fr-FR">
              <a:latin typeface="Arial Rounded MT Bold" panose="020F0704030504030204" pitchFamily="34" charset="0"/>
            </a:endParaRPr>
          </a:p>
        </p:txBody>
      </p:sp>
      <p:sp>
        <p:nvSpPr>
          <p:cNvPr id="21" name="Shape 16"/>
          <p:cNvSpPr/>
          <p:nvPr/>
        </p:nvSpPr>
        <p:spPr>
          <a:xfrm>
            <a:off x="4053423" y="4878348"/>
            <a:ext cx="557093" cy="557093"/>
          </a:xfrm>
          <a:prstGeom prst="roundRect">
            <a:avLst>
              <a:gd name="adj" fmla="val 164138"/>
            </a:avLst>
          </a:prstGeom>
          <a:solidFill>
            <a:srgbClr val="438951"/>
          </a:solidFill>
          <a:ln/>
        </p:spPr>
        <p:txBody>
          <a:bodyPr/>
          <a:lstStyle/>
          <a:p>
            <a:endParaRPr lang="fr-FR">
              <a:latin typeface="Arial Rounded MT Bold" panose="020F0704030504030204" pitchFamily="34" charset="0"/>
            </a:endParaRPr>
          </a:p>
        </p:txBody>
      </p:sp>
      <p:pic>
        <p:nvPicPr>
          <p:cNvPr id="22"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220587" y="5045512"/>
            <a:ext cx="222766" cy="222766"/>
          </a:xfrm>
          <a:prstGeom prst="rect">
            <a:avLst/>
          </a:prstGeom>
        </p:spPr>
      </p:pic>
      <p:sp>
        <p:nvSpPr>
          <p:cNvPr id="23" name="Text 17"/>
          <p:cNvSpPr/>
          <p:nvPr/>
        </p:nvSpPr>
        <p:spPr>
          <a:xfrm>
            <a:off x="1650087" y="5621060"/>
            <a:ext cx="2321481" cy="290155"/>
          </a:xfrm>
          <a:prstGeom prst="rect">
            <a:avLst/>
          </a:prstGeom>
          <a:noFill/>
          <a:ln/>
        </p:spPr>
        <p:txBody>
          <a:bodyPr wrap="none" lIns="0" tIns="0" rIns="0" bIns="0" rtlCol="0" anchor="t"/>
          <a:lstStyle/>
          <a:p>
            <a:pPr marL="0" indent="0" algn="l">
              <a:lnSpc>
                <a:spcPts val="2250"/>
              </a:lnSpc>
              <a:buNone/>
            </a:pPr>
            <a:r>
              <a:rPr lang="en-US" sz="1800" b="1">
                <a:solidFill>
                  <a:srgbClr val="405449"/>
                </a:solidFill>
                <a:latin typeface="Arial Rounded MT Bold" panose="020F0704030504030204" pitchFamily="34" charset="0"/>
                <a:ea typeface="Fraunces Extra Bold" pitchFamily="34" charset="-122"/>
                <a:cs typeface="Fraunces Extra Bold" pitchFamily="34" charset="-120"/>
              </a:rPr>
              <a:t>Slowloris</a:t>
            </a:r>
            <a:endParaRPr lang="en-US" sz="1800">
              <a:latin typeface="Arial Rounded MT Bold" panose="020F0704030504030204" pitchFamily="34" charset="0"/>
            </a:endParaRPr>
          </a:p>
        </p:txBody>
      </p:sp>
      <p:sp>
        <p:nvSpPr>
          <p:cNvPr id="24" name="Text 18"/>
          <p:cNvSpPr/>
          <p:nvPr/>
        </p:nvSpPr>
        <p:spPr>
          <a:xfrm>
            <a:off x="1650087" y="6022538"/>
            <a:ext cx="5363766" cy="891540"/>
          </a:xfrm>
          <a:prstGeom prst="rect">
            <a:avLst/>
          </a:prstGeom>
          <a:noFill/>
          <a:ln/>
        </p:spPr>
        <p:txBody>
          <a:bodyPr wrap="square" lIns="0" tIns="0" rIns="0" bIns="0" rtlCol="0" anchor="t"/>
          <a:lstStyle/>
          <a:p>
            <a:pPr marL="0" indent="0" algn="l">
              <a:lnSpc>
                <a:spcPts val="2300"/>
              </a:lnSpc>
              <a:buNone/>
            </a:pPr>
            <a:r>
              <a:rPr lang="en-US" sz="1450">
                <a:solidFill>
                  <a:srgbClr val="405449"/>
                </a:solidFill>
                <a:latin typeface="Arial Rounded MT Bold" panose="020F0704030504030204" pitchFamily="34" charset="0"/>
                <a:ea typeface="Nobile" pitchFamily="34" charset="-122"/>
                <a:cs typeface="Nobile" pitchFamily="34" charset="-120"/>
              </a:rPr>
              <a:t>Ouverture de nombreuses connexions maintenues actives par l'envoi d'en-têtes HTTP partiels juste avant expiration des timeouts</a:t>
            </a:r>
            <a:endParaRPr lang="en-US" sz="1450">
              <a:latin typeface="Arial Rounded MT Bold" panose="020F0704030504030204" pitchFamily="34" charset="0"/>
            </a:endParaRPr>
          </a:p>
        </p:txBody>
      </p:sp>
      <p:sp>
        <p:nvSpPr>
          <p:cNvPr id="25" name="Shape 19"/>
          <p:cNvSpPr/>
          <p:nvPr/>
        </p:nvSpPr>
        <p:spPr>
          <a:xfrm>
            <a:off x="7407950" y="5156835"/>
            <a:ext cx="5780842" cy="1965722"/>
          </a:xfrm>
          <a:prstGeom prst="roundRect">
            <a:avLst>
              <a:gd name="adj" fmla="val 5582"/>
            </a:avLst>
          </a:prstGeom>
          <a:solidFill>
            <a:srgbClr val="FAFFFA"/>
          </a:solidFill>
          <a:ln/>
        </p:spPr>
        <p:txBody>
          <a:bodyPr/>
          <a:lstStyle/>
          <a:p>
            <a:endParaRPr lang="fr-FR">
              <a:latin typeface="Arial Rounded MT Bold" panose="020F0704030504030204" pitchFamily="34" charset="0"/>
            </a:endParaRPr>
          </a:p>
        </p:txBody>
      </p:sp>
      <p:sp>
        <p:nvSpPr>
          <p:cNvPr id="26" name="Shape 20"/>
          <p:cNvSpPr/>
          <p:nvPr/>
        </p:nvSpPr>
        <p:spPr>
          <a:xfrm>
            <a:off x="7407950" y="5133975"/>
            <a:ext cx="5780842" cy="91440"/>
          </a:xfrm>
          <a:prstGeom prst="roundRect">
            <a:avLst>
              <a:gd name="adj" fmla="val 182802"/>
            </a:avLst>
          </a:prstGeom>
          <a:solidFill>
            <a:srgbClr val="438951"/>
          </a:solidFill>
          <a:ln/>
        </p:spPr>
        <p:txBody>
          <a:bodyPr/>
          <a:lstStyle/>
          <a:p>
            <a:endParaRPr lang="fr-FR">
              <a:latin typeface="Arial Rounded MT Bold" panose="020F0704030504030204" pitchFamily="34" charset="0"/>
            </a:endParaRPr>
          </a:p>
        </p:txBody>
      </p:sp>
      <p:sp>
        <p:nvSpPr>
          <p:cNvPr id="27" name="Shape 21"/>
          <p:cNvSpPr/>
          <p:nvPr/>
        </p:nvSpPr>
        <p:spPr>
          <a:xfrm>
            <a:off x="10019764" y="4878348"/>
            <a:ext cx="557093" cy="557093"/>
          </a:xfrm>
          <a:prstGeom prst="roundRect">
            <a:avLst>
              <a:gd name="adj" fmla="val 164138"/>
            </a:avLst>
          </a:prstGeom>
          <a:solidFill>
            <a:srgbClr val="438951"/>
          </a:solidFill>
          <a:ln/>
        </p:spPr>
        <p:txBody>
          <a:bodyPr/>
          <a:lstStyle/>
          <a:p>
            <a:endParaRPr lang="fr-FR">
              <a:latin typeface="Arial Rounded MT Bold" panose="020F0704030504030204" pitchFamily="34" charset="0"/>
            </a:endParaRPr>
          </a:p>
        </p:txBody>
      </p:sp>
      <p:pic>
        <p:nvPicPr>
          <p:cNvPr id="28"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186928" y="5045512"/>
            <a:ext cx="222766" cy="222766"/>
          </a:xfrm>
          <a:prstGeom prst="rect">
            <a:avLst/>
          </a:prstGeom>
        </p:spPr>
      </p:pic>
      <p:sp>
        <p:nvSpPr>
          <p:cNvPr id="29" name="Text 22"/>
          <p:cNvSpPr/>
          <p:nvPr/>
        </p:nvSpPr>
        <p:spPr>
          <a:xfrm>
            <a:off x="7616428" y="5621060"/>
            <a:ext cx="2321481" cy="290155"/>
          </a:xfrm>
          <a:prstGeom prst="rect">
            <a:avLst/>
          </a:prstGeom>
          <a:noFill/>
          <a:ln/>
        </p:spPr>
        <p:txBody>
          <a:bodyPr wrap="none" lIns="0" tIns="0" rIns="0" bIns="0" rtlCol="0" anchor="t"/>
          <a:lstStyle/>
          <a:p>
            <a:pPr marL="0" indent="0" algn="l">
              <a:lnSpc>
                <a:spcPts val="2250"/>
              </a:lnSpc>
              <a:buNone/>
            </a:pPr>
            <a:r>
              <a:rPr lang="en-US" sz="1800" b="1">
                <a:solidFill>
                  <a:srgbClr val="405449"/>
                </a:solidFill>
                <a:latin typeface="Arial Rounded MT Bold" panose="020F0704030504030204" pitchFamily="34" charset="0"/>
                <a:ea typeface="Fraunces Extra Bold" pitchFamily="34" charset="-122"/>
                <a:cs typeface="Fraunces Extra Bold" pitchFamily="34" charset="-120"/>
              </a:rPr>
              <a:t>R.U.D.Y.</a:t>
            </a:r>
            <a:endParaRPr lang="en-US" sz="1800">
              <a:latin typeface="Arial Rounded MT Bold" panose="020F0704030504030204" pitchFamily="34" charset="0"/>
            </a:endParaRPr>
          </a:p>
        </p:txBody>
      </p:sp>
      <p:sp>
        <p:nvSpPr>
          <p:cNvPr id="30" name="Text 23"/>
          <p:cNvSpPr/>
          <p:nvPr/>
        </p:nvSpPr>
        <p:spPr>
          <a:xfrm>
            <a:off x="7616428" y="6022538"/>
            <a:ext cx="5363885" cy="891540"/>
          </a:xfrm>
          <a:prstGeom prst="rect">
            <a:avLst/>
          </a:prstGeom>
          <a:noFill/>
          <a:ln/>
        </p:spPr>
        <p:txBody>
          <a:bodyPr wrap="square" lIns="0" tIns="0" rIns="0" bIns="0" rtlCol="0" anchor="t"/>
          <a:lstStyle/>
          <a:p>
            <a:pPr marL="0" indent="0" algn="l">
              <a:lnSpc>
                <a:spcPts val="2300"/>
              </a:lnSpc>
              <a:buNone/>
            </a:pPr>
            <a:r>
              <a:rPr lang="en-US" sz="1450">
                <a:solidFill>
                  <a:srgbClr val="405449"/>
                </a:solidFill>
                <a:latin typeface="Arial Rounded MT Bold" panose="020F0704030504030204" pitchFamily="34" charset="0"/>
                <a:ea typeface="Nobile" pitchFamily="34" charset="-122"/>
                <a:cs typeface="Nobile" pitchFamily="34" charset="-120"/>
              </a:rPr>
              <a:t>Transmission absurdement lente de données POST (1 octet/10 secondes) pour maintenir les connexions indéfiniment</a:t>
            </a:r>
            <a:endParaRPr lang="en-US" sz="1450">
              <a:latin typeface="Arial Rounded MT Bold" panose="020F0704030504030204" pitchFamily="34" charset="0"/>
            </a:endParaRPr>
          </a:p>
        </p:txBody>
      </p:sp>
      <p:sp>
        <p:nvSpPr>
          <p:cNvPr id="31" name="Text 24"/>
          <p:cNvSpPr/>
          <p:nvPr/>
        </p:nvSpPr>
        <p:spPr>
          <a:xfrm>
            <a:off x="1441609" y="7331393"/>
            <a:ext cx="11747183" cy="237649"/>
          </a:xfrm>
          <a:prstGeom prst="rect">
            <a:avLst/>
          </a:prstGeom>
          <a:noFill/>
          <a:ln/>
        </p:spPr>
        <p:txBody>
          <a:bodyPr wrap="none" lIns="0" tIns="0" rIns="0" bIns="0" rtlCol="0" anchor="t"/>
          <a:lstStyle/>
          <a:p>
            <a:pPr marL="0" indent="0" algn="l">
              <a:lnSpc>
                <a:spcPts val="1850"/>
              </a:lnSpc>
              <a:buNone/>
            </a:pPr>
            <a:r>
              <a:rPr lang="en-US" sz="1150" b="1">
                <a:solidFill>
                  <a:srgbClr val="405449"/>
                </a:solidFill>
                <a:latin typeface="Arial Rounded MT Bold" panose="020F0704030504030204" pitchFamily="34" charset="0"/>
                <a:ea typeface="Nobile" pitchFamily="34" charset="-122"/>
                <a:cs typeface="Nobile" pitchFamily="34" charset="-120"/>
              </a:rPr>
              <a:t>Particularité :</a:t>
            </a:r>
            <a:r>
              <a:rPr lang="en-US" sz="1150">
                <a:solidFill>
                  <a:srgbClr val="405449"/>
                </a:solidFill>
                <a:latin typeface="Arial Rounded MT Bold" panose="020F0704030504030204" pitchFamily="34" charset="0"/>
                <a:ea typeface="Nobile" pitchFamily="34" charset="-122"/>
                <a:cs typeface="Nobile" pitchFamily="34" charset="-120"/>
              </a:rPr>
              <a:t> Ces attaques ciblent l'asymétrie de coût — une requête légère nécessite un effort de traitement considérable de l'infrastructure cible.</a:t>
            </a:r>
            <a:endParaRPr lang="en-US" sz="1150">
              <a:latin typeface="Arial Rounded MT Bold" panose="020F0704030504030204" pitchFamily="34" charset="0"/>
            </a:endParaRPr>
          </a:p>
        </p:txBody>
      </p:sp>
      <p:pic>
        <p:nvPicPr>
          <p:cNvPr id="33" name="Image 32">
            <a:extLst>
              <a:ext uri="{FF2B5EF4-FFF2-40B4-BE49-F238E27FC236}">
                <a16:creationId xmlns:a16="http://schemas.microsoft.com/office/drawing/2014/main" id="{47310D24-B689-4E89-D9AE-7DA236F75BE0}"/>
              </a:ext>
            </a:extLst>
          </p:cNvPr>
          <p:cNvPicPr>
            <a:picLocks noChangeAspect="1"/>
          </p:cNvPicPr>
          <p:nvPr/>
        </p:nvPicPr>
        <p:blipFill>
          <a:blip r:embed="rId13"/>
          <a:stretch>
            <a:fillRect/>
          </a:stretch>
        </p:blipFill>
        <p:spPr>
          <a:xfrm>
            <a:off x="12563187" y="6838756"/>
            <a:ext cx="2067213" cy="1390844"/>
          </a:xfrm>
          <a:prstGeom prst="rect">
            <a:avLst/>
          </a:prstGeom>
        </p:spPr>
      </p:pic>
      <p:sp>
        <p:nvSpPr>
          <p:cNvPr id="34" name="ZoneTexte 33">
            <a:extLst>
              <a:ext uri="{FF2B5EF4-FFF2-40B4-BE49-F238E27FC236}">
                <a16:creationId xmlns:a16="http://schemas.microsoft.com/office/drawing/2014/main" id="{823FE04E-AA2C-8444-5C0D-035C09C959E6}"/>
              </a:ext>
            </a:extLst>
          </p:cNvPr>
          <p:cNvSpPr txBox="1"/>
          <p:nvPr/>
        </p:nvSpPr>
        <p:spPr>
          <a:xfrm>
            <a:off x="6546273" y="7782790"/>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a:ea typeface="Calibri"/>
                <a:cs typeface="Calibri"/>
              </a:rPr>
              <a:t>6</a:t>
            </a:r>
            <a:endParaRPr lang="fr-F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2828211" y="390168"/>
            <a:ext cx="1964293" cy="281702"/>
          </a:xfrm>
          <a:prstGeom prst="roundRect">
            <a:avLst>
              <a:gd name="adj" fmla="val 36264"/>
            </a:avLst>
          </a:prstGeom>
          <a:noFill/>
          <a:ln w="7620">
            <a:solidFill>
              <a:srgbClr val="438951"/>
            </a:solidFill>
            <a:prstDash val="solid"/>
          </a:ln>
        </p:spPr>
        <p:txBody>
          <a:bodyPr/>
          <a:lstStyle/>
          <a:p>
            <a:endParaRPr lang="fr-FR">
              <a:latin typeface="Arial Rounded MT Bold" panose="020F0704030504030204" pitchFamily="34" charset="0"/>
            </a:endParaRPr>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20841" y="474226"/>
            <a:ext cx="113467" cy="113467"/>
          </a:xfrm>
          <a:prstGeom prst="rect">
            <a:avLst/>
          </a:prstGeom>
        </p:spPr>
      </p:pic>
      <p:sp>
        <p:nvSpPr>
          <p:cNvPr id="4" name="Text 1"/>
          <p:cNvSpPr/>
          <p:nvPr/>
        </p:nvSpPr>
        <p:spPr>
          <a:xfrm>
            <a:off x="3090982" y="440293"/>
            <a:ext cx="1608892" cy="181451"/>
          </a:xfrm>
          <a:prstGeom prst="rect">
            <a:avLst/>
          </a:prstGeom>
          <a:noFill/>
          <a:ln/>
        </p:spPr>
        <p:txBody>
          <a:bodyPr wrap="none" lIns="0" tIns="0" rIns="0" bIns="0" rtlCol="0" anchor="t"/>
          <a:lstStyle/>
          <a:p>
            <a:pPr marL="0" indent="0" algn="l">
              <a:lnSpc>
                <a:spcPts val="1400"/>
              </a:lnSpc>
              <a:buNone/>
            </a:pPr>
            <a:r>
              <a:rPr lang="en-US" sz="850">
                <a:solidFill>
                  <a:srgbClr val="438951"/>
                </a:solidFill>
                <a:latin typeface="Arial Rounded MT Bold" panose="020F0704030504030204" pitchFamily="34" charset="0"/>
                <a:ea typeface="Nobile" pitchFamily="34" charset="-122"/>
                <a:cs typeface="Nobile" pitchFamily="34" charset="-120"/>
              </a:rPr>
              <a:t>ATTAQUES VOLUMÉTRIQUES</a:t>
            </a:r>
            <a:endParaRPr lang="en-US" sz="850">
              <a:latin typeface="Arial Rounded MT Bold" panose="020F0704030504030204" pitchFamily="34" charset="0"/>
            </a:endParaRPr>
          </a:p>
        </p:txBody>
      </p:sp>
      <p:sp>
        <p:nvSpPr>
          <p:cNvPr id="5" name="Text 2"/>
          <p:cNvSpPr/>
          <p:nvPr/>
        </p:nvSpPr>
        <p:spPr>
          <a:xfrm>
            <a:off x="2828211" y="728543"/>
            <a:ext cx="4518660" cy="443270"/>
          </a:xfrm>
          <a:prstGeom prst="rect">
            <a:avLst/>
          </a:prstGeom>
          <a:noFill/>
          <a:ln/>
        </p:spPr>
        <p:txBody>
          <a:bodyPr wrap="none" lIns="0" tIns="0" rIns="0" bIns="0" rtlCol="0" anchor="t"/>
          <a:lstStyle/>
          <a:p>
            <a:pPr marL="0" indent="0" algn="l">
              <a:lnSpc>
                <a:spcPts val="3450"/>
              </a:lnSpc>
              <a:buNone/>
            </a:pPr>
            <a:r>
              <a:rPr lang="en-US" sz="2750" b="1">
                <a:solidFill>
                  <a:srgbClr val="3B4540"/>
                </a:solidFill>
                <a:latin typeface="Arial Rounded MT Bold" panose="020F0704030504030204" pitchFamily="34" charset="0"/>
                <a:ea typeface="Fraunces Extra Bold" pitchFamily="34" charset="-122"/>
                <a:cs typeface="Fraunces Extra Bold" pitchFamily="34" charset="-120"/>
              </a:rPr>
              <a:t>UDP Flood et ICMP Flood</a:t>
            </a:r>
            <a:endParaRPr lang="en-US" sz="2750">
              <a:latin typeface="Arial Rounded MT Bold" panose="020F0704030504030204" pitchFamily="34" charset="0"/>
            </a:endParaRPr>
          </a:p>
        </p:txBody>
      </p:sp>
      <p:sp>
        <p:nvSpPr>
          <p:cNvPr id="6" name="Text 3"/>
          <p:cNvSpPr/>
          <p:nvPr/>
        </p:nvSpPr>
        <p:spPr>
          <a:xfrm>
            <a:off x="2828211" y="1384578"/>
            <a:ext cx="8973979" cy="681157"/>
          </a:xfrm>
          <a:prstGeom prst="rect">
            <a:avLst/>
          </a:prstGeom>
          <a:noFill/>
          <a:ln/>
        </p:spPr>
        <p:txBody>
          <a:bodyPr wrap="square" lIns="0" tIns="0" rIns="0" bIns="0" rtlCol="0" anchor="t"/>
          <a:lstStyle/>
          <a:p>
            <a:pPr marL="0" indent="0" algn="l">
              <a:lnSpc>
                <a:spcPts val="1750"/>
              </a:lnSpc>
              <a:buNone/>
            </a:pPr>
            <a:r>
              <a:rPr lang="en-US" sz="1100">
                <a:solidFill>
                  <a:srgbClr val="405449"/>
                </a:solidFill>
                <a:latin typeface="Arial Rounded MT Bold" panose="020F0704030504030204" pitchFamily="34" charset="0"/>
                <a:ea typeface="Nobile" pitchFamily="34" charset="-122"/>
                <a:cs typeface="Nobile" pitchFamily="34" charset="-120"/>
              </a:rPr>
              <a:t>Les attaques volumétriques créent une saturation en consommant toute la bande passante disponible. Au T2 2025, Cloudflare a bloqué plus de 6 500 attaques hyper-volumétriques, avec une moyenne de 71 attaques par jour dépassant 1 milliard de paquets par seconde.</a:t>
            </a:r>
            <a:endParaRPr lang="en-US" sz="1100">
              <a:latin typeface="Arial Rounded MT Bold" panose="020F0704030504030204" pitchFamily="34" charset="0"/>
            </a:endParaRPr>
          </a:p>
        </p:txBody>
      </p:sp>
      <p:sp>
        <p:nvSpPr>
          <p:cNvPr id="7" name="Shape 4"/>
          <p:cNvSpPr/>
          <p:nvPr/>
        </p:nvSpPr>
        <p:spPr>
          <a:xfrm>
            <a:off x="2828211" y="2384822"/>
            <a:ext cx="4313992" cy="2690455"/>
          </a:xfrm>
          <a:prstGeom prst="roundRect">
            <a:avLst>
              <a:gd name="adj" fmla="val 4746"/>
            </a:avLst>
          </a:prstGeom>
          <a:solidFill>
            <a:srgbClr val="E8F3E8"/>
          </a:solidFill>
          <a:ln/>
        </p:spPr>
        <p:txBody>
          <a:bodyPr/>
          <a:lstStyle/>
          <a:p>
            <a:endParaRPr lang="fr-FR">
              <a:latin typeface="Arial Rounded MT Bold" panose="020F0704030504030204" pitchFamily="34" charset="0"/>
            </a:endParaRPr>
          </a:p>
        </p:txBody>
      </p:sp>
      <p:sp>
        <p:nvSpPr>
          <p:cNvPr id="8" name="Text 5"/>
          <p:cNvSpPr/>
          <p:nvPr/>
        </p:nvSpPr>
        <p:spPr>
          <a:xfrm>
            <a:off x="2970014" y="2526625"/>
            <a:ext cx="1773436" cy="221694"/>
          </a:xfrm>
          <a:prstGeom prst="rect">
            <a:avLst/>
          </a:prstGeom>
          <a:noFill/>
          <a:ln/>
        </p:spPr>
        <p:txBody>
          <a:bodyPr wrap="none" lIns="0" tIns="0" rIns="0" bIns="0" rtlCol="0" anchor="t"/>
          <a:lstStyle/>
          <a:p>
            <a:pPr marL="0" indent="0" algn="l">
              <a:lnSpc>
                <a:spcPts val="1700"/>
              </a:lnSpc>
              <a:buNone/>
            </a:pPr>
            <a:r>
              <a:rPr lang="en-US" sz="1350" b="1">
                <a:solidFill>
                  <a:srgbClr val="405449"/>
                </a:solidFill>
                <a:latin typeface="Arial Rounded MT Bold" panose="020F0704030504030204" pitchFamily="34" charset="0"/>
                <a:ea typeface="Fraunces Extra Bold" pitchFamily="34" charset="-122"/>
                <a:cs typeface="Fraunces Extra Bold" pitchFamily="34" charset="-120"/>
              </a:rPr>
              <a:t>UDP Flood</a:t>
            </a:r>
            <a:endParaRPr lang="en-US" sz="1350">
              <a:latin typeface="Arial Rounded MT Bold" panose="020F0704030504030204" pitchFamily="34" charset="0"/>
            </a:endParaRPr>
          </a:p>
        </p:txBody>
      </p:sp>
      <p:sp>
        <p:nvSpPr>
          <p:cNvPr id="9" name="Text 6"/>
          <p:cNvSpPr/>
          <p:nvPr/>
        </p:nvSpPr>
        <p:spPr>
          <a:xfrm>
            <a:off x="2970014" y="2890123"/>
            <a:ext cx="4030385" cy="908209"/>
          </a:xfrm>
          <a:prstGeom prst="rect">
            <a:avLst/>
          </a:prstGeom>
          <a:noFill/>
          <a:ln/>
        </p:spPr>
        <p:txBody>
          <a:bodyPr wrap="square" lIns="0" tIns="0" rIns="0" bIns="0" rtlCol="0" anchor="t"/>
          <a:lstStyle/>
          <a:p>
            <a:pPr marL="0" indent="0" algn="l">
              <a:lnSpc>
                <a:spcPts val="1750"/>
              </a:lnSpc>
              <a:buNone/>
            </a:pPr>
            <a:r>
              <a:rPr lang="en-US" sz="1100">
                <a:solidFill>
                  <a:srgbClr val="405449"/>
                </a:solidFill>
                <a:latin typeface="Arial Rounded MT Bold" panose="020F0704030504030204" pitchFamily="34" charset="0"/>
                <a:ea typeface="Nobile" pitchFamily="34" charset="-122"/>
                <a:cs typeface="Nobile" pitchFamily="34" charset="-120"/>
              </a:rPr>
              <a:t>Envoi massif de paquets UDP vers des ports inutilisés. Le serveur doit générer un paquet ICMP de réponse pour chaque requête, atteignant rapidement sa capacité de traitement.</a:t>
            </a:r>
            <a:endParaRPr lang="en-US" sz="1100">
              <a:latin typeface="Arial Rounded MT Bold" panose="020F0704030504030204" pitchFamily="34" charset="0"/>
            </a:endParaRPr>
          </a:p>
        </p:txBody>
      </p:sp>
      <p:sp>
        <p:nvSpPr>
          <p:cNvPr id="10" name="Text 7"/>
          <p:cNvSpPr/>
          <p:nvPr/>
        </p:nvSpPr>
        <p:spPr>
          <a:xfrm>
            <a:off x="2970014" y="3925967"/>
            <a:ext cx="4030385" cy="227052"/>
          </a:xfrm>
          <a:prstGeom prst="rect">
            <a:avLst/>
          </a:prstGeom>
          <a:noFill/>
          <a:ln/>
        </p:spPr>
        <p:txBody>
          <a:bodyPr wrap="none" lIns="0" tIns="0" rIns="0" bIns="0" rtlCol="0" anchor="t"/>
          <a:lstStyle/>
          <a:p>
            <a:pPr marL="342900" indent="-342900" algn="l">
              <a:lnSpc>
                <a:spcPts val="1750"/>
              </a:lnSpc>
              <a:buSzPct val="100000"/>
              <a:buChar char="•"/>
            </a:pPr>
            <a:r>
              <a:rPr lang="en-US" sz="1100">
                <a:solidFill>
                  <a:srgbClr val="405449"/>
                </a:solidFill>
                <a:latin typeface="Arial Rounded MT Bold" panose="020F0704030504030204" pitchFamily="34" charset="0"/>
                <a:ea typeface="Nobile" pitchFamily="34" charset="-122"/>
                <a:cs typeface="Nobile" pitchFamily="34" charset="-120"/>
              </a:rPr>
              <a:t>Cible les ports sans programme en écoute</a:t>
            </a:r>
            <a:endParaRPr lang="en-US" sz="1100">
              <a:latin typeface="Arial Rounded MT Bold" panose="020F0704030504030204" pitchFamily="34" charset="0"/>
            </a:endParaRPr>
          </a:p>
        </p:txBody>
      </p:sp>
      <p:sp>
        <p:nvSpPr>
          <p:cNvPr id="11" name="Text 8"/>
          <p:cNvSpPr/>
          <p:nvPr/>
        </p:nvSpPr>
        <p:spPr>
          <a:xfrm>
            <a:off x="2970014" y="4202668"/>
            <a:ext cx="4030385" cy="454104"/>
          </a:xfrm>
          <a:prstGeom prst="rect">
            <a:avLst/>
          </a:prstGeom>
          <a:noFill/>
          <a:ln/>
        </p:spPr>
        <p:txBody>
          <a:bodyPr wrap="square" lIns="0" tIns="0" rIns="0" bIns="0" rtlCol="0" anchor="t"/>
          <a:lstStyle/>
          <a:p>
            <a:pPr marL="342900" indent="-342900" algn="l">
              <a:lnSpc>
                <a:spcPts val="1750"/>
              </a:lnSpc>
              <a:buSzPct val="100000"/>
              <a:buChar char="•"/>
            </a:pPr>
            <a:r>
              <a:rPr lang="en-US" sz="1100">
                <a:solidFill>
                  <a:srgbClr val="405449"/>
                </a:solidFill>
                <a:latin typeface="Arial Rounded MT Bold" panose="020F0704030504030204" pitchFamily="34" charset="0"/>
                <a:ea typeface="Nobile" pitchFamily="34" charset="-122"/>
                <a:cs typeface="Nobile" pitchFamily="34" charset="-120"/>
              </a:rPr>
              <a:t>Force la génération de réponses ICMP "port unreachable"</a:t>
            </a:r>
            <a:endParaRPr lang="en-US" sz="1100">
              <a:latin typeface="Arial Rounded MT Bold" panose="020F0704030504030204" pitchFamily="34" charset="0"/>
            </a:endParaRPr>
          </a:p>
        </p:txBody>
      </p:sp>
      <p:sp>
        <p:nvSpPr>
          <p:cNvPr id="12" name="Text 9"/>
          <p:cNvSpPr/>
          <p:nvPr/>
        </p:nvSpPr>
        <p:spPr>
          <a:xfrm>
            <a:off x="2970014" y="4706422"/>
            <a:ext cx="4030385" cy="227052"/>
          </a:xfrm>
          <a:prstGeom prst="rect">
            <a:avLst/>
          </a:prstGeom>
          <a:noFill/>
          <a:ln/>
        </p:spPr>
        <p:txBody>
          <a:bodyPr wrap="none" lIns="0" tIns="0" rIns="0" bIns="0" rtlCol="0" anchor="t"/>
          <a:lstStyle/>
          <a:p>
            <a:pPr marL="342900" indent="-342900" algn="l">
              <a:lnSpc>
                <a:spcPts val="1750"/>
              </a:lnSpc>
              <a:buSzPct val="100000"/>
              <a:buChar char="•"/>
            </a:pPr>
            <a:r>
              <a:rPr lang="en-US" sz="1100">
                <a:solidFill>
                  <a:srgbClr val="405449"/>
                </a:solidFill>
                <a:latin typeface="Arial Rounded MT Bold" panose="020F0704030504030204" pitchFamily="34" charset="0"/>
                <a:ea typeface="Nobile" pitchFamily="34" charset="-122"/>
                <a:cs typeface="Nobile" pitchFamily="34" charset="-120"/>
              </a:rPr>
              <a:t>Épuise les ressources du serveur cible</a:t>
            </a:r>
            <a:endParaRPr lang="en-US" sz="1100">
              <a:latin typeface="Arial Rounded MT Bold" panose="020F0704030504030204" pitchFamily="34" charset="0"/>
            </a:endParaRPr>
          </a:p>
        </p:txBody>
      </p:sp>
      <p:sp>
        <p:nvSpPr>
          <p:cNvPr id="13" name="Shape 10"/>
          <p:cNvSpPr/>
          <p:nvPr/>
        </p:nvSpPr>
        <p:spPr>
          <a:xfrm>
            <a:off x="2828211" y="5217081"/>
            <a:ext cx="4313992" cy="2463403"/>
          </a:xfrm>
          <a:prstGeom prst="roundRect">
            <a:avLst>
              <a:gd name="adj" fmla="val 5184"/>
            </a:avLst>
          </a:prstGeom>
          <a:solidFill>
            <a:srgbClr val="E8F3E8"/>
          </a:solidFill>
          <a:ln/>
        </p:spPr>
        <p:txBody>
          <a:bodyPr/>
          <a:lstStyle/>
          <a:p>
            <a:endParaRPr lang="fr-FR">
              <a:latin typeface="Arial Rounded MT Bold" panose="020F0704030504030204" pitchFamily="34" charset="0"/>
            </a:endParaRPr>
          </a:p>
        </p:txBody>
      </p:sp>
      <p:sp>
        <p:nvSpPr>
          <p:cNvPr id="14" name="Text 11"/>
          <p:cNvSpPr/>
          <p:nvPr/>
        </p:nvSpPr>
        <p:spPr>
          <a:xfrm>
            <a:off x="2970014" y="5358884"/>
            <a:ext cx="1773436" cy="221694"/>
          </a:xfrm>
          <a:prstGeom prst="rect">
            <a:avLst/>
          </a:prstGeom>
          <a:noFill/>
          <a:ln/>
        </p:spPr>
        <p:txBody>
          <a:bodyPr wrap="none" lIns="0" tIns="0" rIns="0" bIns="0" rtlCol="0" anchor="t"/>
          <a:lstStyle/>
          <a:p>
            <a:pPr marL="0" indent="0" algn="l">
              <a:lnSpc>
                <a:spcPts val="1700"/>
              </a:lnSpc>
              <a:buNone/>
            </a:pPr>
            <a:r>
              <a:rPr lang="en-US" sz="1350" b="1">
                <a:solidFill>
                  <a:srgbClr val="405449"/>
                </a:solidFill>
                <a:latin typeface="Arial Rounded MT Bold" panose="020F0704030504030204" pitchFamily="34" charset="0"/>
                <a:ea typeface="Fraunces Extra Bold" pitchFamily="34" charset="-122"/>
                <a:cs typeface="Fraunces Extra Bold" pitchFamily="34" charset="-120"/>
              </a:rPr>
              <a:t>ICMP Flood</a:t>
            </a:r>
            <a:endParaRPr lang="en-US" sz="1350">
              <a:latin typeface="Arial Rounded MT Bold" panose="020F0704030504030204" pitchFamily="34" charset="0"/>
            </a:endParaRPr>
          </a:p>
        </p:txBody>
      </p:sp>
      <p:sp>
        <p:nvSpPr>
          <p:cNvPr id="15" name="Text 12"/>
          <p:cNvSpPr/>
          <p:nvPr/>
        </p:nvSpPr>
        <p:spPr>
          <a:xfrm>
            <a:off x="2970014" y="5722382"/>
            <a:ext cx="4030385" cy="908209"/>
          </a:xfrm>
          <a:prstGeom prst="rect">
            <a:avLst/>
          </a:prstGeom>
          <a:noFill/>
          <a:ln/>
        </p:spPr>
        <p:txBody>
          <a:bodyPr wrap="square" lIns="0" tIns="0" rIns="0" bIns="0" rtlCol="0" anchor="t"/>
          <a:lstStyle/>
          <a:p>
            <a:pPr marL="0" indent="0" algn="l">
              <a:lnSpc>
                <a:spcPts val="1750"/>
              </a:lnSpc>
              <a:buNone/>
            </a:pPr>
            <a:r>
              <a:rPr lang="en-US" sz="1100">
                <a:solidFill>
                  <a:srgbClr val="405449"/>
                </a:solidFill>
                <a:latin typeface="Arial Rounded MT Bold" panose="020F0704030504030204" pitchFamily="34" charset="0"/>
                <a:ea typeface="Nobile" pitchFamily="34" charset="-122"/>
                <a:cs typeface="Nobile" pitchFamily="34" charset="-120"/>
              </a:rPr>
              <a:t>Submersion du serveur par des paquets de demande d'écho ICMP avec usurpation d'adresses IP. Attaques symétriques où la bande passante reçue égale celle envoyée.</a:t>
            </a:r>
            <a:endParaRPr lang="en-US" sz="1100">
              <a:latin typeface="Arial Rounded MT Bold" panose="020F0704030504030204" pitchFamily="34" charset="0"/>
            </a:endParaRPr>
          </a:p>
        </p:txBody>
      </p:sp>
      <p:sp>
        <p:nvSpPr>
          <p:cNvPr id="16" name="Text 13"/>
          <p:cNvSpPr/>
          <p:nvPr/>
        </p:nvSpPr>
        <p:spPr>
          <a:xfrm>
            <a:off x="2970014" y="6758226"/>
            <a:ext cx="4030385" cy="227052"/>
          </a:xfrm>
          <a:prstGeom prst="rect">
            <a:avLst/>
          </a:prstGeom>
          <a:noFill/>
          <a:ln/>
        </p:spPr>
        <p:txBody>
          <a:bodyPr wrap="none" lIns="0" tIns="0" rIns="0" bIns="0" rtlCol="0" anchor="t"/>
          <a:lstStyle/>
          <a:p>
            <a:pPr marL="342900" indent="-342900" algn="l">
              <a:lnSpc>
                <a:spcPts val="1750"/>
              </a:lnSpc>
              <a:buSzPct val="100000"/>
              <a:buChar char="•"/>
            </a:pPr>
            <a:r>
              <a:rPr lang="en-US" sz="1100">
                <a:solidFill>
                  <a:srgbClr val="405449"/>
                </a:solidFill>
                <a:latin typeface="Arial Rounded MT Bold" panose="020F0704030504030204" pitchFamily="34" charset="0"/>
                <a:ea typeface="Nobile" pitchFamily="34" charset="-122"/>
                <a:cs typeface="Nobile" pitchFamily="34" charset="-120"/>
              </a:rPr>
              <a:t>Utilise requêtes ping ou traceroute</a:t>
            </a:r>
            <a:endParaRPr lang="en-US" sz="1100">
              <a:latin typeface="Arial Rounded MT Bold" panose="020F0704030504030204" pitchFamily="34" charset="0"/>
            </a:endParaRPr>
          </a:p>
        </p:txBody>
      </p:sp>
      <p:sp>
        <p:nvSpPr>
          <p:cNvPr id="17" name="Text 14"/>
          <p:cNvSpPr/>
          <p:nvPr/>
        </p:nvSpPr>
        <p:spPr>
          <a:xfrm>
            <a:off x="2970014" y="7034927"/>
            <a:ext cx="4030385" cy="227052"/>
          </a:xfrm>
          <a:prstGeom prst="rect">
            <a:avLst/>
          </a:prstGeom>
          <a:noFill/>
          <a:ln/>
        </p:spPr>
        <p:txBody>
          <a:bodyPr wrap="none" lIns="0" tIns="0" rIns="0" bIns="0" rtlCol="0" anchor="t"/>
          <a:lstStyle/>
          <a:p>
            <a:pPr marL="342900" indent="-342900" algn="l">
              <a:lnSpc>
                <a:spcPts val="1750"/>
              </a:lnSpc>
              <a:buSzPct val="100000"/>
              <a:buChar char="•"/>
            </a:pPr>
            <a:r>
              <a:rPr lang="en-US" sz="1100">
                <a:solidFill>
                  <a:srgbClr val="405449"/>
                </a:solidFill>
                <a:latin typeface="Arial Rounded MT Bold" panose="020F0704030504030204" pitchFamily="34" charset="0"/>
                <a:ea typeface="Nobile" pitchFamily="34" charset="-122"/>
                <a:cs typeface="Nobile" pitchFamily="34" charset="-120"/>
              </a:rPr>
              <a:t>Masque la source par spoofing d'IP</a:t>
            </a:r>
            <a:endParaRPr lang="en-US" sz="1100">
              <a:latin typeface="Arial Rounded MT Bold" panose="020F0704030504030204" pitchFamily="34" charset="0"/>
            </a:endParaRPr>
          </a:p>
        </p:txBody>
      </p:sp>
      <p:sp>
        <p:nvSpPr>
          <p:cNvPr id="18" name="Text 15"/>
          <p:cNvSpPr/>
          <p:nvPr/>
        </p:nvSpPr>
        <p:spPr>
          <a:xfrm>
            <a:off x="2970014" y="7311628"/>
            <a:ext cx="4030385" cy="227052"/>
          </a:xfrm>
          <a:prstGeom prst="rect">
            <a:avLst/>
          </a:prstGeom>
          <a:noFill/>
          <a:ln/>
        </p:spPr>
        <p:txBody>
          <a:bodyPr wrap="none" lIns="0" tIns="0" rIns="0" bIns="0" rtlCol="0" anchor="t"/>
          <a:lstStyle/>
          <a:p>
            <a:pPr marL="342900" indent="-342900" algn="l">
              <a:lnSpc>
                <a:spcPts val="1750"/>
              </a:lnSpc>
              <a:buSzPct val="100000"/>
              <a:buChar char="•"/>
            </a:pPr>
            <a:r>
              <a:rPr lang="en-US" sz="1100">
                <a:solidFill>
                  <a:srgbClr val="405449"/>
                </a:solidFill>
                <a:latin typeface="Arial Rounded MT Bold" panose="020F0704030504030204" pitchFamily="34" charset="0"/>
                <a:ea typeface="Nobile" pitchFamily="34" charset="-122"/>
                <a:cs typeface="Nobile" pitchFamily="34" charset="-120"/>
              </a:rPr>
              <a:t>Bande passante = somme de tous les bots</a:t>
            </a:r>
            <a:endParaRPr lang="en-US" sz="1100">
              <a:latin typeface="Arial Rounded MT Bold" panose="020F0704030504030204" pitchFamily="34" charset="0"/>
            </a:endParaRPr>
          </a:p>
        </p:txBody>
      </p:sp>
      <p:pic>
        <p:nvPicPr>
          <p:cNvPr id="19" name="Image 1" descr="preencoded.png"/>
          <p:cNvPicPr>
            <a:picLocks noChangeAspect="1"/>
          </p:cNvPicPr>
          <p:nvPr/>
        </p:nvPicPr>
        <p:blipFill>
          <a:blip r:embed="rId5"/>
          <a:stretch>
            <a:fillRect/>
          </a:stretch>
        </p:blipFill>
        <p:spPr>
          <a:xfrm>
            <a:off x="7495818" y="3824764"/>
            <a:ext cx="4313992" cy="2415778"/>
          </a:xfrm>
          <a:prstGeom prst="rect">
            <a:avLst/>
          </a:prstGeom>
        </p:spPr>
      </p:pic>
      <p:pic>
        <p:nvPicPr>
          <p:cNvPr id="21" name="Image 20" descr="Une image contenant blanc, conception&#10;&#10;Le contenu généré par l’IA peut être incorrect.">
            <a:extLst>
              <a:ext uri="{FF2B5EF4-FFF2-40B4-BE49-F238E27FC236}">
                <a16:creationId xmlns:a16="http://schemas.microsoft.com/office/drawing/2014/main" id="{928F7276-FECD-B46F-8D57-77E6E2287D29}"/>
              </a:ext>
            </a:extLst>
          </p:cNvPr>
          <p:cNvPicPr>
            <a:picLocks noChangeAspect="1"/>
          </p:cNvPicPr>
          <p:nvPr/>
        </p:nvPicPr>
        <p:blipFill>
          <a:blip r:embed="rId6"/>
          <a:stretch>
            <a:fillRect/>
          </a:stretch>
        </p:blipFill>
        <p:spPr>
          <a:xfrm>
            <a:off x="12503312" y="6791220"/>
            <a:ext cx="2067213" cy="1390844"/>
          </a:xfrm>
          <a:prstGeom prst="rect">
            <a:avLst/>
          </a:prstGeom>
        </p:spPr>
      </p:pic>
      <p:sp>
        <p:nvSpPr>
          <p:cNvPr id="20" name="ZoneTexte 19">
            <a:extLst>
              <a:ext uri="{FF2B5EF4-FFF2-40B4-BE49-F238E27FC236}">
                <a16:creationId xmlns:a16="http://schemas.microsoft.com/office/drawing/2014/main" id="{AA150C83-2F73-5DE3-E9D9-6F157C9B9C27}"/>
              </a:ext>
            </a:extLst>
          </p:cNvPr>
          <p:cNvSpPr txBox="1"/>
          <p:nvPr/>
        </p:nvSpPr>
        <p:spPr>
          <a:xfrm>
            <a:off x="7143750" y="7819159"/>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a:ea typeface="Calibri"/>
                <a:cs typeface="Calibri"/>
              </a:rPr>
              <a:t>7</a:t>
            </a:r>
            <a:endParaRPr lang="fr-F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2885599" y="609957"/>
            <a:ext cx="1234559" cy="263009"/>
          </a:xfrm>
          <a:prstGeom prst="roundRect">
            <a:avLst>
              <a:gd name="adj" fmla="val 38344"/>
            </a:avLst>
          </a:prstGeom>
          <a:solidFill>
            <a:srgbClr val="DDEEE0"/>
          </a:solidFill>
          <a:ln/>
        </p:spPr>
        <p:txBody>
          <a:bodyPr/>
          <a:lstStyle/>
          <a:p>
            <a:endParaRPr lang="fr-FR">
              <a:latin typeface="Arial Rounded MT Bold" panose="020F0704030504030204" pitchFamily="34" charset="0"/>
            </a:endParaRPr>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69538" y="685443"/>
            <a:ext cx="112038" cy="112038"/>
          </a:xfrm>
          <a:prstGeom prst="rect">
            <a:avLst/>
          </a:prstGeom>
        </p:spPr>
      </p:pic>
      <p:sp>
        <p:nvSpPr>
          <p:cNvPr id="4" name="Text 1"/>
          <p:cNvSpPr/>
          <p:nvPr/>
        </p:nvSpPr>
        <p:spPr>
          <a:xfrm>
            <a:off x="3137535" y="651867"/>
            <a:ext cx="898684" cy="179189"/>
          </a:xfrm>
          <a:prstGeom prst="rect">
            <a:avLst/>
          </a:prstGeom>
          <a:noFill/>
          <a:ln/>
        </p:spPr>
        <p:txBody>
          <a:bodyPr wrap="none" lIns="0" tIns="0" rIns="0" bIns="0" rtlCol="0" anchor="t"/>
          <a:lstStyle/>
          <a:p>
            <a:pPr marL="0" indent="0" algn="l">
              <a:lnSpc>
                <a:spcPts val="1400"/>
              </a:lnSpc>
              <a:buNone/>
            </a:pPr>
            <a:r>
              <a:rPr lang="en-US" sz="850">
                <a:solidFill>
                  <a:srgbClr val="405449"/>
                </a:solidFill>
                <a:latin typeface="Arial Rounded MT Bold" panose="020F0704030504030204" pitchFamily="34" charset="0"/>
                <a:ea typeface="Nobile" pitchFamily="34" charset="-122"/>
                <a:cs typeface="Nobile" pitchFamily="34" charset="-120"/>
              </a:rPr>
              <a:t>AMPLIFICATION</a:t>
            </a:r>
            <a:endParaRPr lang="en-US" sz="850">
              <a:latin typeface="Arial Rounded MT Bold" panose="020F0704030504030204" pitchFamily="34" charset="0"/>
            </a:endParaRPr>
          </a:p>
        </p:txBody>
      </p:sp>
      <p:sp>
        <p:nvSpPr>
          <p:cNvPr id="5" name="Text 2"/>
          <p:cNvSpPr/>
          <p:nvPr/>
        </p:nvSpPr>
        <p:spPr>
          <a:xfrm>
            <a:off x="2885599" y="928926"/>
            <a:ext cx="5699284" cy="437674"/>
          </a:xfrm>
          <a:prstGeom prst="rect">
            <a:avLst/>
          </a:prstGeom>
          <a:noFill/>
          <a:ln/>
        </p:spPr>
        <p:txBody>
          <a:bodyPr wrap="none" lIns="0" tIns="0" rIns="0" bIns="0" rtlCol="0" anchor="t"/>
          <a:lstStyle/>
          <a:p>
            <a:pPr marL="0" indent="0" algn="l">
              <a:lnSpc>
                <a:spcPts val="3400"/>
              </a:lnSpc>
              <a:buNone/>
            </a:pPr>
            <a:r>
              <a:rPr lang="en-US" sz="2750" b="1">
                <a:solidFill>
                  <a:srgbClr val="3B4540"/>
                </a:solidFill>
                <a:latin typeface="Arial Rounded MT Bold" panose="020F0704030504030204" pitchFamily="34" charset="0"/>
                <a:ea typeface="Fraunces Extra Bold" pitchFamily="34" charset="-122"/>
                <a:cs typeface="Fraunces Extra Bold" pitchFamily="34" charset="-120"/>
              </a:rPr>
              <a:t>Attaques par Amplification DNS</a:t>
            </a:r>
            <a:endParaRPr lang="en-US" sz="2750">
              <a:latin typeface="Arial Rounded MT Bold" panose="020F0704030504030204" pitchFamily="34" charset="0"/>
            </a:endParaRPr>
          </a:p>
        </p:txBody>
      </p:sp>
      <p:sp>
        <p:nvSpPr>
          <p:cNvPr id="6" name="Text 3"/>
          <p:cNvSpPr/>
          <p:nvPr/>
        </p:nvSpPr>
        <p:spPr>
          <a:xfrm>
            <a:off x="2885599" y="1576626"/>
            <a:ext cx="8859083" cy="671870"/>
          </a:xfrm>
          <a:prstGeom prst="rect">
            <a:avLst/>
          </a:prstGeom>
          <a:noFill/>
          <a:ln/>
        </p:spPr>
        <p:txBody>
          <a:bodyPr wrap="square" lIns="0" tIns="0" rIns="0" bIns="0" rtlCol="0" anchor="t"/>
          <a:lstStyle/>
          <a:p>
            <a:pPr marL="0" indent="0" algn="l">
              <a:lnSpc>
                <a:spcPts val="1750"/>
              </a:lnSpc>
              <a:buNone/>
            </a:pPr>
            <a:r>
              <a:rPr lang="en-US" sz="1100">
                <a:solidFill>
                  <a:srgbClr val="405449"/>
                </a:solidFill>
                <a:latin typeface="Arial Rounded MT Bold" panose="020F0704030504030204" pitchFamily="34" charset="0"/>
                <a:ea typeface="Nobile" pitchFamily="34" charset="-122"/>
                <a:cs typeface="Nobile" pitchFamily="34" charset="-120"/>
              </a:rPr>
              <a:t>Les attaques par amplification DNS exploitent les résolveurs DNS ouverts pour démultiplier la puissance de frappe. Une petite requête génère une réponse massivement plus volumineuse, permettant à un attaquant disposant de ressources limitées de paralyser des réseaux entiers.</a:t>
            </a:r>
            <a:endParaRPr lang="en-US" sz="1100">
              <a:latin typeface="Arial Rounded MT Bold" panose="020F0704030504030204" pitchFamily="34" charset="0"/>
            </a:endParaRPr>
          </a:p>
        </p:txBody>
      </p:sp>
      <p:sp>
        <p:nvSpPr>
          <p:cNvPr id="7" name="Shape 4"/>
          <p:cNvSpPr/>
          <p:nvPr/>
        </p:nvSpPr>
        <p:spPr>
          <a:xfrm>
            <a:off x="2885599" y="3716893"/>
            <a:ext cx="8859083" cy="15240"/>
          </a:xfrm>
          <a:prstGeom prst="roundRect">
            <a:avLst>
              <a:gd name="adj" fmla="val 827160"/>
            </a:avLst>
          </a:prstGeom>
          <a:solidFill>
            <a:srgbClr val="CED9CE"/>
          </a:solidFill>
          <a:ln/>
        </p:spPr>
        <p:txBody>
          <a:bodyPr/>
          <a:lstStyle/>
          <a:p>
            <a:endParaRPr lang="fr-FR">
              <a:latin typeface="Arial Rounded MT Bold" panose="020F0704030504030204" pitchFamily="34" charset="0"/>
            </a:endParaRPr>
          </a:p>
        </p:txBody>
      </p:sp>
      <p:sp>
        <p:nvSpPr>
          <p:cNvPr id="8" name="Shape 5"/>
          <p:cNvSpPr/>
          <p:nvPr/>
        </p:nvSpPr>
        <p:spPr>
          <a:xfrm>
            <a:off x="4597241" y="3296722"/>
            <a:ext cx="15240" cy="420172"/>
          </a:xfrm>
          <a:prstGeom prst="roundRect">
            <a:avLst>
              <a:gd name="adj" fmla="val 827160"/>
            </a:avLst>
          </a:prstGeom>
          <a:solidFill>
            <a:srgbClr val="CED9CE"/>
          </a:solidFill>
          <a:ln/>
        </p:spPr>
        <p:txBody>
          <a:bodyPr/>
          <a:lstStyle/>
          <a:p>
            <a:endParaRPr lang="fr-FR">
              <a:latin typeface="Arial Rounded MT Bold" panose="020F0704030504030204" pitchFamily="34" charset="0"/>
            </a:endParaRPr>
          </a:p>
        </p:txBody>
      </p:sp>
      <p:sp>
        <p:nvSpPr>
          <p:cNvPr id="9" name="Shape 6"/>
          <p:cNvSpPr/>
          <p:nvPr/>
        </p:nvSpPr>
        <p:spPr>
          <a:xfrm>
            <a:off x="4447342" y="3559373"/>
            <a:ext cx="315039" cy="315039"/>
          </a:xfrm>
          <a:prstGeom prst="roundRect">
            <a:avLst>
              <a:gd name="adj" fmla="val 40014"/>
            </a:avLst>
          </a:prstGeom>
          <a:solidFill>
            <a:srgbClr val="E8F3E8"/>
          </a:solidFill>
          <a:ln/>
        </p:spPr>
        <p:txBody>
          <a:bodyPr/>
          <a:lstStyle/>
          <a:p>
            <a:endParaRPr lang="fr-FR">
              <a:latin typeface="Arial Rounded MT Bold" panose="020F0704030504030204" pitchFamily="34" charset="0"/>
            </a:endParaRPr>
          </a:p>
        </p:txBody>
      </p:sp>
      <p:sp>
        <p:nvSpPr>
          <p:cNvPr id="10" name="Text 7"/>
          <p:cNvSpPr/>
          <p:nvPr/>
        </p:nvSpPr>
        <p:spPr>
          <a:xfrm>
            <a:off x="4499848" y="3585627"/>
            <a:ext cx="210026" cy="262533"/>
          </a:xfrm>
          <a:prstGeom prst="rect">
            <a:avLst/>
          </a:prstGeom>
          <a:noFill/>
          <a:ln/>
        </p:spPr>
        <p:txBody>
          <a:bodyPr wrap="none" lIns="0" tIns="0" rIns="0" bIns="0" rtlCol="0" anchor="t"/>
          <a:lstStyle/>
          <a:p>
            <a:pPr marL="0" indent="0" algn="ctr">
              <a:lnSpc>
                <a:spcPts val="1650"/>
              </a:lnSpc>
              <a:buNone/>
            </a:pPr>
            <a:r>
              <a:rPr lang="en-US" sz="1650" b="1">
                <a:solidFill>
                  <a:srgbClr val="405449"/>
                </a:solidFill>
                <a:latin typeface="Arial Rounded MT Bold" panose="020F0704030504030204" pitchFamily="34" charset="0"/>
                <a:ea typeface="Fraunces Extra Bold" pitchFamily="34" charset="-122"/>
                <a:cs typeface="Fraunces Extra Bold" pitchFamily="34" charset="-120"/>
              </a:rPr>
              <a:t>1</a:t>
            </a:r>
            <a:endParaRPr lang="en-US" sz="1650">
              <a:latin typeface="Arial Rounded MT Bold" panose="020F0704030504030204" pitchFamily="34" charset="0"/>
            </a:endParaRPr>
          </a:p>
        </p:txBody>
      </p:sp>
      <p:sp>
        <p:nvSpPr>
          <p:cNvPr id="11" name="Text 8"/>
          <p:cNvSpPr/>
          <p:nvPr/>
        </p:nvSpPr>
        <p:spPr>
          <a:xfrm>
            <a:off x="3666768" y="2406015"/>
            <a:ext cx="1876068" cy="218837"/>
          </a:xfrm>
          <a:prstGeom prst="rect">
            <a:avLst/>
          </a:prstGeom>
          <a:noFill/>
          <a:ln/>
        </p:spPr>
        <p:txBody>
          <a:bodyPr wrap="none" lIns="0" tIns="0" rIns="0" bIns="0" rtlCol="0" anchor="t"/>
          <a:lstStyle/>
          <a:p>
            <a:pPr marL="0" indent="0" algn="ctr">
              <a:lnSpc>
                <a:spcPts val="1700"/>
              </a:lnSpc>
              <a:buNone/>
            </a:pPr>
            <a:r>
              <a:rPr lang="en-US" sz="1350" b="1">
                <a:solidFill>
                  <a:srgbClr val="405449"/>
                </a:solidFill>
                <a:latin typeface="Arial Rounded MT Bold" panose="020F0704030504030204" pitchFamily="34" charset="0"/>
                <a:ea typeface="Fraunces Extra Bold" pitchFamily="34" charset="-122"/>
                <a:cs typeface="Fraunces Extra Bold" pitchFamily="34" charset="-120"/>
              </a:rPr>
              <a:t>Émission de requêtes</a:t>
            </a:r>
            <a:endParaRPr lang="en-US" sz="1350">
              <a:latin typeface="Arial Rounded MT Bold" panose="020F0704030504030204" pitchFamily="34" charset="0"/>
            </a:endParaRPr>
          </a:p>
        </p:txBody>
      </p:sp>
      <p:sp>
        <p:nvSpPr>
          <p:cNvPr id="12" name="Text 9"/>
          <p:cNvSpPr/>
          <p:nvPr/>
        </p:nvSpPr>
        <p:spPr>
          <a:xfrm>
            <a:off x="3025616" y="2708791"/>
            <a:ext cx="3158490" cy="447913"/>
          </a:xfrm>
          <a:prstGeom prst="rect">
            <a:avLst/>
          </a:prstGeom>
          <a:noFill/>
          <a:ln/>
        </p:spPr>
        <p:txBody>
          <a:bodyPr wrap="square" lIns="0" tIns="0" rIns="0" bIns="0" rtlCol="0" anchor="t"/>
          <a:lstStyle/>
          <a:p>
            <a:pPr marL="0" indent="0" algn="ctr">
              <a:lnSpc>
                <a:spcPts val="1750"/>
              </a:lnSpc>
              <a:buNone/>
            </a:pPr>
            <a:r>
              <a:rPr lang="en-US" sz="1100">
                <a:solidFill>
                  <a:srgbClr val="405449"/>
                </a:solidFill>
                <a:latin typeface="Arial Rounded MT Bold" panose="020F0704030504030204" pitchFamily="34" charset="0"/>
                <a:ea typeface="Nobile" pitchFamily="34" charset="-122"/>
                <a:cs typeface="Nobile" pitchFamily="34" charset="-120"/>
              </a:rPr>
              <a:t>Paquets UDP avec adresse IP source usurpée (spoofing) remplacée par celle de la victime</a:t>
            </a:r>
            <a:endParaRPr lang="en-US" sz="1100">
              <a:latin typeface="Arial Rounded MT Bold" panose="020F0704030504030204" pitchFamily="34" charset="0"/>
            </a:endParaRPr>
          </a:p>
        </p:txBody>
      </p:sp>
      <p:sp>
        <p:nvSpPr>
          <p:cNvPr id="13" name="Shape 10"/>
          <p:cNvSpPr/>
          <p:nvPr/>
        </p:nvSpPr>
        <p:spPr>
          <a:xfrm>
            <a:off x="6404015" y="3716893"/>
            <a:ext cx="15240" cy="420172"/>
          </a:xfrm>
          <a:prstGeom prst="roundRect">
            <a:avLst>
              <a:gd name="adj" fmla="val 827160"/>
            </a:avLst>
          </a:prstGeom>
          <a:solidFill>
            <a:srgbClr val="CED9CE"/>
          </a:solidFill>
          <a:ln/>
        </p:spPr>
        <p:txBody>
          <a:bodyPr/>
          <a:lstStyle/>
          <a:p>
            <a:endParaRPr lang="fr-FR">
              <a:latin typeface="Arial Rounded MT Bold" panose="020F0704030504030204" pitchFamily="34" charset="0"/>
            </a:endParaRPr>
          </a:p>
        </p:txBody>
      </p:sp>
      <p:sp>
        <p:nvSpPr>
          <p:cNvPr id="14" name="Shape 11"/>
          <p:cNvSpPr/>
          <p:nvPr/>
        </p:nvSpPr>
        <p:spPr>
          <a:xfrm>
            <a:off x="6254115" y="3559373"/>
            <a:ext cx="315039" cy="315039"/>
          </a:xfrm>
          <a:prstGeom prst="roundRect">
            <a:avLst>
              <a:gd name="adj" fmla="val 40014"/>
            </a:avLst>
          </a:prstGeom>
          <a:solidFill>
            <a:srgbClr val="E8F3E8"/>
          </a:solidFill>
          <a:ln/>
        </p:spPr>
        <p:txBody>
          <a:bodyPr/>
          <a:lstStyle/>
          <a:p>
            <a:endParaRPr lang="fr-FR">
              <a:latin typeface="Arial Rounded MT Bold" panose="020F0704030504030204" pitchFamily="34" charset="0"/>
            </a:endParaRPr>
          </a:p>
        </p:txBody>
      </p:sp>
      <p:sp>
        <p:nvSpPr>
          <p:cNvPr id="15" name="Text 12"/>
          <p:cNvSpPr/>
          <p:nvPr/>
        </p:nvSpPr>
        <p:spPr>
          <a:xfrm>
            <a:off x="6306622" y="3585627"/>
            <a:ext cx="210026" cy="262533"/>
          </a:xfrm>
          <a:prstGeom prst="rect">
            <a:avLst/>
          </a:prstGeom>
          <a:noFill/>
          <a:ln/>
        </p:spPr>
        <p:txBody>
          <a:bodyPr wrap="none" lIns="0" tIns="0" rIns="0" bIns="0" rtlCol="0" anchor="t"/>
          <a:lstStyle/>
          <a:p>
            <a:pPr marL="0" indent="0" algn="ctr">
              <a:lnSpc>
                <a:spcPts val="1650"/>
              </a:lnSpc>
              <a:buNone/>
            </a:pPr>
            <a:r>
              <a:rPr lang="en-US" sz="1650" b="1">
                <a:solidFill>
                  <a:srgbClr val="405449"/>
                </a:solidFill>
                <a:latin typeface="Arial Rounded MT Bold" panose="020F0704030504030204" pitchFamily="34" charset="0"/>
                <a:ea typeface="Fraunces Extra Bold" pitchFamily="34" charset="-122"/>
                <a:cs typeface="Fraunces Extra Bold" pitchFamily="34" charset="-120"/>
              </a:rPr>
              <a:t>2</a:t>
            </a:r>
            <a:endParaRPr lang="en-US" sz="1650">
              <a:latin typeface="Arial Rounded MT Bold" panose="020F0704030504030204" pitchFamily="34" charset="0"/>
            </a:endParaRPr>
          </a:p>
        </p:txBody>
      </p:sp>
      <p:sp>
        <p:nvSpPr>
          <p:cNvPr id="16" name="Text 13"/>
          <p:cNvSpPr/>
          <p:nvPr/>
        </p:nvSpPr>
        <p:spPr>
          <a:xfrm>
            <a:off x="5536287" y="4277082"/>
            <a:ext cx="1750814" cy="218837"/>
          </a:xfrm>
          <a:prstGeom prst="rect">
            <a:avLst/>
          </a:prstGeom>
          <a:noFill/>
          <a:ln/>
        </p:spPr>
        <p:txBody>
          <a:bodyPr wrap="none" lIns="0" tIns="0" rIns="0" bIns="0" rtlCol="0" anchor="t"/>
          <a:lstStyle/>
          <a:p>
            <a:pPr marL="0" indent="0" algn="ctr">
              <a:lnSpc>
                <a:spcPts val="1700"/>
              </a:lnSpc>
              <a:buNone/>
            </a:pPr>
            <a:r>
              <a:rPr lang="en-US" sz="1350" b="1">
                <a:solidFill>
                  <a:srgbClr val="405449"/>
                </a:solidFill>
                <a:latin typeface="Arial Rounded MT Bold" panose="020F0704030504030204" pitchFamily="34" charset="0"/>
                <a:ea typeface="Fraunces Extra Bold" pitchFamily="34" charset="-122"/>
                <a:cs typeface="Fraunces Extra Bold" pitchFamily="34" charset="-120"/>
              </a:rPr>
              <a:t>Requête maximale</a:t>
            </a:r>
            <a:endParaRPr lang="en-US" sz="1350">
              <a:latin typeface="Arial Rounded MT Bold" panose="020F0704030504030204" pitchFamily="34" charset="0"/>
            </a:endParaRPr>
          </a:p>
        </p:txBody>
      </p:sp>
      <p:sp>
        <p:nvSpPr>
          <p:cNvPr id="17" name="Text 14"/>
          <p:cNvSpPr/>
          <p:nvPr/>
        </p:nvSpPr>
        <p:spPr>
          <a:xfrm>
            <a:off x="4832390" y="4579858"/>
            <a:ext cx="3158609" cy="671870"/>
          </a:xfrm>
          <a:prstGeom prst="rect">
            <a:avLst/>
          </a:prstGeom>
          <a:noFill/>
          <a:ln/>
        </p:spPr>
        <p:txBody>
          <a:bodyPr wrap="square" lIns="0" tIns="0" rIns="0" bIns="0" rtlCol="0" anchor="t"/>
          <a:lstStyle/>
          <a:p>
            <a:pPr marL="0" indent="0" algn="ctr">
              <a:lnSpc>
                <a:spcPts val="1750"/>
              </a:lnSpc>
              <a:buNone/>
            </a:pPr>
            <a:r>
              <a:rPr lang="en-US" sz="1100">
                <a:solidFill>
                  <a:srgbClr val="405449"/>
                </a:solidFill>
                <a:latin typeface="Arial Rounded MT Bold" panose="020F0704030504030204" pitchFamily="34" charset="0"/>
                <a:ea typeface="Nobile" pitchFamily="34" charset="-122"/>
                <a:cs typeface="Nobile" pitchFamily="34" charset="-120"/>
              </a:rPr>
              <a:t>Utilisation de l'argument "ANY" pour solliciter toutes les données disponibles sur une zone DNS</a:t>
            </a:r>
            <a:endParaRPr lang="en-US" sz="1100">
              <a:latin typeface="Arial Rounded MT Bold" panose="020F0704030504030204" pitchFamily="34" charset="0"/>
            </a:endParaRPr>
          </a:p>
        </p:txBody>
      </p:sp>
      <p:sp>
        <p:nvSpPr>
          <p:cNvPr id="18" name="Shape 15"/>
          <p:cNvSpPr/>
          <p:nvPr/>
        </p:nvSpPr>
        <p:spPr>
          <a:xfrm>
            <a:off x="8210788" y="3296722"/>
            <a:ext cx="15240" cy="420172"/>
          </a:xfrm>
          <a:prstGeom prst="roundRect">
            <a:avLst>
              <a:gd name="adj" fmla="val 827160"/>
            </a:avLst>
          </a:prstGeom>
          <a:solidFill>
            <a:srgbClr val="CED9CE"/>
          </a:solidFill>
          <a:ln/>
        </p:spPr>
        <p:txBody>
          <a:bodyPr/>
          <a:lstStyle/>
          <a:p>
            <a:endParaRPr lang="fr-FR">
              <a:latin typeface="Arial Rounded MT Bold" panose="020F0704030504030204" pitchFamily="34" charset="0"/>
            </a:endParaRPr>
          </a:p>
        </p:txBody>
      </p:sp>
      <p:sp>
        <p:nvSpPr>
          <p:cNvPr id="19" name="Shape 16"/>
          <p:cNvSpPr/>
          <p:nvPr/>
        </p:nvSpPr>
        <p:spPr>
          <a:xfrm>
            <a:off x="8060888" y="3559373"/>
            <a:ext cx="315039" cy="315039"/>
          </a:xfrm>
          <a:prstGeom prst="roundRect">
            <a:avLst>
              <a:gd name="adj" fmla="val 40014"/>
            </a:avLst>
          </a:prstGeom>
          <a:solidFill>
            <a:srgbClr val="E8F3E8"/>
          </a:solidFill>
          <a:ln/>
        </p:spPr>
        <p:txBody>
          <a:bodyPr/>
          <a:lstStyle/>
          <a:p>
            <a:endParaRPr lang="fr-FR">
              <a:latin typeface="Arial Rounded MT Bold" panose="020F0704030504030204" pitchFamily="34" charset="0"/>
            </a:endParaRPr>
          </a:p>
        </p:txBody>
      </p:sp>
      <p:sp>
        <p:nvSpPr>
          <p:cNvPr id="20" name="Text 17"/>
          <p:cNvSpPr/>
          <p:nvPr/>
        </p:nvSpPr>
        <p:spPr>
          <a:xfrm>
            <a:off x="8113395" y="3585627"/>
            <a:ext cx="210026" cy="262533"/>
          </a:xfrm>
          <a:prstGeom prst="rect">
            <a:avLst/>
          </a:prstGeom>
          <a:noFill/>
          <a:ln/>
        </p:spPr>
        <p:txBody>
          <a:bodyPr wrap="none" lIns="0" tIns="0" rIns="0" bIns="0" rtlCol="0" anchor="t"/>
          <a:lstStyle/>
          <a:p>
            <a:pPr marL="0" indent="0" algn="ctr">
              <a:lnSpc>
                <a:spcPts val="1650"/>
              </a:lnSpc>
              <a:buNone/>
            </a:pPr>
            <a:r>
              <a:rPr lang="en-US" sz="1650" b="1">
                <a:solidFill>
                  <a:srgbClr val="405449"/>
                </a:solidFill>
                <a:latin typeface="Arial Rounded MT Bold" panose="020F0704030504030204" pitchFamily="34" charset="0"/>
                <a:ea typeface="Fraunces Extra Bold" pitchFamily="34" charset="-122"/>
                <a:cs typeface="Fraunces Extra Bold" pitchFamily="34" charset="-120"/>
              </a:rPr>
              <a:t>3</a:t>
            </a:r>
            <a:endParaRPr lang="en-US" sz="1650">
              <a:latin typeface="Arial Rounded MT Bold" panose="020F0704030504030204" pitchFamily="34" charset="0"/>
            </a:endParaRPr>
          </a:p>
        </p:txBody>
      </p:sp>
      <p:sp>
        <p:nvSpPr>
          <p:cNvPr id="21" name="Text 18"/>
          <p:cNvSpPr/>
          <p:nvPr/>
        </p:nvSpPr>
        <p:spPr>
          <a:xfrm>
            <a:off x="7343061" y="2406015"/>
            <a:ext cx="1750814" cy="218837"/>
          </a:xfrm>
          <a:prstGeom prst="rect">
            <a:avLst/>
          </a:prstGeom>
          <a:noFill/>
          <a:ln/>
        </p:spPr>
        <p:txBody>
          <a:bodyPr wrap="none" lIns="0" tIns="0" rIns="0" bIns="0" rtlCol="0" anchor="t"/>
          <a:lstStyle/>
          <a:p>
            <a:pPr marL="0" indent="0" algn="ctr">
              <a:lnSpc>
                <a:spcPts val="1700"/>
              </a:lnSpc>
              <a:buNone/>
            </a:pPr>
            <a:r>
              <a:rPr lang="en-US" sz="1350" b="1">
                <a:solidFill>
                  <a:srgbClr val="405449"/>
                </a:solidFill>
                <a:latin typeface="Arial Rounded MT Bold" panose="020F0704030504030204" pitchFamily="34" charset="0"/>
                <a:ea typeface="Fraunces Extra Bold" pitchFamily="34" charset="-122"/>
                <a:cs typeface="Fraunces Extra Bold" pitchFamily="34" charset="-120"/>
              </a:rPr>
              <a:t>Réponse amplifiée</a:t>
            </a:r>
            <a:endParaRPr lang="en-US" sz="1350">
              <a:latin typeface="Arial Rounded MT Bold" panose="020F0704030504030204" pitchFamily="34" charset="0"/>
            </a:endParaRPr>
          </a:p>
        </p:txBody>
      </p:sp>
      <p:sp>
        <p:nvSpPr>
          <p:cNvPr id="22" name="Text 19"/>
          <p:cNvSpPr/>
          <p:nvPr/>
        </p:nvSpPr>
        <p:spPr>
          <a:xfrm>
            <a:off x="6639163" y="2708791"/>
            <a:ext cx="3158609" cy="447913"/>
          </a:xfrm>
          <a:prstGeom prst="rect">
            <a:avLst/>
          </a:prstGeom>
          <a:noFill/>
          <a:ln/>
        </p:spPr>
        <p:txBody>
          <a:bodyPr wrap="square" lIns="0" tIns="0" rIns="0" bIns="0" rtlCol="0" anchor="t"/>
          <a:lstStyle/>
          <a:p>
            <a:pPr marL="0" indent="0" algn="ctr">
              <a:lnSpc>
                <a:spcPts val="1750"/>
              </a:lnSpc>
              <a:buNone/>
            </a:pPr>
            <a:r>
              <a:rPr lang="en-US" sz="1100">
                <a:solidFill>
                  <a:srgbClr val="405449"/>
                </a:solidFill>
                <a:latin typeface="Arial Rounded MT Bold" panose="020F0704030504030204" pitchFamily="34" charset="0"/>
                <a:ea typeface="Nobile" pitchFamily="34" charset="-122"/>
                <a:cs typeface="Nobile" pitchFamily="34" charset="-120"/>
              </a:rPr>
              <a:t>Le résolveur renvoie une réponse volumineuse vers l'adresse IP falsifiée (la victime)</a:t>
            </a:r>
            <a:endParaRPr lang="en-US" sz="1100">
              <a:latin typeface="Arial Rounded MT Bold" panose="020F0704030504030204" pitchFamily="34" charset="0"/>
            </a:endParaRPr>
          </a:p>
        </p:txBody>
      </p:sp>
      <p:sp>
        <p:nvSpPr>
          <p:cNvPr id="23" name="Shape 20"/>
          <p:cNvSpPr/>
          <p:nvPr/>
        </p:nvSpPr>
        <p:spPr>
          <a:xfrm>
            <a:off x="10017681" y="3716893"/>
            <a:ext cx="15240" cy="420172"/>
          </a:xfrm>
          <a:prstGeom prst="roundRect">
            <a:avLst>
              <a:gd name="adj" fmla="val 827160"/>
            </a:avLst>
          </a:prstGeom>
          <a:solidFill>
            <a:srgbClr val="CED9CE"/>
          </a:solidFill>
          <a:ln/>
        </p:spPr>
        <p:txBody>
          <a:bodyPr/>
          <a:lstStyle/>
          <a:p>
            <a:endParaRPr lang="fr-FR">
              <a:latin typeface="Arial Rounded MT Bold" panose="020F0704030504030204" pitchFamily="34" charset="0"/>
            </a:endParaRPr>
          </a:p>
        </p:txBody>
      </p:sp>
      <p:sp>
        <p:nvSpPr>
          <p:cNvPr id="24" name="Shape 21"/>
          <p:cNvSpPr/>
          <p:nvPr/>
        </p:nvSpPr>
        <p:spPr>
          <a:xfrm>
            <a:off x="9867781" y="3559373"/>
            <a:ext cx="315039" cy="315039"/>
          </a:xfrm>
          <a:prstGeom prst="roundRect">
            <a:avLst>
              <a:gd name="adj" fmla="val 40014"/>
            </a:avLst>
          </a:prstGeom>
          <a:solidFill>
            <a:srgbClr val="E8F3E8"/>
          </a:solidFill>
          <a:ln/>
        </p:spPr>
        <p:txBody>
          <a:bodyPr/>
          <a:lstStyle/>
          <a:p>
            <a:endParaRPr lang="fr-FR">
              <a:latin typeface="Arial Rounded MT Bold" panose="020F0704030504030204" pitchFamily="34" charset="0"/>
            </a:endParaRPr>
          </a:p>
        </p:txBody>
      </p:sp>
      <p:sp>
        <p:nvSpPr>
          <p:cNvPr id="25" name="Text 22"/>
          <p:cNvSpPr/>
          <p:nvPr/>
        </p:nvSpPr>
        <p:spPr>
          <a:xfrm>
            <a:off x="9920287" y="3585627"/>
            <a:ext cx="210026" cy="262533"/>
          </a:xfrm>
          <a:prstGeom prst="rect">
            <a:avLst/>
          </a:prstGeom>
          <a:noFill/>
          <a:ln/>
        </p:spPr>
        <p:txBody>
          <a:bodyPr wrap="none" lIns="0" tIns="0" rIns="0" bIns="0" rtlCol="0" anchor="t"/>
          <a:lstStyle/>
          <a:p>
            <a:pPr marL="0" indent="0" algn="ctr">
              <a:lnSpc>
                <a:spcPts val="1650"/>
              </a:lnSpc>
              <a:buNone/>
            </a:pPr>
            <a:r>
              <a:rPr lang="en-US" sz="1650" b="1">
                <a:solidFill>
                  <a:srgbClr val="405449"/>
                </a:solidFill>
                <a:latin typeface="Arial Rounded MT Bold" panose="020F0704030504030204" pitchFamily="34" charset="0"/>
                <a:ea typeface="Fraunces Extra Bold" pitchFamily="34" charset="-122"/>
                <a:cs typeface="Fraunces Extra Bold" pitchFamily="34" charset="-120"/>
              </a:rPr>
              <a:t>4</a:t>
            </a:r>
            <a:endParaRPr lang="en-US" sz="1650">
              <a:latin typeface="Arial Rounded MT Bold" panose="020F0704030504030204" pitchFamily="34" charset="0"/>
            </a:endParaRPr>
          </a:p>
        </p:txBody>
      </p:sp>
      <p:sp>
        <p:nvSpPr>
          <p:cNvPr id="26" name="Text 23"/>
          <p:cNvSpPr/>
          <p:nvPr/>
        </p:nvSpPr>
        <p:spPr>
          <a:xfrm>
            <a:off x="9149953" y="4277082"/>
            <a:ext cx="1750814" cy="218837"/>
          </a:xfrm>
          <a:prstGeom prst="rect">
            <a:avLst/>
          </a:prstGeom>
          <a:noFill/>
          <a:ln/>
        </p:spPr>
        <p:txBody>
          <a:bodyPr wrap="none" lIns="0" tIns="0" rIns="0" bIns="0" rtlCol="0" anchor="t"/>
          <a:lstStyle/>
          <a:p>
            <a:pPr marL="0" indent="0" algn="ctr">
              <a:lnSpc>
                <a:spcPts val="1700"/>
              </a:lnSpc>
              <a:buNone/>
            </a:pPr>
            <a:r>
              <a:rPr lang="en-US" sz="1350" b="1">
                <a:solidFill>
                  <a:srgbClr val="405449"/>
                </a:solidFill>
                <a:latin typeface="Arial Rounded MT Bold" panose="020F0704030504030204" pitchFamily="34" charset="0"/>
                <a:ea typeface="Fraunces Extra Bold" pitchFamily="34" charset="-122"/>
                <a:cs typeface="Fraunces Extra Bold" pitchFamily="34" charset="-120"/>
              </a:rPr>
              <a:t>Saturation cible</a:t>
            </a:r>
            <a:endParaRPr lang="en-US" sz="1350">
              <a:latin typeface="Arial Rounded MT Bold" panose="020F0704030504030204" pitchFamily="34" charset="0"/>
            </a:endParaRPr>
          </a:p>
        </p:txBody>
      </p:sp>
      <p:sp>
        <p:nvSpPr>
          <p:cNvPr id="27" name="Text 24"/>
          <p:cNvSpPr/>
          <p:nvPr/>
        </p:nvSpPr>
        <p:spPr>
          <a:xfrm>
            <a:off x="8446056" y="4579858"/>
            <a:ext cx="3158609" cy="671870"/>
          </a:xfrm>
          <a:prstGeom prst="rect">
            <a:avLst/>
          </a:prstGeom>
          <a:noFill/>
          <a:ln/>
        </p:spPr>
        <p:txBody>
          <a:bodyPr wrap="square" lIns="0" tIns="0" rIns="0" bIns="0" rtlCol="0" anchor="t"/>
          <a:lstStyle/>
          <a:p>
            <a:pPr marL="0" indent="0" algn="ctr">
              <a:lnSpc>
                <a:spcPts val="1750"/>
              </a:lnSpc>
              <a:buNone/>
            </a:pPr>
            <a:r>
              <a:rPr lang="en-US" sz="1100">
                <a:solidFill>
                  <a:srgbClr val="405449"/>
                </a:solidFill>
                <a:latin typeface="Arial Rounded MT Bold" panose="020F0704030504030204" pitchFamily="34" charset="0"/>
                <a:ea typeface="Nobile" pitchFamily="34" charset="-122"/>
                <a:cs typeface="Nobile" pitchFamily="34" charset="-120"/>
              </a:rPr>
              <a:t>La victime est submergée par un flot massif de données non sollicitées provenant de serveurs légitimes</a:t>
            </a:r>
            <a:endParaRPr lang="en-US" sz="1100">
              <a:latin typeface="Arial Rounded MT Bold" panose="020F0704030504030204" pitchFamily="34" charset="0"/>
            </a:endParaRPr>
          </a:p>
        </p:txBody>
      </p:sp>
      <p:sp>
        <p:nvSpPr>
          <p:cNvPr id="28" name="Text 25"/>
          <p:cNvSpPr/>
          <p:nvPr/>
        </p:nvSpPr>
        <p:spPr>
          <a:xfrm>
            <a:off x="2885599" y="5479256"/>
            <a:ext cx="4341971" cy="462201"/>
          </a:xfrm>
          <a:prstGeom prst="rect">
            <a:avLst/>
          </a:prstGeom>
          <a:noFill/>
          <a:ln/>
        </p:spPr>
        <p:txBody>
          <a:bodyPr wrap="none" lIns="0" tIns="0" rIns="0" bIns="0" rtlCol="0" anchor="t"/>
          <a:lstStyle/>
          <a:p>
            <a:pPr marL="0" indent="0" algn="ctr">
              <a:lnSpc>
                <a:spcPts val="3600"/>
              </a:lnSpc>
              <a:buNone/>
            </a:pPr>
            <a:r>
              <a:rPr lang="en-US" sz="3600" b="1">
                <a:solidFill>
                  <a:srgbClr val="405449"/>
                </a:solidFill>
                <a:latin typeface="Arial Rounded MT Bold" panose="020F0704030504030204" pitchFamily="34" charset="0"/>
                <a:ea typeface="Fraunces Extra Bold" pitchFamily="34" charset="-122"/>
                <a:cs typeface="Fraunces Extra Bold" pitchFamily="34" charset="-120"/>
              </a:rPr>
              <a:t>70x</a:t>
            </a:r>
            <a:endParaRPr lang="en-US" sz="3600">
              <a:latin typeface="Arial Rounded MT Bold" panose="020F0704030504030204" pitchFamily="34" charset="0"/>
            </a:endParaRPr>
          </a:p>
        </p:txBody>
      </p:sp>
      <p:sp>
        <p:nvSpPr>
          <p:cNvPr id="29" name="Text 26"/>
          <p:cNvSpPr/>
          <p:nvPr/>
        </p:nvSpPr>
        <p:spPr>
          <a:xfrm>
            <a:off x="4018002" y="6116479"/>
            <a:ext cx="2077045" cy="218837"/>
          </a:xfrm>
          <a:prstGeom prst="rect">
            <a:avLst/>
          </a:prstGeom>
          <a:noFill/>
          <a:ln/>
        </p:spPr>
        <p:txBody>
          <a:bodyPr wrap="none" lIns="0" tIns="0" rIns="0" bIns="0" rtlCol="0" anchor="t"/>
          <a:lstStyle/>
          <a:p>
            <a:pPr marL="0" indent="0" algn="ctr">
              <a:lnSpc>
                <a:spcPts val="1700"/>
              </a:lnSpc>
              <a:buNone/>
            </a:pPr>
            <a:r>
              <a:rPr lang="en-US" sz="1350" b="1">
                <a:solidFill>
                  <a:srgbClr val="405449"/>
                </a:solidFill>
                <a:latin typeface="Arial Rounded MT Bold" panose="020F0704030504030204" pitchFamily="34" charset="0"/>
                <a:ea typeface="Fraunces Extra Bold" pitchFamily="34" charset="-122"/>
                <a:cs typeface="Fraunces Extra Bold" pitchFamily="34" charset="-120"/>
              </a:rPr>
              <a:t>Facteur d'amplification</a:t>
            </a:r>
            <a:endParaRPr lang="en-US" sz="1350">
              <a:latin typeface="Arial Rounded MT Bold" panose="020F0704030504030204" pitchFamily="34" charset="0"/>
            </a:endParaRPr>
          </a:p>
        </p:txBody>
      </p:sp>
      <p:sp>
        <p:nvSpPr>
          <p:cNvPr id="30" name="Text 27"/>
          <p:cNvSpPr/>
          <p:nvPr/>
        </p:nvSpPr>
        <p:spPr>
          <a:xfrm>
            <a:off x="2885599" y="6419255"/>
            <a:ext cx="4341971" cy="223957"/>
          </a:xfrm>
          <a:prstGeom prst="rect">
            <a:avLst/>
          </a:prstGeom>
          <a:noFill/>
          <a:ln/>
        </p:spPr>
        <p:txBody>
          <a:bodyPr wrap="none" lIns="0" tIns="0" rIns="0" bIns="0" rtlCol="0" anchor="t"/>
          <a:lstStyle/>
          <a:p>
            <a:pPr marL="0" indent="0" algn="ctr">
              <a:lnSpc>
                <a:spcPts val="1750"/>
              </a:lnSpc>
              <a:buNone/>
            </a:pPr>
            <a:r>
              <a:rPr lang="en-US" sz="1100">
                <a:solidFill>
                  <a:srgbClr val="405449"/>
                </a:solidFill>
                <a:latin typeface="Arial Rounded MT Bold" panose="020F0704030504030204" pitchFamily="34" charset="0"/>
                <a:ea typeface="Nobile" pitchFamily="34" charset="-122"/>
                <a:cs typeface="Nobile" pitchFamily="34" charset="-120"/>
              </a:rPr>
              <a:t>Une requête de 60 octets génère une réponse de 4000 octets</a:t>
            </a:r>
            <a:endParaRPr lang="en-US" sz="1100">
              <a:latin typeface="Arial Rounded MT Bold" panose="020F0704030504030204" pitchFamily="34" charset="0"/>
            </a:endParaRPr>
          </a:p>
        </p:txBody>
      </p:sp>
      <p:sp>
        <p:nvSpPr>
          <p:cNvPr id="31" name="Text 28"/>
          <p:cNvSpPr/>
          <p:nvPr/>
        </p:nvSpPr>
        <p:spPr>
          <a:xfrm>
            <a:off x="7402592" y="5479256"/>
            <a:ext cx="4342090" cy="462201"/>
          </a:xfrm>
          <a:prstGeom prst="rect">
            <a:avLst/>
          </a:prstGeom>
          <a:noFill/>
          <a:ln/>
        </p:spPr>
        <p:txBody>
          <a:bodyPr wrap="none" lIns="0" tIns="0" rIns="0" bIns="0" rtlCol="0" anchor="t"/>
          <a:lstStyle/>
          <a:p>
            <a:pPr marL="0" indent="0" algn="ctr">
              <a:lnSpc>
                <a:spcPts val="3600"/>
              </a:lnSpc>
              <a:buNone/>
            </a:pPr>
            <a:r>
              <a:rPr lang="en-US" sz="3600" b="1">
                <a:solidFill>
                  <a:srgbClr val="405449"/>
                </a:solidFill>
                <a:latin typeface="Arial Rounded MT Bold" panose="020F0704030504030204" pitchFamily="34" charset="0"/>
                <a:ea typeface="Fraunces Extra Bold" pitchFamily="34" charset="-122"/>
                <a:cs typeface="Fraunces Extra Bold" pitchFamily="34" charset="-120"/>
              </a:rPr>
              <a:t>100%</a:t>
            </a:r>
            <a:endParaRPr lang="en-US" sz="3600">
              <a:latin typeface="Arial Rounded MT Bold" panose="020F0704030504030204" pitchFamily="34" charset="0"/>
            </a:endParaRPr>
          </a:p>
        </p:txBody>
      </p:sp>
      <p:sp>
        <p:nvSpPr>
          <p:cNvPr id="32" name="Text 29"/>
          <p:cNvSpPr/>
          <p:nvPr/>
        </p:nvSpPr>
        <p:spPr>
          <a:xfrm>
            <a:off x="8698230" y="6116479"/>
            <a:ext cx="1750814" cy="218837"/>
          </a:xfrm>
          <a:prstGeom prst="rect">
            <a:avLst/>
          </a:prstGeom>
          <a:noFill/>
          <a:ln/>
        </p:spPr>
        <p:txBody>
          <a:bodyPr wrap="none" lIns="0" tIns="0" rIns="0" bIns="0" rtlCol="0" anchor="t"/>
          <a:lstStyle/>
          <a:p>
            <a:pPr marL="0" indent="0" algn="ctr">
              <a:lnSpc>
                <a:spcPts val="1700"/>
              </a:lnSpc>
              <a:buNone/>
            </a:pPr>
            <a:r>
              <a:rPr lang="en-US" sz="1350" b="1">
                <a:solidFill>
                  <a:srgbClr val="405449"/>
                </a:solidFill>
                <a:latin typeface="Arial Rounded MT Bold" panose="020F0704030504030204" pitchFamily="34" charset="0"/>
                <a:ea typeface="Fraunces Extra Bold" pitchFamily="34" charset="-122"/>
                <a:cs typeface="Fraunces Extra Bold" pitchFamily="34" charset="-120"/>
              </a:rPr>
              <a:t>Anonymat garanti</a:t>
            </a:r>
            <a:endParaRPr lang="en-US" sz="1350">
              <a:latin typeface="Arial Rounded MT Bold" panose="020F0704030504030204" pitchFamily="34" charset="0"/>
            </a:endParaRPr>
          </a:p>
        </p:txBody>
      </p:sp>
      <p:sp>
        <p:nvSpPr>
          <p:cNvPr id="33" name="Text 30"/>
          <p:cNvSpPr/>
          <p:nvPr/>
        </p:nvSpPr>
        <p:spPr>
          <a:xfrm>
            <a:off x="7402592" y="6419255"/>
            <a:ext cx="4342090" cy="223957"/>
          </a:xfrm>
          <a:prstGeom prst="rect">
            <a:avLst/>
          </a:prstGeom>
          <a:noFill/>
          <a:ln/>
        </p:spPr>
        <p:txBody>
          <a:bodyPr wrap="none" lIns="0" tIns="0" rIns="0" bIns="0" rtlCol="0" anchor="t"/>
          <a:lstStyle/>
          <a:p>
            <a:pPr marL="0" indent="0" algn="ctr">
              <a:lnSpc>
                <a:spcPts val="1750"/>
              </a:lnSpc>
              <a:buNone/>
            </a:pPr>
            <a:r>
              <a:rPr lang="en-US" sz="1100">
                <a:solidFill>
                  <a:srgbClr val="405449"/>
                </a:solidFill>
                <a:latin typeface="Arial Rounded MT Bold" panose="020F0704030504030204" pitchFamily="34" charset="0"/>
                <a:ea typeface="Nobile" pitchFamily="34" charset="-122"/>
                <a:cs typeface="Nobile" pitchFamily="34" charset="-120"/>
              </a:rPr>
              <a:t>Remonter à l'origine réelle est extrêmement complexe</a:t>
            </a:r>
            <a:endParaRPr lang="en-US" sz="1100">
              <a:latin typeface="Arial Rounded MT Bold" panose="020F0704030504030204" pitchFamily="34" charset="0"/>
            </a:endParaRPr>
          </a:p>
        </p:txBody>
      </p:sp>
      <p:sp>
        <p:nvSpPr>
          <p:cNvPr id="34" name="Shape 31"/>
          <p:cNvSpPr/>
          <p:nvPr/>
        </p:nvSpPr>
        <p:spPr>
          <a:xfrm>
            <a:off x="2885599" y="6800731"/>
            <a:ext cx="8859083" cy="818912"/>
          </a:xfrm>
          <a:prstGeom prst="roundRect">
            <a:avLst>
              <a:gd name="adj" fmla="val 15393"/>
            </a:avLst>
          </a:prstGeom>
          <a:solidFill>
            <a:srgbClr val="CCE6D1"/>
          </a:solidFill>
          <a:ln/>
        </p:spPr>
        <p:txBody>
          <a:bodyPr/>
          <a:lstStyle/>
          <a:p>
            <a:endParaRPr lang="fr-FR">
              <a:latin typeface="Arial Rounded MT Bold" panose="020F0704030504030204" pitchFamily="34" charset="0"/>
            </a:endParaRPr>
          </a:p>
        </p:txBody>
      </p:sp>
      <p:pic>
        <p:nvPicPr>
          <p:cNvPr id="35" name="Image 1" descr="preencoded.png"/>
          <p:cNvPicPr>
            <a:picLocks noChangeAspect="1"/>
          </p:cNvPicPr>
          <p:nvPr/>
        </p:nvPicPr>
        <p:blipFill>
          <a:blip r:embed="rId5"/>
          <a:stretch>
            <a:fillRect/>
          </a:stretch>
        </p:blipFill>
        <p:spPr>
          <a:xfrm>
            <a:off x="3025616" y="7005638"/>
            <a:ext cx="175022" cy="140018"/>
          </a:xfrm>
          <a:prstGeom prst="rect">
            <a:avLst/>
          </a:prstGeom>
        </p:spPr>
      </p:pic>
      <p:sp>
        <p:nvSpPr>
          <p:cNvPr id="36" name="Text 32"/>
          <p:cNvSpPr/>
          <p:nvPr/>
        </p:nvSpPr>
        <p:spPr>
          <a:xfrm>
            <a:off x="3340656" y="6975753"/>
            <a:ext cx="8264009" cy="447913"/>
          </a:xfrm>
          <a:prstGeom prst="rect">
            <a:avLst/>
          </a:prstGeom>
          <a:noFill/>
          <a:ln/>
        </p:spPr>
        <p:txBody>
          <a:bodyPr wrap="square" lIns="0" tIns="0" rIns="0" bIns="0" rtlCol="0" anchor="t"/>
          <a:lstStyle/>
          <a:p>
            <a:pPr marL="0" indent="0" algn="l">
              <a:lnSpc>
                <a:spcPts val="1750"/>
              </a:lnSpc>
              <a:buNone/>
            </a:pPr>
            <a:r>
              <a:rPr lang="en-US" sz="1100" b="1">
                <a:solidFill>
                  <a:srgbClr val="000000"/>
                </a:solidFill>
                <a:latin typeface="Arial Rounded MT Bold" panose="020F0704030504030204" pitchFamily="34" charset="0"/>
                <a:ea typeface="Nobile" pitchFamily="34" charset="-122"/>
                <a:cs typeface="Nobile" pitchFamily="34" charset="-120"/>
              </a:rPr>
              <a:t>Avantages stratégiques :</a:t>
            </a:r>
            <a:r>
              <a:rPr lang="en-US" sz="1100">
                <a:solidFill>
                  <a:srgbClr val="000000"/>
                </a:solidFill>
                <a:latin typeface="Arial Rounded MT Bold" panose="020F0704030504030204" pitchFamily="34" charset="0"/>
                <a:ea typeface="Nobile" pitchFamily="34" charset="-122"/>
                <a:cs typeface="Nobile" pitchFamily="34" charset="-120"/>
              </a:rPr>
              <a:t> L'anonymat par usurpation d'adresse et l'efficacité économique transforment une simple connexion en une arme capable de générer des gigabits par seconde.</a:t>
            </a:r>
            <a:endParaRPr lang="en-US" sz="1100">
              <a:latin typeface="Arial Rounded MT Bold" panose="020F0704030504030204" pitchFamily="34" charset="0"/>
            </a:endParaRPr>
          </a:p>
        </p:txBody>
      </p:sp>
      <p:pic>
        <p:nvPicPr>
          <p:cNvPr id="38" name="Image 37" descr="Une image contenant blanc, conception&#10;&#10;Le contenu généré par l’IA peut être incorrect.">
            <a:extLst>
              <a:ext uri="{FF2B5EF4-FFF2-40B4-BE49-F238E27FC236}">
                <a16:creationId xmlns:a16="http://schemas.microsoft.com/office/drawing/2014/main" id="{DC091B56-7788-954A-B353-A8ED1E701BBF}"/>
              </a:ext>
            </a:extLst>
          </p:cNvPr>
          <p:cNvPicPr>
            <a:picLocks noChangeAspect="1"/>
          </p:cNvPicPr>
          <p:nvPr/>
        </p:nvPicPr>
        <p:blipFill>
          <a:blip r:embed="rId6"/>
          <a:stretch>
            <a:fillRect/>
          </a:stretch>
        </p:blipFill>
        <p:spPr>
          <a:xfrm>
            <a:off x="12475003" y="6800731"/>
            <a:ext cx="2067213" cy="1390844"/>
          </a:xfrm>
          <a:prstGeom prst="rect">
            <a:avLst/>
          </a:prstGeom>
        </p:spPr>
      </p:pic>
      <p:sp>
        <p:nvSpPr>
          <p:cNvPr id="37" name="ZoneTexte 36">
            <a:extLst>
              <a:ext uri="{FF2B5EF4-FFF2-40B4-BE49-F238E27FC236}">
                <a16:creationId xmlns:a16="http://schemas.microsoft.com/office/drawing/2014/main" id="{0611009B-6E06-DCE8-4D05-6EE7C630B978}"/>
              </a:ext>
            </a:extLst>
          </p:cNvPr>
          <p:cNvSpPr txBox="1"/>
          <p:nvPr/>
        </p:nvSpPr>
        <p:spPr>
          <a:xfrm>
            <a:off x="6785263" y="7772399"/>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a:ea typeface="Calibri"/>
                <a:cs typeface="Calibri"/>
              </a:rPr>
              <a:t>8</a:t>
            </a:r>
            <a:endParaRPr lang="fr-F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61405" y="599003"/>
            <a:ext cx="2646521" cy="408980"/>
          </a:xfrm>
          <a:prstGeom prst="roundRect">
            <a:avLst>
              <a:gd name="adj" fmla="val 38301"/>
            </a:avLst>
          </a:prstGeom>
          <a:solidFill>
            <a:srgbClr val="DDEEE0"/>
          </a:solidFill>
          <a:ln/>
        </p:spPr>
        <p:txBody>
          <a:bodyPr/>
          <a:lstStyle/>
          <a:p>
            <a:endParaRPr lang="fr-FR">
              <a:latin typeface="Arial Rounded MT Bold" panose="020F0704030504030204" pitchFamily="34" charset="0"/>
            </a:endParaRPr>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1897" y="716518"/>
            <a:ext cx="173950" cy="173950"/>
          </a:xfrm>
          <a:prstGeom prst="rect">
            <a:avLst/>
          </a:prstGeom>
        </p:spPr>
      </p:pic>
      <p:sp>
        <p:nvSpPr>
          <p:cNvPr id="4" name="Text 1"/>
          <p:cNvSpPr/>
          <p:nvPr/>
        </p:nvSpPr>
        <p:spPr>
          <a:xfrm>
            <a:off x="1152763" y="686921"/>
            <a:ext cx="2253139" cy="225588"/>
          </a:xfrm>
          <a:prstGeom prst="rect">
            <a:avLst/>
          </a:prstGeom>
          <a:noFill/>
          <a:ln/>
        </p:spPr>
        <p:txBody>
          <a:bodyPr wrap="none" lIns="0" tIns="0" rIns="0" bIns="0" rtlCol="0" anchor="t"/>
          <a:lstStyle/>
          <a:p>
            <a:pPr marL="0" indent="0" algn="l">
              <a:lnSpc>
                <a:spcPts val="2150"/>
              </a:lnSpc>
              <a:buNone/>
            </a:pPr>
            <a:r>
              <a:rPr lang="en-US" sz="1350">
                <a:solidFill>
                  <a:srgbClr val="405449"/>
                </a:solidFill>
                <a:latin typeface="Arial Rounded MT Bold" panose="020F0704030504030204" pitchFamily="34" charset="0"/>
                <a:ea typeface="Nobile" pitchFamily="34" charset="-122"/>
                <a:cs typeface="Nobile" pitchFamily="34" charset="-120"/>
              </a:rPr>
              <a:t>DÉFENSE PÉRIMÉTRIQUE</a:t>
            </a:r>
            <a:endParaRPr lang="en-US" sz="1350">
              <a:latin typeface="Arial Rounded MT Bold" panose="020F0704030504030204" pitchFamily="34" charset="0"/>
            </a:endParaRPr>
          </a:p>
        </p:txBody>
      </p:sp>
      <p:sp>
        <p:nvSpPr>
          <p:cNvPr id="5" name="Text 2"/>
          <p:cNvSpPr/>
          <p:nvPr/>
        </p:nvSpPr>
        <p:spPr>
          <a:xfrm>
            <a:off x="761405" y="1096804"/>
            <a:ext cx="8422600" cy="679847"/>
          </a:xfrm>
          <a:prstGeom prst="rect">
            <a:avLst/>
          </a:prstGeom>
          <a:noFill/>
          <a:ln/>
        </p:spPr>
        <p:txBody>
          <a:bodyPr wrap="none" lIns="0" tIns="0" rIns="0" bIns="0" rtlCol="0" anchor="t"/>
          <a:lstStyle/>
          <a:p>
            <a:pPr marL="0" indent="0" algn="l">
              <a:lnSpc>
                <a:spcPts val="5350"/>
              </a:lnSpc>
              <a:buNone/>
            </a:pPr>
            <a:r>
              <a:rPr lang="en-US" sz="4250" b="1">
                <a:solidFill>
                  <a:srgbClr val="3B4540"/>
                </a:solidFill>
                <a:latin typeface="Arial Rounded MT Bold" panose="020F0704030504030204" pitchFamily="34" charset="0"/>
                <a:ea typeface="Fraunces Extra Bold" pitchFamily="34" charset="-122"/>
                <a:cs typeface="Fraunces Extra Bold" pitchFamily="34" charset="-120"/>
              </a:rPr>
              <a:t>Mesures en Bordure de Réseau</a:t>
            </a:r>
            <a:endParaRPr lang="en-US" sz="4250">
              <a:latin typeface="Arial Rounded MT Bold" panose="020F0704030504030204" pitchFamily="34" charset="0"/>
            </a:endParaRPr>
          </a:p>
        </p:txBody>
      </p:sp>
      <p:sp>
        <p:nvSpPr>
          <p:cNvPr id="6" name="Text 3"/>
          <p:cNvSpPr/>
          <p:nvPr/>
        </p:nvSpPr>
        <p:spPr>
          <a:xfrm>
            <a:off x="761405" y="1863566"/>
            <a:ext cx="3752731" cy="339923"/>
          </a:xfrm>
          <a:prstGeom prst="rect">
            <a:avLst/>
          </a:prstGeom>
          <a:noFill/>
          <a:ln/>
        </p:spPr>
        <p:txBody>
          <a:bodyPr wrap="none" lIns="0" tIns="0" rIns="0" bIns="0" rtlCol="0" anchor="t"/>
          <a:lstStyle/>
          <a:p>
            <a:pPr marL="0" indent="0" algn="l">
              <a:lnSpc>
                <a:spcPts val="2650"/>
              </a:lnSpc>
              <a:buNone/>
            </a:pPr>
            <a:r>
              <a:rPr lang="en-US" sz="2100" b="1">
                <a:solidFill>
                  <a:srgbClr val="3B4540"/>
                </a:solidFill>
                <a:latin typeface="Arial Rounded MT Bold" panose="020F0704030504030204" pitchFamily="34" charset="0"/>
                <a:ea typeface="Fraunces Extra Bold" pitchFamily="34" charset="-122"/>
                <a:cs typeface="Fraunces Extra Bold" pitchFamily="34" charset="-120"/>
              </a:rPr>
              <a:t>Filtrage et Contrôle d'Accès</a:t>
            </a:r>
            <a:endParaRPr lang="en-US" sz="2100">
              <a:latin typeface="Arial Rounded MT Bold" panose="020F0704030504030204" pitchFamily="34" charset="0"/>
            </a:endParaRPr>
          </a:p>
        </p:txBody>
      </p:sp>
      <p:sp>
        <p:nvSpPr>
          <p:cNvPr id="7" name="Text 4"/>
          <p:cNvSpPr/>
          <p:nvPr/>
        </p:nvSpPr>
        <p:spPr>
          <a:xfrm>
            <a:off x="761405" y="2529721"/>
            <a:ext cx="13107591" cy="696039"/>
          </a:xfrm>
          <a:prstGeom prst="rect">
            <a:avLst/>
          </a:prstGeom>
          <a:noFill/>
          <a:ln/>
        </p:spPr>
        <p:txBody>
          <a:bodyPr wrap="square" lIns="0" tIns="0" rIns="0" bIns="0" rtlCol="0" anchor="t"/>
          <a:lstStyle/>
          <a:p>
            <a:pPr marL="0" indent="0" algn="l">
              <a:lnSpc>
                <a:spcPts val="2700"/>
              </a:lnSpc>
              <a:buNone/>
            </a:pPr>
            <a:r>
              <a:rPr lang="en-US" sz="1700">
                <a:solidFill>
                  <a:srgbClr val="405449"/>
                </a:solidFill>
                <a:latin typeface="Arial Rounded MT Bold" panose="020F0704030504030204" pitchFamily="34" charset="0"/>
                <a:ea typeface="Nobile" pitchFamily="34" charset="-122"/>
                <a:cs typeface="Nobile" pitchFamily="34" charset="-120"/>
              </a:rPr>
              <a:t>Les équipements périmétriques (routeurs, pare-feux) assurent la première ligne de défense grâce aux ACL, au </a:t>
            </a:r>
            <a:r>
              <a:rPr lang="en-US" sz="1700" i="1">
                <a:solidFill>
                  <a:srgbClr val="405449"/>
                </a:solidFill>
                <a:latin typeface="Arial Rounded MT Bold" panose="020F0704030504030204" pitchFamily="34" charset="0"/>
                <a:ea typeface="Nobile" pitchFamily="34" charset="-122"/>
                <a:cs typeface="Nobile" pitchFamily="34" charset="-120"/>
              </a:rPr>
              <a:t>rate limiting</a:t>
            </a:r>
            <a:r>
              <a:rPr lang="en-US" sz="1700">
                <a:solidFill>
                  <a:srgbClr val="405449"/>
                </a:solidFill>
                <a:latin typeface="Arial Rounded MT Bold" panose="020F0704030504030204" pitchFamily="34" charset="0"/>
                <a:ea typeface="Nobile" pitchFamily="34" charset="-122"/>
                <a:cs typeface="Nobile" pitchFamily="34" charset="-120"/>
              </a:rPr>
              <a:t> et aux règles de filtrage qui rejettent les flux malveillants dès l'entrée du système autonome.</a:t>
            </a:r>
            <a:endParaRPr lang="en-US" sz="1700">
              <a:latin typeface="Arial Rounded MT Bold" panose="020F0704030504030204" pitchFamily="34" charset="0"/>
            </a:endParaRPr>
          </a:p>
        </p:txBody>
      </p:sp>
      <p:sp>
        <p:nvSpPr>
          <p:cNvPr id="8" name="Text 5"/>
          <p:cNvSpPr/>
          <p:nvPr/>
        </p:nvSpPr>
        <p:spPr>
          <a:xfrm>
            <a:off x="761405" y="3551992"/>
            <a:ext cx="3043118" cy="339923"/>
          </a:xfrm>
          <a:prstGeom prst="rect">
            <a:avLst/>
          </a:prstGeom>
          <a:noFill/>
          <a:ln/>
        </p:spPr>
        <p:txBody>
          <a:bodyPr wrap="none" lIns="0" tIns="0" rIns="0" bIns="0" rtlCol="0" anchor="t"/>
          <a:lstStyle/>
          <a:p>
            <a:pPr marL="0" indent="0" algn="l">
              <a:lnSpc>
                <a:spcPts val="2650"/>
              </a:lnSpc>
              <a:buNone/>
            </a:pPr>
            <a:r>
              <a:rPr lang="en-US" sz="2100" b="1">
                <a:solidFill>
                  <a:srgbClr val="3B4540"/>
                </a:solidFill>
                <a:latin typeface="Arial Rounded MT Bold" panose="020F0704030504030204" pitchFamily="34" charset="0"/>
                <a:ea typeface="Fraunces Extra Bold" pitchFamily="34" charset="-122"/>
                <a:cs typeface="Fraunces Extra Bold" pitchFamily="34" charset="-120"/>
              </a:rPr>
              <a:t>Surveillance Continue</a:t>
            </a:r>
            <a:endParaRPr lang="en-US" sz="2100">
              <a:latin typeface="Arial Rounded MT Bold" panose="020F0704030504030204" pitchFamily="34" charset="0"/>
            </a:endParaRPr>
          </a:p>
        </p:txBody>
      </p:sp>
      <p:sp>
        <p:nvSpPr>
          <p:cNvPr id="9" name="Text 6"/>
          <p:cNvSpPr/>
          <p:nvPr/>
        </p:nvSpPr>
        <p:spPr>
          <a:xfrm>
            <a:off x="761405" y="4218146"/>
            <a:ext cx="13107591" cy="696039"/>
          </a:xfrm>
          <a:prstGeom prst="rect">
            <a:avLst/>
          </a:prstGeom>
          <a:noFill/>
          <a:ln/>
        </p:spPr>
        <p:txBody>
          <a:bodyPr wrap="square" lIns="0" tIns="0" rIns="0" bIns="0" rtlCol="0" anchor="t"/>
          <a:lstStyle/>
          <a:p>
            <a:pPr marL="0" indent="0" algn="l">
              <a:lnSpc>
                <a:spcPts val="2700"/>
              </a:lnSpc>
              <a:buNone/>
            </a:pPr>
            <a:r>
              <a:rPr lang="en-US" sz="1700">
                <a:solidFill>
                  <a:srgbClr val="405449"/>
                </a:solidFill>
                <a:latin typeface="Arial Rounded MT Bold" panose="020F0704030504030204" pitchFamily="34" charset="0"/>
                <a:ea typeface="Nobile" pitchFamily="34" charset="-122"/>
                <a:cs typeface="Nobile" pitchFamily="34" charset="-120"/>
              </a:rPr>
              <a:t>L'observation en temps réel de la volumétrie, des sessions simultanées et de la distribution des IP sources permet d'identifier les écarts significatifs et déclencher des réactions automatiques.</a:t>
            </a:r>
            <a:endParaRPr lang="en-US" sz="1700">
              <a:latin typeface="Arial Rounded MT Bold" panose="020F0704030504030204" pitchFamily="34" charset="0"/>
            </a:endParaRPr>
          </a:p>
        </p:txBody>
      </p:sp>
      <p:sp>
        <p:nvSpPr>
          <p:cNvPr id="10" name="Shape 7"/>
          <p:cNvSpPr/>
          <p:nvPr/>
        </p:nvSpPr>
        <p:spPr>
          <a:xfrm>
            <a:off x="761405" y="5158859"/>
            <a:ext cx="4224099" cy="2471618"/>
          </a:xfrm>
          <a:prstGeom prst="roundRect">
            <a:avLst>
              <a:gd name="adj" fmla="val 7922"/>
            </a:avLst>
          </a:prstGeom>
          <a:solidFill>
            <a:srgbClr val="E8F3E8"/>
          </a:solidFill>
          <a:ln/>
        </p:spPr>
        <p:txBody>
          <a:bodyPr/>
          <a:lstStyle/>
          <a:p>
            <a:endParaRPr lang="fr-FR">
              <a:latin typeface="Arial Rounded MT Bold" panose="020F0704030504030204" pitchFamily="34" charset="0"/>
            </a:endParaRPr>
          </a:p>
        </p:txBody>
      </p:sp>
      <p:sp>
        <p:nvSpPr>
          <p:cNvPr id="11" name="Shape 8"/>
          <p:cNvSpPr/>
          <p:nvPr/>
        </p:nvSpPr>
        <p:spPr>
          <a:xfrm>
            <a:off x="978932" y="5376386"/>
            <a:ext cx="652582" cy="652582"/>
          </a:xfrm>
          <a:prstGeom prst="roundRect">
            <a:avLst>
              <a:gd name="adj" fmla="val 14010631"/>
            </a:avLst>
          </a:prstGeom>
          <a:solidFill>
            <a:srgbClr val="438951"/>
          </a:solidFill>
          <a:ln/>
        </p:spPr>
        <p:txBody>
          <a:bodyPr/>
          <a:lstStyle/>
          <a:p>
            <a:endParaRPr lang="fr-FR">
              <a:latin typeface="Arial Rounded MT Bold" panose="020F0704030504030204" pitchFamily="34" charset="0"/>
            </a:endParaRPr>
          </a:p>
        </p:txBody>
      </p:sp>
      <p:pic>
        <p:nvPicPr>
          <p:cNvPr id="12"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58359" y="5555813"/>
            <a:ext cx="293608" cy="293608"/>
          </a:xfrm>
          <a:prstGeom prst="rect">
            <a:avLst/>
          </a:prstGeom>
        </p:spPr>
      </p:pic>
      <p:sp>
        <p:nvSpPr>
          <p:cNvPr id="13" name="Text 9"/>
          <p:cNvSpPr/>
          <p:nvPr/>
        </p:nvSpPr>
        <p:spPr>
          <a:xfrm>
            <a:off x="978932" y="6246495"/>
            <a:ext cx="2804398" cy="339923"/>
          </a:xfrm>
          <a:prstGeom prst="rect">
            <a:avLst/>
          </a:prstGeom>
          <a:noFill/>
          <a:ln/>
        </p:spPr>
        <p:txBody>
          <a:bodyPr wrap="none" lIns="0" tIns="0" rIns="0" bIns="0" rtlCol="0" anchor="t"/>
          <a:lstStyle/>
          <a:p>
            <a:pPr marL="0" indent="0" algn="l">
              <a:lnSpc>
                <a:spcPts val="2650"/>
              </a:lnSpc>
              <a:buNone/>
            </a:pPr>
            <a:r>
              <a:rPr lang="en-US" sz="2100" b="1">
                <a:solidFill>
                  <a:srgbClr val="405449"/>
                </a:solidFill>
                <a:latin typeface="Arial Rounded MT Bold" panose="020F0704030504030204" pitchFamily="34" charset="0"/>
                <a:ea typeface="Fraunces Extra Bold" pitchFamily="34" charset="-122"/>
                <a:cs typeface="Fraunces Extra Bold" pitchFamily="34" charset="-120"/>
              </a:rPr>
              <a:t>ACL &amp; Rate Limiting</a:t>
            </a:r>
            <a:endParaRPr lang="en-US" sz="2100">
              <a:latin typeface="Arial Rounded MT Bold" panose="020F0704030504030204" pitchFamily="34" charset="0"/>
            </a:endParaRPr>
          </a:p>
        </p:txBody>
      </p:sp>
      <p:sp>
        <p:nvSpPr>
          <p:cNvPr id="14" name="Text 10"/>
          <p:cNvSpPr/>
          <p:nvPr/>
        </p:nvSpPr>
        <p:spPr>
          <a:xfrm>
            <a:off x="978932" y="6716911"/>
            <a:ext cx="3789045" cy="696039"/>
          </a:xfrm>
          <a:prstGeom prst="rect">
            <a:avLst/>
          </a:prstGeom>
          <a:noFill/>
          <a:ln/>
        </p:spPr>
        <p:txBody>
          <a:bodyPr wrap="square" lIns="0" tIns="0" rIns="0" bIns="0" rtlCol="0" anchor="t"/>
          <a:lstStyle/>
          <a:p>
            <a:pPr marL="0" indent="0" algn="l">
              <a:lnSpc>
                <a:spcPts val="2700"/>
              </a:lnSpc>
              <a:buNone/>
            </a:pPr>
            <a:r>
              <a:rPr lang="en-US" sz="1700">
                <a:solidFill>
                  <a:srgbClr val="405449"/>
                </a:solidFill>
                <a:latin typeface="Arial Rounded MT Bold" panose="020F0704030504030204" pitchFamily="34" charset="0"/>
                <a:ea typeface="Nobile" pitchFamily="34" charset="-122"/>
                <a:cs typeface="Nobile" pitchFamily="34" charset="-120"/>
              </a:rPr>
              <a:t>Filtrage statique des flux non conformes</a:t>
            </a:r>
            <a:endParaRPr lang="en-US" sz="1700">
              <a:latin typeface="Arial Rounded MT Bold" panose="020F0704030504030204" pitchFamily="34" charset="0"/>
            </a:endParaRPr>
          </a:p>
        </p:txBody>
      </p:sp>
      <p:sp>
        <p:nvSpPr>
          <p:cNvPr id="15" name="Shape 11"/>
          <p:cNvSpPr/>
          <p:nvPr/>
        </p:nvSpPr>
        <p:spPr>
          <a:xfrm>
            <a:off x="5203031" y="5158859"/>
            <a:ext cx="4224218" cy="2471618"/>
          </a:xfrm>
          <a:prstGeom prst="roundRect">
            <a:avLst>
              <a:gd name="adj" fmla="val 7922"/>
            </a:avLst>
          </a:prstGeom>
          <a:solidFill>
            <a:srgbClr val="E8F3E8"/>
          </a:solidFill>
          <a:ln/>
        </p:spPr>
        <p:txBody>
          <a:bodyPr/>
          <a:lstStyle/>
          <a:p>
            <a:endParaRPr lang="fr-FR">
              <a:latin typeface="Arial Rounded MT Bold" panose="020F0704030504030204" pitchFamily="34" charset="0"/>
            </a:endParaRPr>
          </a:p>
        </p:txBody>
      </p:sp>
      <p:sp>
        <p:nvSpPr>
          <p:cNvPr id="16" name="Shape 12"/>
          <p:cNvSpPr/>
          <p:nvPr/>
        </p:nvSpPr>
        <p:spPr>
          <a:xfrm>
            <a:off x="5420558" y="5376386"/>
            <a:ext cx="652582" cy="652582"/>
          </a:xfrm>
          <a:prstGeom prst="roundRect">
            <a:avLst>
              <a:gd name="adj" fmla="val 14010631"/>
            </a:avLst>
          </a:prstGeom>
          <a:solidFill>
            <a:srgbClr val="438951"/>
          </a:solidFill>
          <a:ln/>
        </p:spPr>
        <p:txBody>
          <a:bodyPr/>
          <a:lstStyle/>
          <a:p>
            <a:endParaRPr lang="fr-FR">
              <a:latin typeface="Arial Rounded MT Bold" panose="020F0704030504030204" pitchFamily="34" charset="0"/>
            </a:endParaRPr>
          </a:p>
        </p:txBody>
      </p:sp>
      <p:pic>
        <p:nvPicPr>
          <p:cNvPr id="17"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599986" y="5555813"/>
            <a:ext cx="293608" cy="293608"/>
          </a:xfrm>
          <a:prstGeom prst="rect">
            <a:avLst/>
          </a:prstGeom>
        </p:spPr>
      </p:pic>
      <p:sp>
        <p:nvSpPr>
          <p:cNvPr id="18" name="Text 13"/>
          <p:cNvSpPr/>
          <p:nvPr/>
        </p:nvSpPr>
        <p:spPr>
          <a:xfrm>
            <a:off x="5420558" y="6246495"/>
            <a:ext cx="2999661" cy="339923"/>
          </a:xfrm>
          <a:prstGeom prst="rect">
            <a:avLst/>
          </a:prstGeom>
          <a:noFill/>
          <a:ln/>
        </p:spPr>
        <p:txBody>
          <a:bodyPr wrap="none" lIns="0" tIns="0" rIns="0" bIns="0" rtlCol="0" anchor="t"/>
          <a:lstStyle/>
          <a:p>
            <a:pPr marL="0" indent="0" algn="l">
              <a:lnSpc>
                <a:spcPts val="2650"/>
              </a:lnSpc>
              <a:buNone/>
            </a:pPr>
            <a:r>
              <a:rPr lang="en-US" sz="2100" b="1">
                <a:solidFill>
                  <a:srgbClr val="405449"/>
                </a:solidFill>
                <a:latin typeface="Arial Rounded MT Bold" panose="020F0704030504030204" pitchFamily="34" charset="0"/>
                <a:ea typeface="Fraunces Extra Bold" pitchFamily="34" charset="-122"/>
                <a:cs typeface="Fraunces Extra Bold" pitchFamily="34" charset="-120"/>
              </a:rPr>
              <a:t>Détection Dynamique</a:t>
            </a:r>
            <a:endParaRPr lang="en-US" sz="2100">
              <a:latin typeface="Arial Rounded MT Bold" panose="020F0704030504030204" pitchFamily="34" charset="0"/>
            </a:endParaRPr>
          </a:p>
        </p:txBody>
      </p:sp>
      <p:sp>
        <p:nvSpPr>
          <p:cNvPr id="19" name="Text 14"/>
          <p:cNvSpPr/>
          <p:nvPr/>
        </p:nvSpPr>
        <p:spPr>
          <a:xfrm>
            <a:off x="5420558" y="6716911"/>
            <a:ext cx="3789164" cy="696039"/>
          </a:xfrm>
          <a:prstGeom prst="rect">
            <a:avLst/>
          </a:prstGeom>
          <a:noFill/>
          <a:ln/>
        </p:spPr>
        <p:txBody>
          <a:bodyPr wrap="square" lIns="0" tIns="0" rIns="0" bIns="0" rtlCol="0" anchor="t"/>
          <a:lstStyle/>
          <a:p>
            <a:pPr marL="0" indent="0" algn="l">
              <a:lnSpc>
                <a:spcPts val="2700"/>
              </a:lnSpc>
              <a:buNone/>
            </a:pPr>
            <a:r>
              <a:rPr lang="en-US" sz="1700">
                <a:solidFill>
                  <a:srgbClr val="405449"/>
                </a:solidFill>
                <a:latin typeface="Arial Rounded MT Bold" panose="020F0704030504030204" pitchFamily="34" charset="0"/>
                <a:ea typeface="Nobile" pitchFamily="34" charset="-122"/>
                <a:cs typeface="Nobile" pitchFamily="34" charset="-120"/>
              </a:rPr>
              <a:t>Adaptation automatique des politiques</a:t>
            </a:r>
            <a:endParaRPr lang="en-US" sz="1700">
              <a:latin typeface="Arial Rounded MT Bold" panose="020F0704030504030204" pitchFamily="34" charset="0"/>
            </a:endParaRPr>
          </a:p>
        </p:txBody>
      </p:sp>
      <p:sp>
        <p:nvSpPr>
          <p:cNvPr id="20" name="Shape 15"/>
          <p:cNvSpPr/>
          <p:nvPr/>
        </p:nvSpPr>
        <p:spPr>
          <a:xfrm>
            <a:off x="9644777" y="5158859"/>
            <a:ext cx="4224218" cy="2471618"/>
          </a:xfrm>
          <a:prstGeom prst="roundRect">
            <a:avLst>
              <a:gd name="adj" fmla="val 7922"/>
            </a:avLst>
          </a:prstGeom>
          <a:solidFill>
            <a:srgbClr val="E8F3E8"/>
          </a:solidFill>
          <a:ln/>
        </p:spPr>
        <p:txBody>
          <a:bodyPr/>
          <a:lstStyle/>
          <a:p>
            <a:endParaRPr lang="fr-FR">
              <a:latin typeface="Arial Rounded MT Bold" panose="020F0704030504030204" pitchFamily="34" charset="0"/>
            </a:endParaRPr>
          </a:p>
        </p:txBody>
      </p:sp>
      <p:sp>
        <p:nvSpPr>
          <p:cNvPr id="21" name="Shape 16"/>
          <p:cNvSpPr/>
          <p:nvPr/>
        </p:nvSpPr>
        <p:spPr>
          <a:xfrm>
            <a:off x="9862304" y="5376386"/>
            <a:ext cx="652582" cy="652582"/>
          </a:xfrm>
          <a:prstGeom prst="roundRect">
            <a:avLst>
              <a:gd name="adj" fmla="val 14010631"/>
            </a:avLst>
          </a:prstGeom>
          <a:solidFill>
            <a:srgbClr val="438951"/>
          </a:solidFill>
          <a:ln/>
        </p:spPr>
        <p:txBody>
          <a:bodyPr/>
          <a:lstStyle/>
          <a:p>
            <a:endParaRPr lang="fr-FR">
              <a:latin typeface="Arial Rounded MT Bold" panose="020F0704030504030204" pitchFamily="34" charset="0"/>
            </a:endParaRPr>
          </a:p>
        </p:txBody>
      </p:sp>
      <p:pic>
        <p:nvPicPr>
          <p:cNvPr id="22"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041731" y="5555813"/>
            <a:ext cx="293608" cy="293608"/>
          </a:xfrm>
          <a:prstGeom prst="rect">
            <a:avLst/>
          </a:prstGeom>
        </p:spPr>
      </p:pic>
      <p:sp>
        <p:nvSpPr>
          <p:cNvPr id="23" name="Text 17"/>
          <p:cNvSpPr/>
          <p:nvPr/>
        </p:nvSpPr>
        <p:spPr>
          <a:xfrm>
            <a:off x="9862304" y="6246495"/>
            <a:ext cx="2719507" cy="339923"/>
          </a:xfrm>
          <a:prstGeom prst="rect">
            <a:avLst/>
          </a:prstGeom>
          <a:noFill/>
          <a:ln/>
        </p:spPr>
        <p:txBody>
          <a:bodyPr wrap="none" lIns="0" tIns="0" rIns="0" bIns="0" rtlCol="0" anchor="t"/>
          <a:lstStyle/>
          <a:p>
            <a:pPr marL="0" indent="0" algn="l">
              <a:lnSpc>
                <a:spcPts val="2650"/>
              </a:lnSpc>
              <a:buNone/>
            </a:pPr>
            <a:r>
              <a:rPr lang="en-US" sz="2100" b="1">
                <a:solidFill>
                  <a:srgbClr val="405449"/>
                </a:solidFill>
                <a:latin typeface="Arial Rounded MT Bold" panose="020F0704030504030204" pitchFamily="34" charset="0"/>
                <a:ea typeface="Fraunces Extra Bold" pitchFamily="34" charset="-122"/>
                <a:cs typeface="Fraunces Extra Bold" pitchFamily="34" charset="-120"/>
              </a:rPr>
              <a:t>Délestage RTBH</a:t>
            </a:r>
            <a:endParaRPr lang="en-US" sz="2100">
              <a:latin typeface="Arial Rounded MT Bold" panose="020F0704030504030204" pitchFamily="34" charset="0"/>
            </a:endParaRPr>
          </a:p>
        </p:txBody>
      </p:sp>
      <p:sp>
        <p:nvSpPr>
          <p:cNvPr id="24" name="Text 18"/>
          <p:cNvSpPr/>
          <p:nvPr/>
        </p:nvSpPr>
        <p:spPr>
          <a:xfrm>
            <a:off x="9862304" y="6716911"/>
            <a:ext cx="3789164" cy="696039"/>
          </a:xfrm>
          <a:prstGeom prst="rect">
            <a:avLst/>
          </a:prstGeom>
          <a:noFill/>
          <a:ln/>
        </p:spPr>
        <p:txBody>
          <a:bodyPr wrap="square" lIns="0" tIns="0" rIns="0" bIns="0" rtlCol="0" anchor="t"/>
          <a:lstStyle/>
          <a:p>
            <a:pPr marL="0" indent="0" algn="l">
              <a:lnSpc>
                <a:spcPts val="2700"/>
              </a:lnSpc>
              <a:buNone/>
            </a:pPr>
            <a:r>
              <a:rPr lang="en-US" sz="1700">
                <a:solidFill>
                  <a:srgbClr val="405449"/>
                </a:solidFill>
                <a:latin typeface="Arial Rounded MT Bold" panose="020F0704030504030204" pitchFamily="34" charset="0"/>
                <a:ea typeface="Nobile" pitchFamily="34" charset="-122"/>
                <a:cs typeface="Nobile" pitchFamily="34" charset="-120"/>
              </a:rPr>
              <a:t>Redirection vers centres de nettoyage</a:t>
            </a:r>
            <a:endParaRPr lang="en-US" sz="1700">
              <a:latin typeface="Arial Rounded MT Bold" panose="020F0704030504030204" pitchFamily="34" charset="0"/>
            </a:endParaRPr>
          </a:p>
        </p:txBody>
      </p:sp>
      <p:pic>
        <p:nvPicPr>
          <p:cNvPr id="25" name="Image 24" descr="Une image contenant blanc, conception&#10;&#10;Le contenu généré par l’IA peut être incorrect.">
            <a:extLst>
              <a:ext uri="{FF2B5EF4-FFF2-40B4-BE49-F238E27FC236}">
                <a16:creationId xmlns:a16="http://schemas.microsoft.com/office/drawing/2014/main" id="{A11B4984-C5CA-DF2E-1EDA-38F18D75B46A}"/>
              </a:ext>
            </a:extLst>
          </p:cNvPr>
          <p:cNvPicPr>
            <a:picLocks noChangeAspect="1"/>
          </p:cNvPicPr>
          <p:nvPr/>
        </p:nvPicPr>
        <p:blipFill>
          <a:blip r:embed="rId11"/>
          <a:stretch>
            <a:fillRect/>
          </a:stretch>
        </p:blipFill>
        <p:spPr>
          <a:xfrm>
            <a:off x="12137004" y="7631321"/>
            <a:ext cx="2495516" cy="598279"/>
          </a:xfrm>
          <a:prstGeom prst="rect">
            <a:avLst/>
          </a:prstGeom>
        </p:spPr>
      </p:pic>
      <p:sp>
        <p:nvSpPr>
          <p:cNvPr id="26" name="ZoneTexte 25">
            <a:extLst>
              <a:ext uri="{FF2B5EF4-FFF2-40B4-BE49-F238E27FC236}">
                <a16:creationId xmlns:a16="http://schemas.microsoft.com/office/drawing/2014/main" id="{945ED347-367D-DF09-C151-5AF9DB7E839E}"/>
              </a:ext>
            </a:extLst>
          </p:cNvPr>
          <p:cNvSpPr txBox="1"/>
          <p:nvPr/>
        </p:nvSpPr>
        <p:spPr>
          <a:xfrm>
            <a:off x="6691745" y="7803572"/>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a:ea typeface="Calibri"/>
                <a:cs typeface="Calibri"/>
              </a:rPr>
              <a:t>9</a:t>
            </a:r>
            <a:endParaRPr lang="fr-F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154311"/>
            <a:ext cx="6859548" cy="708779"/>
          </a:xfrm>
          <a:prstGeom prst="rect">
            <a:avLst/>
          </a:prstGeom>
          <a:noFill/>
          <a:ln/>
        </p:spPr>
        <p:txBody>
          <a:bodyPr wrap="none" lIns="0" tIns="0" rIns="0" bIns="0" rtlCol="0" anchor="t"/>
          <a:lstStyle/>
          <a:p>
            <a:pPr marL="0" indent="0" algn="l">
              <a:lnSpc>
                <a:spcPts val="5550"/>
              </a:lnSpc>
              <a:buNone/>
            </a:pPr>
            <a:r>
              <a:rPr lang="en-US" sz="4450" b="1">
                <a:solidFill>
                  <a:srgbClr val="3B4540"/>
                </a:solidFill>
                <a:latin typeface="Arial Rounded MT Bold" panose="020F0704030504030204" pitchFamily="34" charset="0"/>
                <a:ea typeface="Fraunces Extra Bold" pitchFamily="34" charset="-122"/>
                <a:cs typeface="Fraunces Extra Bold" pitchFamily="34" charset="-120"/>
              </a:rPr>
              <a:t>Solutions Externalisées </a:t>
            </a:r>
            <a:endParaRPr lang="en-US" sz="4450">
              <a:latin typeface="Arial Rounded MT Bold" panose="020F0704030504030204" pitchFamily="34" charset="0"/>
            </a:endParaRPr>
          </a:p>
        </p:txBody>
      </p:sp>
      <p:sp>
        <p:nvSpPr>
          <p:cNvPr id="3" name="Text 1"/>
          <p:cNvSpPr/>
          <p:nvPr/>
        </p:nvSpPr>
        <p:spPr>
          <a:xfrm>
            <a:off x="793790" y="2203252"/>
            <a:ext cx="13042821" cy="725805"/>
          </a:xfrm>
          <a:prstGeom prst="rect">
            <a:avLst/>
          </a:prstGeom>
          <a:noFill/>
          <a:ln/>
        </p:spPr>
        <p:txBody>
          <a:bodyPr wrap="square" lIns="0" tIns="0" rIns="0" bIns="0" rtlCol="0" anchor="t"/>
          <a:lstStyle/>
          <a:p>
            <a:pPr marL="0" indent="0" algn="l">
              <a:lnSpc>
                <a:spcPts val="2850"/>
              </a:lnSpc>
              <a:buNone/>
            </a:pPr>
            <a:r>
              <a:rPr lang="en-US" sz="1750">
                <a:solidFill>
                  <a:srgbClr val="405449"/>
                </a:solidFill>
                <a:latin typeface="Arial Rounded MT Bold" panose="020F0704030504030204" pitchFamily="34" charset="0"/>
                <a:ea typeface="Nobile" pitchFamily="34" charset="-122"/>
                <a:cs typeface="Nobile" pitchFamily="34" charset="-120"/>
              </a:rPr>
              <a:t>Les infrastructures de protection déportées offrent une défense robuste contre les menaces DDoS, en tirant parti de la puissance et de la flexibilité du cloud.</a:t>
            </a:r>
            <a:endParaRPr lang="en-US" sz="1750">
              <a:latin typeface="Arial Rounded MT Bold" panose="020F0704030504030204" pitchFamily="34" charset="0"/>
            </a:endParaRPr>
          </a:p>
        </p:txBody>
      </p:sp>
      <p:sp>
        <p:nvSpPr>
          <p:cNvPr id="4" name="Shape 2"/>
          <p:cNvSpPr/>
          <p:nvPr/>
        </p:nvSpPr>
        <p:spPr>
          <a:xfrm>
            <a:off x="793790" y="3184207"/>
            <a:ext cx="4196358" cy="3891082"/>
          </a:xfrm>
          <a:prstGeom prst="roundRect">
            <a:avLst>
              <a:gd name="adj" fmla="val 3760"/>
            </a:avLst>
          </a:prstGeom>
          <a:solidFill>
            <a:srgbClr val="FAFFFA"/>
          </a:solidFill>
          <a:ln w="30480">
            <a:solidFill>
              <a:srgbClr val="CED9CE"/>
            </a:solidFill>
            <a:prstDash val="solid"/>
          </a:ln>
        </p:spPr>
        <p:txBody>
          <a:bodyPr/>
          <a:lstStyle/>
          <a:p>
            <a:endParaRPr lang="fr-FR">
              <a:latin typeface="Arial Rounded MT Bold" panose="020F0704030504030204" pitchFamily="34" charset="0"/>
            </a:endParaRPr>
          </a:p>
        </p:txBody>
      </p:sp>
      <p:sp>
        <p:nvSpPr>
          <p:cNvPr id="5" name="Shape 3"/>
          <p:cNvSpPr/>
          <p:nvPr/>
        </p:nvSpPr>
        <p:spPr>
          <a:xfrm>
            <a:off x="763310" y="3184207"/>
            <a:ext cx="121920" cy="3891082"/>
          </a:xfrm>
          <a:prstGeom prst="roundRect">
            <a:avLst>
              <a:gd name="adj" fmla="val 167442"/>
            </a:avLst>
          </a:prstGeom>
          <a:solidFill>
            <a:srgbClr val="438951"/>
          </a:solidFill>
          <a:ln/>
        </p:spPr>
        <p:txBody>
          <a:bodyPr/>
          <a:lstStyle/>
          <a:p>
            <a:endParaRPr lang="fr-FR">
              <a:latin typeface="Arial Rounded MT Bold" panose="020F0704030504030204" pitchFamily="34" charset="0"/>
            </a:endParaRPr>
          </a:p>
        </p:txBody>
      </p:sp>
      <p:sp>
        <p:nvSpPr>
          <p:cNvPr id="6" name="Text 4"/>
          <p:cNvSpPr/>
          <p:nvPr/>
        </p:nvSpPr>
        <p:spPr>
          <a:xfrm>
            <a:off x="1142524" y="3441502"/>
            <a:ext cx="3590330" cy="708660"/>
          </a:xfrm>
          <a:prstGeom prst="rect">
            <a:avLst/>
          </a:prstGeom>
          <a:noFill/>
          <a:ln/>
        </p:spPr>
        <p:txBody>
          <a:bodyPr wrap="square" lIns="0" tIns="0" rIns="0" bIns="0" rtlCol="0" anchor="t"/>
          <a:lstStyle/>
          <a:p>
            <a:pPr marL="0" indent="0" algn="l">
              <a:lnSpc>
                <a:spcPts val="2750"/>
              </a:lnSpc>
              <a:buNone/>
            </a:pPr>
            <a:r>
              <a:rPr lang="en-US" sz="2200" b="1">
                <a:solidFill>
                  <a:srgbClr val="405449"/>
                </a:solidFill>
                <a:latin typeface="Arial Rounded MT Bold" panose="020F0704030504030204" pitchFamily="34" charset="0"/>
                <a:ea typeface="Fraunces Extra Bold" pitchFamily="34" charset="-122"/>
                <a:cs typeface="Fraunces Extra Bold" pitchFamily="34" charset="-120"/>
              </a:rPr>
              <a:t>Web Application Firewall (WAF)</a:t>
            </a:r>
            <a:endParaRPr lang="en-US" sz="2200">
              <a:latin typeface="Arial Rounded MT Bold" panose="020F0704030504030204" pitchFamily="34" charset="0"/>
            </a:endParaRPr>
          </a:p>
        </p:txBody>
      </p:sp>
      <p:sp>
        <p:nvSpPr>
          <p:cNvPr id="7" name="Text 5"/>
          <p:cNvSpPr/>
          <p:nvPr/>
        </p:nvSpPr>
        <p:spPr>
          <a:xfrm>
            <a:off x="1142524" y="4286250"/>
            <a:ext cx="3590330" cy="1814513"/>
          </a:xfrm>
          <a:prstGeom prst="rect">
            <a:avLst/>
          </a:prstGeom>
          <a:noFill/>
          <a:ln/>
        </p:spPr>
        <p:txBody>
          <a:bodyPr wrap="square" lIns="0" tIns="0" rIns="0" bIns="0" rtlCol="0" anchor="t"/>
          <a:lstStyle/>
          <a:p>
            <a:pPr marL="0" indent="0" algn="l">
              <a:lnSpc>
                <a:spcPts val="2850"/>
              </a:lnSpc>
              <a:buNone/>
            </a:pPr>
            <a:r>
              <a:rPr lang="en-US" sz="1750">
                <a:solidFill>
                  <a:srgbClr val="405449"/>
                </a:solidFill>
                <a:latin typeface="Arial Rounded MT Bold" panose="020F0704030504030204" pitchFamily="34" charset="0"/>
                <a:ea typeface="Nobile" pitchFamily="34" charset="-122"/>
                <a:cs typeface="Nobile" pitchFamily="34" charset="-120"/>
              </a:rPr>
              <a:t>Protection spécifique des applications web contre les exploits et vulnérabilités (OWASP Top 10) au niveau de la couche 7.</a:t>
            </a:r>
            <a:endParaRPr lang="en-US" sz="1750">
              <a:latin typeface="Arial Rounded MT Bold" panose="020F0704030504030204" pitchFamily="34" charset="0"/>
            </a:endParaRPr>
          </a:p>
        </p:txBody>
      </p:sp>
      <p:sp>
        <p:nvSpPr>
          <p:cNvPr id="8" name="Shape 6"/>
          <p:cNvSpPr/>
          <p:nvPr/>
        </p:nvSpPr>
        <p:spPr>
          <a:xfrm>
            <a:off x="5216962" y="3184207"/>
            <a:ext cx="4196358" cy="3891082"/>
          </a:xfrm>
          <a:prstGeom prst="roundRect">
            <a:avLst>
              <a:gd name="adj" fmla="val 3760"/>
            </a:avLst>
          </a:prstGeom>
          <a:solidFill>
            <a:srgbClr val="FAFFFA"/>
          </a:solidFill>
          <a:ln w="30480">
            <a:solidFill>
              <a:srgbClr val="CED9CE"/>
            </a:solidFill>
            <a:prstDash val="solid"/>
          </a:ln>
        </p:spPr>
        <p:txBody>
          <a:bodyPr/>
          <a:lstStyle/>
          <a:p>
            <a:endParaRPr lang="fr-FR">
              <a:latin typeface="Arial Rounded MT Bold" panose="020F0704030504030204" pitchFamily="34" charset="0"/>
            </a:endParaRPr>
          </a:p>
        </p:txBody>
      </p:sp>
      <p:sp>
        <p:nvSpPr>
          <p:cNvPr id="9" name="Shape 7"/>
          <p:cNvSpPr/>
          <p:nvPr/>
        </p:nvSpPr>
        <p:spPr>
          <a:xfrm>
            <a:off x="5186482" y="3184207"/>
            <a:ext cx="121920" cy="3891082"/>
          </a:xfrm>
          <a:prstGeom prst="roundRect">
            <a:avLst>
              <a:gd name="adj" fmla="val 167442"/>
            </a:avLst>
          </a:prstGeom>
          <a:solidFill>
            <a:srgbClr val="438951"/>
          </a:solidFill>
          <a:ln/>
        </p:spPr>
        <p:txBody>
          <a:bodyPr/>
          <a:lstStyle/>
          <a:p>
            <a:endParaRPr lang="fr-FR">
              <a:latin typeface="Arial Rounded MT Bold" panose="020F0704030504030204" pitchFamily="34" charset="0"/>
            </a:endParaRPr>
          </a:p>
        </p:txBody>
      </p:sp>
      <p:sp>
        <p:nvSpPr>
          <p:cNvPr id="10" name="Text 8"/>
          <p:cNvSpPr/>
          <p:nvPr/>
        </p:nvSpPr>
        <p:spPr>
          <a:xfrm>
            <a:off x="5565696" y="3441502"/>
            <a:ext cx="2835235" cy="354330"/>
          </a:xfrm>
          <a:prstGeom prst="rect">
            <a:avLst/>
          </a:prstGeom>
          <a:noFill/>
          <a:ln/>
        </p:spPr>
        <p:txBody>
          <a:bodyPr wrap="none" lIns="0" tIns="0" rIns="0" bIns="0" rtlCol="0" anchor="t"/>
          <a:lstStyle/>
          <a:p>
            <a:pPr marL="0" indent="0" algn="l">
              <a:lnSpc>
                <a:spcPts val="2750"/>
              </a:lnSpc>
              <a:buNone/>
            </a:pPr>
            <a:r>
              <a:rPr lang="en-US" sz="2200" b="1">
                <a:solidFill>
                  <a:srgbClr val="405449"/>
                </a:solidFill>
                <a:latin typeface="Arial Rounded MT Bold" panose="020F0704030504030204" pitchFamily="34" charset="0"/>
                <a:ea typeface="Fraunces Extra Bold" pitchFamily="34" charset="-122"/>
                <a:cs typeface="Fraunces Extra Bold" pitchFamily="34" charset="-120"/>
              </a:rPr>
              <a:t>Proxys Inverses</a:t>
            </a:r>
            <a:endParaRPr lang="en-US" sz="2200">
              <a:latin typeface="Arial Rounded MT Bold" panose="020F0704030504030204" pitchFamily="34" charset="0"/>
            </a:endParaRPr>
          </a:p>
        </p:txBody>
      </p:sp>
      <p:sp>
        <p:nvSpPr>
          <p:cNvPr id="11" name="Text 9"/>
          <p:cNvSpPr/>
          <p:nvPr/>
        </p:nvSpPr>
        <p:spPr>
          <a:xfrm>
            <a:off x="5565696" y="3931920"/>
            <a:ext cx="3590330" cy="2177415"/>
          </a:xfrm>
          <a:prstGeom prst="rect">
            <a:avLst/>
          </a:prstGeom>
          <a:noFill/>
          <a:ln/>
        </p:spPr>
        <p:txBody>
          <a:bodyPr wrap="square" lIns="0" tIns="0" rIns="0" bIns="0" rtlCol="0" anchor="t"/>
          <a:lstStyle/>
          <a:p>
            <a:pPr marL="0" indent="0" algn="l">
              <a:lnSpc>
                <a:spcPts val="2850"/>
              </a:lnSpc>
              <a:buNone/>
            </a:pPr>
            <a:r>
              <a:rPr lang="en-US" sz="1750">
                <a:solidFill>
                  <a:srgbClr val="405449"/>
                </a:solidFill>
                <a:latin typeface="Arial Rounded MT Bold" panose="020F0704030504030204" pitchFamily="34" charset="0"/>
                <a:ea typeface="Nobile" pitchFamily="34" charset="-122"/>
                <a:cs typeface="Nobile" pitchFamily="34" charset="-120"/>
              </a:rPr>
              <a:t>Agissent comme un bouclier intermédiaire, filtrant le trafic malveillant, distribuant les requêtes et mettant en cache le contenu pour améliorer sécurité et performance.</a:t>
            </a:r>
            <a:endParaRPr lang="en-US" sz="1750">
              <a:latin typeface="Arial Rounded MT Bold" panose="020F0704030504030204" pitchFamily="34" charset="0"/>
            </a:endParaRPr>
          </a:p>
        </p:txBody>
      </p:sp>
      <p:sp>
        <p:nvSpPr>
          <p:cNvPr id="12" name="Shape 10"/>
          <p:cNvSpPr/>
          <p:nvPr/>
        </p:nvSpPr>
        <p:spPr>
          <a:xfrm>
            <a:off x="9640133" y="3184207"/>
            <a:ext cx="4196358" cy="3891082"/>
          </a:xfrm>
          <a:prstGeom prst="roundRect">
            <a:avLst>
              <a:gd name="adj" fmla="val 3760"/>
            </a:avLst>
          </a:prstGeom>
          <a:solidFill>
            <a:srgbClr val="FAFFFA"/>
          </a:solidFill>
          <a:ln w="30480">
            <a:solidFill>
              <a:srgbClr val="CED9CE"/>
            </a:solidFill>
            <a:prstDash val="solid"/>
          </a:ln>
        </p:spPr>
        <p:txBody>
          <a:bodyPr/>
          <a:lstStyle/>
          <a:p>
            <a:endParaRPr lang="fr-FR">
              <a:latin typeface="Arial Rounded MT Bold" panose="020F0704030504030204" pitchFamily="34" charset="0"/>
            </a:endParaRPr>
          </a:p>
        </p:txBody>
      </p:sp>
      <p:sp>
        <p:nvSpPr>
          <p:cNvPr id="13" name="Shape 11"/>
          <p:cNvSpPr/>
          <p:nvPr/>
        </p:nvSpPr>
        <p:spPr>
          <a:xfrm>
            <a:off x="9609653" y="3184207"/>
            <a:ext cx="121920" cy="3891082"/>
          </a:xfrm>
          <a:prstGeom prst="roundRect">
            <a:avLst>
              <a:gd name="adj" fmla="val 167442"/>
            </a:avLst>
          </a:prstGeom>
          <a:solidFill>
            <a:srgbClr val="438951"/>
          </a:solidFill>
          <a:ln/>
        </p:spPr>
        <p:txBody>
          <a:bodyPr/>
          <a:lstStyle/>
          <a:p>
            <a:endParaRPr lang="fr-FR">
              <a:latin typeface="Arial Rounded MT Bold" panose="020F0704030504030204" pitchFamily="34" charset="0"/>
            </a:endParaRPr>
          </a:p>
        </p:txBody>
      </p:sp>
      <p:sp>
        <p:nvSpPr>
          <p:cNvPr id="14" name="Text 12"/>
          <p:cNvSpPr/>
          <p:nvPr/>
        </p:nvSpPr>
        <p:spPr>
          <a:xfrm>
            <a:off x="9988868" y="3441502"/>
            <a:ext cx="3590330" cy="1062990"/>
          </a:xfrm>
          <a:prstGeom prst="rect">
            <a:avLst/>
          </a:prstGeom>
          <a:noFill/>
          <a:ln/>
        </p:spPr>
        <p:txBody>
          <a:bodyPr wrap="square" lIns="0" tIns="0" rIns="0" bIns="0" rtlCol="0" anchor="t"/>
          <a:lstStyle/>
          <a:p>
            <a:pPr marL="0" indent="0" algn="l">
              <a:lnSpc>
                <a:spcPts val="2750"/>
              </a:lnSpc>
              <a:buNone/>
            </a:pPr>
            <a:r>
              <a:rPr lang="en-US" sz="2200" b="1">
                <a:solidFill>
                  <a:srgbClr val="405449"/>
                </a:solidFill>
                <a:latin typeface="Arial Rounded MT Bold" panose="020F0704030504030204" pitchFamily="34" charset="0"/>
                <a:ea typeface="Fraunces Extra Bold" pitchFamily="34" charset="-122"/>
                <a:cs typeface="Fraunces Extra Bold" pitchFamily="34" charset="-120"/>
              </a:rPr>
              <a:t>Protection contre les Attaques par Amplification</a:t>
            </a:r>
            <a:endParaRPr lang="en-US" sz="2200">
              <a:latin typeface="Arial Rounded MT Bold" panose="020F0704030504030204" pitchFamily="34" charset="0"/>
            </a:endParaRPr>
          </a:p>
        </p:txBody>
      </p:sp>
      <p:sp>
        <p:nvSpPr>
          <p:cNvPr id="15" name="Text 13"/>
          <p:cNvSpPr/>
          <p:nvPr/>
        </p:nvSpPr>
        <p:spPr>
          <a:xfrm>
            <a:off x="9988868" y="4640580"/>
            <a:ext cx="3590330" cy="2177415"/>
          </a:xfrm>
          <a:prstGeom prst="rect">
            <a:avLst/>
          </a:prstGeom>
          <a:noFill/>
          <a:ln/>
        </p:spPr>
        <p:txBody>
          <a:bodyPr wrap="square" lIns="0" tIns="0" rIns="0" bIns="0" rtlCol="0" anchor="t"/>
          <a:lstStyle/>
          <a:p>
            <a:pPr marL="0" indent="0" algn="l">
              <a:lnSpc>
                <a:spcPts val="2850"/>
              </a:lnSpc>
              <a:buNone/>
            </a:pPr>
            <a:r>
              <a:rPr lang="en-US" sz="1750">
                <a:solidFill>
                  <a:srgbClr val="405449"/>
                </a:solidFill>
                <a:latin typeface="Arial Rounded MT Bold" panose="020F0704030504030204" pitchFamily="34" charset="0"/>
                <a:ea typeface="Nobile" pitchFamily="34" charset="-122"/>
                <a:cs typeface="Nobile" pitchFamily="34" charset="-120"/>
              </a:rPr>
              <a:t>Les fournisseurs de services cloud sont équipés pour absorber et atténuer les attaques massives par amplification grâce à leur vaste capacité réseau.</a:t>
            </a:r>
            <a:endParaRPr lang="en-US" sz="1750">
              <a:latin typeface="Arial Rounded MT Bold" panose="020F0704030504030204" pitchFamily="34" charset="0"/>
            </a:endParaRPr>
          </a:p>
        </p:txBody>
      </p:sp>
      <p:pic>
        <p:nvPicPr>
          <p:cNvPr id="16" name="Image 15" descr="Une image contenant blanc, conception&#10;&#10;Le contenu généré par l’IA peut être incorrect.">
            <a:extLst>
              <a:ext uri="{FF2B5EF4-FFF2-40B4-BE49-F238E27FC236}">
                <a16:creationId xmlns:a16="http://schemas.microsoft.com/office/drawing/2014/main" id="{ACBD2F17-D3E3-BE4A-BFBA-30131AFA71D4}"/>
              </a:ext>
            </a:extLst>
          </p:cNvPr>
          <p:cNvPicPr>
            <a:picLocks noChangeAspect="1"/>
          </p:cNvPicPr>
          <p:nvPr/>
        </p:nvPicPr>
        <p:blipFill>
          <a:blip r:embed="rId3"/>
          <a:stretch>
            <a:fillRect/>
          </a:stretch>
        </p:blipFill>
        <p:spPr>
          <a:xfrm>
            <a:off x="12137004" y="7448441"/>
            <a:ext cx="2486372" cy="781159"/>
          </a:xfrm>
          <a:prstGeom prst="rect">
            <a:avLst/>
          </a:prstGeom>
        </p:spPr>
      </p:pic>
      <p:sp>
        <p:nvSpPr>
          <p:cNvPr id="17" name="ZoneTexte 16">
            <a:extLst>
              <a:ext uri="{FF2B5EF4-FFF2-40B4-BE49-F238E27FC236}">
                <a16:creationId xmlns:a16="http://schemas.microsoft.com/office/drawing/2014/main" id="{460BCD9B-A24E-4D2E-61A0-FB1635AC4465}"/>
              </a:ext>
            </a:extLst>
          </p:cNvPr>
          <p:cNvSpPr txBox="1"/>
          <p:nvPr/>
        </p:nvSpPr>
        <p:spPr>
          <a:xfrm>
            <a:off x="6743699" y="7730836"/>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a:ea typeface="Calibri"/>
                <a:cs typeface="Calibri"/>
              </a:rPr>
              <a:t>10</a:t>
            </a:r>
            <a:endParaRPr lang="fr-F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485192" y="731520"/>
            <a:ext cx="7933253" cy="477202"/>
          </a:xfrm>
          <a:prstGeom prst="rect">
            <a:avLst/>
          </a:prstGeom>
          <a:noFill/>
          <a:ln/>
        </p:spPr>
        <p:txBody>
          <a:bodyPr wrap="none" lIns="0" tIns="0" rIns="0" bIns="0" rtlCol="0" anchor="t"/>
          <a:lstStyle/>
          <a:p>
            <a:pPr marL="0" indent="0" algn="l">
              <a:lnSpc>
                <a:spcPts val="3750"/>
              </a:lnSpc>
              <a:buNone/>
            </a:pPr>
            <a:r>
              <a:rPr lang="en-US" sz="3000" b="1">
                <a:solidFill>
                  <a:srgbClr val="3B4540"/>
                </a:solidFill>
                <a:latin typeface="Arial Rounded MT Bold" panose="020F0704030504030204" pitchFamily="34" charset="0"/>
                <a:ea typeface="Fraunces Extra Bold" pitchFamily="34" charset="-122"/>
                <a:cs typeface="Fraunces Extra Bold" pitchFamily="34" charset="-120"/>
              </a:rPr>
              <a:t>Mesures Organisationnelles et Humaines</a:t>
            </a:r>
            <a:endParaRPr lang="en-US" sz="3000">
              <a:latin typeface="Arial Rounded MT Bold" panose="020F0704030504030204" pitchFamily="34" charset="0"/>
            </a:endParaRPr>
          </a:p>
        </p:txBody>
      </p:sp>
      <p:sp>
        <p:nvSpPr>
          <p:cNvPr id="3" name="Text 1"/>
          <p:cNvSpPr/>
          <p:nvPr/>
        </p:nvSpPr>
        <p:spPr>
          <a:xfrm>
            <a:off x="2485192" y="1437799"/>
            <a:ext cx="9659898" cy="488633"/>
          </a:xfrm>
          <a:prstGeom prst="rect">
            <a:avLst/>
          </a:prstGeom>
          <a:noFill/>
          <a:ln/>
        </p:spPr>
        <p:txBody>
          <a:bodyPr wrap="square" lIns="0" tIns="0" rIns="0" bIns="0" rtlCol="0" anchor="t"/>
          <a:lstStyle/>
          <a:p>
            <a:pPr marL="0" indent="0" algn="l">
              <a:lnSpc>
                <a:spcPts val="1900"/>
              </a:lnSpc>
              <a:buNone/>
            </a:pPr>
            <a:r>
              <a:rPr lang="en-US" sz="1200">
                <a:solidFill>
                  <a:srgbClr val="405449"/>
                </a:solidFill>
                <a:latin typeface="Arial Rounded MT Bold" panose="020F0704030504030204" pitchFamily="34" charset="0"/>
                <a:ea typeface="Nobile" pitchFamily="34" charset="-122"/>
                <a:cs typeface="Nobile" pitchFamily="34" charset="-120"/>
              </a:rPr>
              <a:t>Une défense robuste contre les attaques DDoS repose également sur des pratiques organisationnelles et la sensibilisation du personnel.</a:t>
            </a:r>
            <a:endParaRPr lang="en-US" sz="1200">
              <a:latin typeface="Arial Rounded MT Bold" panose="020F0704030504030204" pitchFamily="34" charset="0"/>
            </a:endParaRPr>
          </a:p>
        </p:txBody>
      </p:sp>
      <p:sp>
        <p:nvSpPr>
          <p:cNvPr id="4" name="Shape 2"/>
          <p:cNvSpPr/>
          <p:nvPr/>
        </p:nvSpPr>
        <p:spPr>
          <a:xfrm>
            <a:off x="2485192" y="2098238"/>
            <a:ext cx="610791" cy="916305"/>
          </a:xfrm>
          <a:prstGeom prst="roundRect">
            <a:avLst>
              <a:gd name="adj" fmla="val 360069"/>
            </a:avLst>
          </a:prstGeom>
          <a:solidFill>
            <a:srgbClr val="E8F3E8"/>
          </a:solidFill>
          <a:ln/>
        </p:spPr>
        <p:txBody>
          <a:bodyPr/>
          <a:lstStyle/>
          <a:p>
            <a:endParaRPr lang="fr-FR">
              <a:latin typeface="Arial Rounded MT Bold" panose="020F0704030504030204" pitchFamily="34" charset="0"/>
            </a:endParaRPr>
          </a:p>
        </p:txBody>
      </p:sp>
      <p:sp>
        <p:nvSpPr>
          <p:cNvPr id="5" name="Text 3"/>
          <p:cNvSpPr/>
          <p:nvPr/>
        </p:nvSpPr>
        <p:spPr>
          <a:xfrm>
            <a:off x="2676049" y="2413159"/>
            <a:ext cx="229076" cy="286345"/>
          </a:xfrm>
          <a:prstGeom prst="rect">
            <a:avLst/>
          </a:prstGeom>
          <a:noFill/>
          <a:ln/>
        </p:spPr>
        <p:txBody>
          <a:bodyPr wrap="none" lIns="0" tIns="0" rIns="0" bIns="0" rtlCol="0" anchor="t"/>
          <a:lstStyle/>
          <a:p>
            <a:pPr marL="0" indent="0" algn="l">
              <a:lnSpc>
                <a:spcPts val="1800"/>
              </a:lnSpc>
              <a:buNone/>
            </a:pPr>
            <a:r>
              <a:rPr lang="en-US" sz="1800" b="1">
                <a:solidFill>
                  <a:srgbClr val="405449"/>
                </a:solidFill>
                <a:latin typeface="Arial Rounded MT Bold" panose="020F0704030504030204" pitchFamily="34" charset="0"/>
                <a:ea typeface="Fraunces Extra Bold" pitchFamily="34" charset="-122"/>
                <a:cs typeface="Fraunces Extra Bold" pitchFamily="34" charset="-120"/>
              </a:rPr>
              <a:t>1</a:t>
            </a:r>
            <a:endParaRPr lang="en-US" sz="1800">
              <a:latin typeface="Arial Rounded MT Bold" panose="020F0704030504030204" pitchFamily="34" charset="0"/>
            </a:endParaRPr>
          </a:p>
        </p:txBody>
      </p:sp>
      <p:sp>
        <p:nvSpPr>
          <p:cNvPr id="6" name="Text 4"/>
          <p:cNvSpPr/>
          <p:nvPr/>
        </p:nvSpPr>
        <p:spPr>
          <a:xfrm>
            <a:off x="3248620" y="2250877"/>
            <a:ext cx="2158603" cy="238482"/>
          </a:xfrm>
          <a:prstGeom prst="rect">
            <a:avLst/>
          </a:prstGeom>
          <a:noFill/>
          <a:ln/>
        </p:spPr>
        <p:txBody>
          <a:bodyPr wrap="none" lIns="0" tIns="0" rIns="0" bIns="0" rtlCol="0" anchor="t"/>
          <a:lstStyle/>
          <a:p>
            <a:pPr marL="0" indent="0" algn="l">
              <a:lnSpc>
                <a:spcPts val="1850"/>
              </a:lnSpc>
              <a:buNone/>
            </a:pPr>
            <a:r>
              <a:rPr lang="en-US" sz="1500" b="1">
                <a:solidFill>
                  <a:srgbClr val="405449"/>
                </a:solidFill>
                <a:latin typeface="Arial Rounded MT Bold" panose="020F0704030504030204" pitchFamily="34" charset="0"/>
                <a:ea typeface="Fraunces Extra Bold" pitchFamily="34" charset="-122"/>
                <a:cs typeface="Fraunces Extra Bold" pitchFamily="34" charset="-120"/>
              </a:rPr>
              <a:t>Hygiène Informatique</a:t>
            </a:r>
            <a:endParaRPr lang="en-US" sz="1500">
              <a:latin typeface="Arial Rounded MT Bold" panose="020F0704030504030204" pitchFamily="34" charset="0"/>
            </a:endParaRPr>
          </a:p>
        </p:txBody>
      </p:sp>
      <p:sp>
        <p:nvSpPr>
          <p:cNvPr id="7" name="Text 5"/>
          <p:cNvSpPr/>
          <p:nvPr/>
        </p:nvSpPr>
        <p:spPr>
          <a:xfrm>
            <a:off x="3248620" y="2580918"/>
            <a:ext cx="8896469" cy="244316"/>
          </a:xfrm>
          <a:prstGeom prst="rect">
            <a:avLst/>
          </a:prstGeom>
          <a:noFill/>
          <a:ln/>
        </p:spPr>
        <p:txBody>
          <a:bodyPr wrap="none" lIns="0" tIns="0" rIns="0" bIns="0" rtlCol="0" anchor="t"/>
          <a:lstStyle/>
          <a:p>
            <a:pPr marL="0" indent="0" algn="l">
              <a:lnSpc>
                <a:spcPts val="1900"/>
              </a:lnSpc>
              <a:buNone/>
            </a:pPr>
            <a:r>
              <a:rPr lang="en-US" sz="1200">
                <a:solidFill>
                  <a:srgbClr val="405449"/>
                </a:solidFill>
                <a:latin typeface="Arial Rounded MT Bold" panose="020F0704030504030204" pitchFamily="34" charset="0"/>
                <a:ea typeface="Nobile" pitchFamily="34" charset="-122"/>
                <a:cs typeface="Nobile" pitchFamily="34" charset="-120"/>
              </a:rPr>
              <a:t>Sensibilisation régulière des utilisateurs aux bonnes pratiques de sécurité et à l'identification des menaces.</a:t>
            </a:r>
            <a:endParaRPr lang="en-US" sz="1200">
              <a:latin typeface="Arial Rounded MT Bold" panose="020F0704030504030204" pitchFamily="34" charset="0"/>
            </a:endParaRPr>
          </a:p>
        </p:txBody>
      </p:sp>
      <p:sp>
        <p:nvSpPr>
          <p:cNvPr id="8" name="Shape 6"/>
          <p:cNvSpPr/>
          <p:nvPr/>
        </p:nvSpPr>
        <p:spPr>
          <a:xfrm>
            <a:off x="2485192" y="3167182"/>
            <a:ext cx="610791" cy="916305"/>
          </a:xfrm>
          <a:prstGeom prst="roundRect">
            <a:avLst>
              <a:gd name="adj" fmla="val 360069"/>
            </a:avLst>
          </a:prstGeom>
          <a:solidFill>
            <a:srgbClr val="E8F3E8"/>
          </a:solidFill>
          <a:ln/>
        </p:spPr>
        <p:txBody>
          <a:bodyPr/>
          <a:lstStyle/>
          <a:p>
            <a:endParaRPr lang="fr-FR">
              <a:latin typeface="Arial Rounded MT Bold" panose="020F0704030504030204" pitchFamily="34" charset="0"/>
            </a:endParaRPr>
          </a:p>
        </p:txBody>
      </p:sp>
      <p:sp>
        <p:nvSpPr>
          <p:cNvPr id="9" name="Text 7"/>
          <p:cNvSpPr/>
          <p:nvPr/>
        </p:nvSpPr>
        <p:spPr>
          <a:xfrm>
            <a:off x="2676049" y="3482102"/>
            <a:ext cx="229076" cy="286345"/>
          </a:xfrm>
          <a:prstGeom prst="rect">
            <a:avLst/>
          </a:prstGeom>
          <a:noFill/>
          <a:ln/>
        </p:spPr>
        <p:txBody>
          <a:bodyPr wrap="none" lIns="0" tIns="0" rIns="0" bIns="0" rtlCol="0" anchor="t"/>
          <a:lstStyle/>
          <a:p>
            <a:pPr marL="0" indent="0" algn="l">
              <a:lnSpc>
                <a:spcPts val="1800"/>
              </a:lnSpc>
              <a:buNone/>
            </a:pPr>
            <a:r>
              <a:rPr lang="en-US" sz="1800" b="1">
                <a:solidFill>
                  <a:srgbClr val="405449"/>
                </a:solidFill>
                <a:latin typeface="Arial Rounded MT Bold" panose="020F0704030504030204" pitchFamily="34" charset="0"/>
                <a:ea typeface="Fraunces Extra Bold" pitchFamily="34" charset="-122"/>
                <a:cs typeface="Fraunces Extra Bold" pitchFamily="34" charset="-120"/>
              </a:rPr>
              <a:t>2</a:t>
            </a:r>
            <a:endParaRPr lang="en-US" sz="1800">
              <a:latin typeface="Arial Rounded MT Bold" panose="020F0704030504030204" pitchFamily="34" charset="0"/>
            </a:endParaRPr>
          </a:p>
        </p:txBody>
      </p:sp>
      <p:sp>
        <p:nvSpPr>
          <p:cNvPr id="10" name="Text 8"/>
          <p:cNvSpPr/>
          <p:nvPr/>
        </p:nvSpPr>
        <p:spPr>
          <a:xfrm>
            <a:off x="3248620" y="3319820"/>
            <a:ext cx="2143720" cy="238482"/>
          </a:xfrm>
          <a:prstGeom prst="rect">
            <a:avLst/>
          </a:prstGeom>
          <a:noFill/>
          <a:ln/>
        </p:spPr>
        <p:txBody>
          <a:bodyPr wrap="none" lIns="0" tIns="0" rIns="0" bIns="0" rtlCol="0" anchor="t"/>
          <a:lstStyle/>
          <a:p>
            <a:pPr marL="0" indent="0" algn="l">
              <a:lnSpc>
                <a:spcPts val="1850"/>
              </a:lnSpc>
              <a:buNone/>
            </a:pPr>
            <a:r>
              <a:rPr lang="en-US" sz="1500" b="1">
                <a:solidFill>
                  <a:srgbClr val="405449"/>
                </a:solidFill>
                <a:latin typeface="Arial Rounded MT Bold" panose="020F0704030504030204" pitchFamily="34" charset="0"/>
                <a:ea typeface="Fraunces Extra Bold" pitchFamily="34" charset="-122"/>
                <a:cs typeface="Fraunces Extra Bold" pitchFamily="34" charset="-120"/>
              </a:rPr>
              <a:t>Gestion des Correctifs</a:t>
            </a:r>
            <a:endParaRPr lang="en-US" sz="1500">
              <a:latin typeface="Arial Rounded MT Bold" panose="020F0704030504030204" pitchFamily="34" charset="0"/>
            </a:endParaRPr>
          </a:p>
        </p:txBody>
      </p:sp>
      <p:sp>
        <p:nvSpPr>
          <p:cNvPr id="11" name="Text 9"/>
          <p:cNvSpPr/>
          <p:nvPr/>
        </p:nvSpPr>
        <p:spPr>
          <a:xfrm>
            <a:off x="3248620" y="3649861"/>
            <a:ext cx="8896469" cy="244316"/>
          </a:xfrm>
          <a:prstGeom prst="rect">
            <a:avLst/>
          </a:prstGeom>
          <a:noFill/>
          <a:ln/>
        </p:spPr>
        <p:txBody>
          <a:bodyPr wrap="none" lIns="0" tIns="0" rIns="0" bIns="0" rtlCol="0" anchor="t"/>
          <a:lstStyle/>
          <a:p>
            <a:pPr marL="0" indent="0" algn="l">
              <a:lnSpc>
                <a:spcPts val="1900"/>
              </a:lnSpc>
              <a:buNone/>
            </a:pPr>
            <a:r>
              <a:rPr lang="en-US" sz="1200">
                <a:solidFill>
                  <a:srgbClr val="405449"/>
                </a:solidFill>
                <a:latin typeface="Arial Rounded MT Bold" panose="020F0704030504030204" pitchFamily="34" charset="0"/>
                <a:ea typeface="Nobile" pitchFamily="34" charset="-122"/>
                <a:cs typeface="Nobile" pitchFamily="34" charset="-120"/>
              </a:rPr>
              <a:t>Application rapide et systématique des mises à jour et correctifs de sécurité pour combler les vulnérabilités connues.</a:t>
            </a:r>
            <a:endParaRPr lang="en-US" sz="1200">
              <a:latin typeface="Arial Rounded MT Bold" panose="020F0704030504030204" pitchFamily="34" charset="0"/>
            </a:endParaRPr>
          </a:p>
        </p:txBody>
      </p:sp>
      <p:sp>
        <p:nvSpPr>
          <p:cNvPr id="12" name="Shape 10"/>
          <p:cNvSpPr/>
          <p:nvPr/>
        </p:nvSpPr>
        <p:spPr>
          <a:xfrm>
            <a:off x="2485192" y="4236125"/>
            <a:ext cx="610791" cy="1123950"/>
          </a:xfrm>
          <a:prstGeom prst="roundRect">
            <a:avLst>
              <a:gd name="adj" fmla="val 360069"/>
            </a:avLst>
          </a:prstGeom>
          <a:solidFill>
            <a:srgbClr val="E8F3E8"/>
          </a:solidFill>
          <a:ln/>
        </p:spPr>
        <p:txBody>
          <a:bodyPr/>
          <a:lstStyle/>
          <a:p>
            <a:endParaRPr lang="fr-FR">
              <a:latin typeface="Arial Rounded MT Bold" panose="020F0704030504030204" pitchFamily="34" charset="0"/>
            </a:endParaRPr>
          </a:p>
        </p:txBody>
      </p:sp>
      <p:sp>
        <p:nvSpPr>
          <p:cNvPr id="13" name="Text 11"/>
          <p:cNvSpPr/>
          <p:nvPr/>
        </p:nvSpPr>
        <p:spPr>
          <a:xfrm>
            <a:off x="2676049" y="4654868"/>
            <a:ext cx="229076" cy="286345"/>
          </a:xfrm>
          <a:prstGeom prst="rect">
            <a:avLst/>
          </a:prstGeom>
          <a:noFill/>
          <a:ln/>
        </p:spPr>
        <p:txBody>
          <a:bodyPr wrap="none" lIns="0" tIns="0" rIns="0" bIns="0" rtlCol="0" anchor="t"/>
          <a:lstStyle/>
          <a:p>
            <a:pPr marL="0" indent="0" algn="l">
              <a:lnSpc>
                <a:spcPts val="1800"/>
              </a:lnSpc>
              <a:buNone/>
            </a:pPr>
            <a:r>
              <a:rPr lang="en-US" sz="1800" b="1">
                <a:solidFill>
                  <a:srgbClr val="405449"/>
                </a:solidFill>
                <a:latin typeface="Arial Rounded MT Bold" panose="020F0704030504030204" pitchFamily="34" charset="0"/>
                <a:ea typeface="Fraunces Extra Bold" pitchFamily="34" charset="-122"/>
                <a:cs typeface="Fraunces Extra Bold" pitchFamily="34" charset="-120"/>
              </a:rPr>
              <a:t>3</a:t>
            </a:r>
            <a:endParaRPr lang="en-US" sz="1800">
              <a:latin typeface="Arial Rounded MT Bold" panose="020F0704030504030204" pitchFamily="34" charset="0"/>
            </a:endParaRPr>
          </a:p>
        </p:txBody>
      </p:sp>
      <p:sp>
        <p:nvSpPr>
          <p:cNvPr id="14" name="Text 12"/>
          <p:cNvSpPr/>
          <p:nvPr/>
        </p:nvSpPr>
        <p:spPr>
          <a:xfrm>
            <a:off x="3248620" y="4388763"/>
            <a:ext cx="2216229" cy="238482"/>
          </a:xfrm>
          <a:prstGeom prst="rect">
            <a:avLst/>
          </a:prstGeom>
          <a:noFill/>
          <a:ln/>
        </p:spPr>
        <p:txBody>
          <a:bodyPr wrap="none" lIns="0" tIns="0" rIns="0" bIns="0" rtlCol="0" anchor="t"/>
          <a:lstStyle/>
          <a:p>
            <a:pPr marL="0" indent="0" algn="l">
              <a:lnSpc>
                <a:spcPts val="1850"/>
              </a:lnSpc>
              <a:buNone/>
            </a:pPr>
            <a:r>
              <a:rPr lang="en-US" sz="1500" b="1">
                <a:solidFill>
                  <a:srgbClr val="405449"/>
                </a:solidFill>
                <a:latin typeface="Arial Rounded MT Bold" panose="020F0704030504030204" pitchFamily="34" charset="0"/>
                <a:ea typeface="Fraunces Extra Bold" pitchFamily="34" charset="-122"/>
                <a:cs typeface="Fraunces Extra Bold" pitchFamily="34" charset="-120"/>
              </a:rPr>
              <a:t>Durcissement Système</a:t>
            </a:r>
            <a:endParaRPr lang="en-US" sz="1500">
              <a:latin typeface="Arial Rounded MT Bold" panose="020F0704030504030204" pitchFamily="34" charset="0"/>
            </a:endParaRPr>
          </a:p>
        </p:txBody>
      </p:sp>
      <p:sp>
        <p:nvSpPr>
          <p:cNvPr id="15" name="Text 13"/>
          <p:cNvSpPr/>
          <p:nvPr/>
        </p:nvSpPr>
        <p:spPr>
          <a:xfrm>
            <a:off x="3248620" y="4718804"/>
            <a:ext cx="8896469" cy="488633"/>
          </a:xfrm>
          <a:prstGeom prst="rect">
            <a:avLst/>
          </a:prstGeom>
          <a:noFill/>
          <a:ln/>
        </p:spPr>
        <p:txBody>
          <a:bodyPr wrap="square" lIns="0" tIns="0" rIns="0" bIns="0" rtlCol="0" anchor="t"/>
          <a:lstStyle/>
          <a:p>
            <a:pPr marL="0" indent="0" algn="l">
              <a:lnSpc>
                <a:spcPts val="1900"/>
              </a:lnSpc>
              <a:buNone/>
            </a:pPr>
            <a:r>
              <a:rPr lang="en-US" sz="1200">
                <a:solidFill>
                  <a:srgbClr val="405449"/>
                </a:solidFill>
                <a:latin typeface="Arial Rounded MT Bold" panose="020F0704030504030204" pitchFamily="34" charset="0"/>
                <a:ea typeface="Nobile" pitchFamily="34" charset="-122"/>
                <a:cs typeface="Nobile" pitchFamily="34" charset="-120"/>
              </a:rPr>
              <a:t>Configuration sécurisée des systèmes, désactivation des services non essentiels et utilisation de politiques de moindre privilège.</a:t>
            </a:r>
            <a:endParaRPr lang="en-US" sz="1200">
              <a:latin typeface="Arial Rounded MT Bold" panose="020F0704030504030204" pitchFamily="34" charset="0"/>
            </a:endParaRPr>
          </a:p>
        </p:txBody>
      </p:sp>
      <p:sp>
        <p:nvSpPr>
          <p:cNvPr id="16" name="Shape 14"/>
          <p:cNvSpPr/>
          <p:nvPr/>
        </p:nvSpPr>
        <p:spPr>
          <a:xfrm>
            <a:off x="2485192" y="5512713"/>
            <a:ext cx="610791" cy="916305"/>
          </a:xfrm>
          <a:prstGeom prst="roundRect">
            <a:avLst>
              <a:gd name="adj" fmla="val 360069"/>
            </a:avLst>
          </a:prstGeom>
          <a:solidFill>
            <a:srgbClr val="E8F3E8"/>
          </a:solidFill>
          <a:ln/>
        </p:spPr>
        <p:txBody>
          <a:bodyPr/>
          <a:lstStyle/>
          <a:p>
            <a:endParaRPr lang="fr-FR">
              <a:latin typeface="Arial Rounded MT Bold" panose="020F0704030504030204" pitchFamily="34" charset="0"/>
            </a:endParaRPr>
          </a:p>
        </p:txBody>
      </p:sp>
      <p:sp>
        <p:nvSpPr>
          <p:cNvPr id="17" name="Text 15"/>
          <p:cNvSpPr/>
          <p:nvPr/>
        </p:nvSpPr>
        <p:spPr>
          <a:xfrm>
            <a:off x="2676049" y="5827633"/>
            <a:ext cx="229076" cy="286345"/>
          </a:xfrm>
          <a:prstGeom prst="rect">
            <a:avLst/>
          </a:prstGeom>
          <a:noFill/>
          <a:ln/>
        </p:spPr>
        <p:txBody>
          <a:bodyPr wrap="none" lIns="0" tIns="0" rIns="0" bIns="0" rtlCol="0" anchor="t"/>
          <a:lstStyle/>
          <a:p>
            <a:pPr marL="0" indent="0" algn="l">
              <a:lnSpc>
                <a:spcPts val="1800"/>
              </a:lnSpc>
              <a:buNone/>
            </a:pPr>
            <a:r>
              <a:rPr lang="en-US" sz="1800" b="1">
                <a:solidFill>
                  <a:srgbClr val="405449"/>
                </a:solidFill>
                <a:latin typeface="Arial Rounded MT Bold" panose="020F0704030504030204" pitchFamily="34" charset="0"/>
                <a:ea typeface="Fraunces Extra Bold" pitchFamily="34" charset="-122"/>
                <a:cs typeface="Fraunces Extra Bold" pitchFamily="34" charset="-120"/>
              </a:rPr>
              <a:t>4</a:t>
            </a:r>
            <a:endParaRPr lang="en-US" sz="1800">
              <a:latin typeface="Arial Rounded MT Bold" panose="020F0704030504030204" pitchFamily="34" charset="0"/>
            </a:endParaRPr>
          </a:p>
        </p:txBody>
      </p:sp>
      <p:sp>
        <p:nvSpPr>
          <p:cNvPr id="18" name="Text 16"/>
          <p:cNvSpPr/>
          <p:nvPr/>
        </p:nvSpPr>
        <p:spPr>
          <a:xfrm>
            <a:off x="3248620" y="5665351"/>
            <a:ext cx="2178487" cy="238482"/>
          </a:xfrm>
          <a:prstGeom prst="rect">
            <a:avLst/>
          </a:prstGeom>
          <a:noFill/>
          <a:ln/>
        </p:spPr>
        <p:txBody>
          <a:bodyPr wrap="none" lIns="0" tIns="0" rIns="0" bIns="0" rtlCol="0" anchor="t"/>
          <a:lstStyle/>
          <a:p>
            <a:pPr marL="0" indent="0" algn="l">
              <a:lnSpc>
                <a:spcPts val="1850"/>
              </a:lnSpc>
              <a:buNone/>
            </a:pPr>
            <a:r>
              <a:rPr lang="en-US" sz="1500" b="1">
                <a:solidFill>
                  <a:srgbClr val="405449"/>
                </a:solidFill>
                <a:latin typeface="Arial Rounded MT Bold" panose="020F0704030504030204" pitchFamily="34" charset="0"/>
                <a:ea typeface="Fraunces Extra Bold" pitchFamily="34" charset="-122"/>
                <a:cs typeface="Fraunces Extra Bold" pitchFamily="34" charset="-120"/>
              </a:rPr>
              <a:t>Procédures d'Escalade</a:t>
            </a:r>
            <a:endParaRPr lang="en-US" sz="1500">
              <a:latin typeface="Arial Rounded MT Bold" panose="020F0704030504030204" pitchFamily="34" charset="0"/>
            </a:endParaRPr>
          </a:p>
        </p:txBody>
      </p:sp>
      <p:sp>
        <p:nvSpPr>
          <p:cNvPr id="19" name="Text 17"/>
          <p:cNvSpPr/>
          <p:nvPr/>
        </p:nvSpPr>
        <p:spPr>
          <a:xfrm>
            <a:off x="3248620" y="5995392"/>
            <a:ext cx="8896469" cy="244316"/>
          </a:xfrm>
          <a:prstGeom prst="rect">
            <a:avLst/>
          </a:prstGeom>
          <a:noFill/>
          <a:ln/>
        </p:spPr>
        <p:txBody>
          <a:bodyPr wrap="none" lIns="0" tIns="0" rIns="0" bIns="0" rtlCol="0" anchor="t"/>
          <a:lstStyle/>
          <a:p>
            <a:pPr marL="0" indent="0" algn="l">
              <a:lnSpc>
                <a:spcPts val="1900"/>
              </a:lnSpc>
              <a:buNone/>
            </a:pPr>
            <a:r>
              <a:rPr lang="en-US" sz="1200">
                <a:solidFill>
                  <a:srgbClr val="405449"/>
                </a:solidFill>
                <a:latin typeface="Arial Rounded MT Bold" panose="020F0704030504030204" pitchFamily="34" charset="0"/>
                <a:ea typeface="Nobile" pitchFamily="34" charset="-122"/>
                <a:cs typeface="Nobile" pitchFamily="34" charset="-120"/>
              </a:rPr>
              <a:t>Définition claire des processus de réponse et d'escalade en cas d'incident, pour une réaction rapide et coordonnée.</a:t>
            </a:r>
            <a:endParaRPr lang="en-US" sz="1200">
              <a:latin typeface="Arial Rounded MT Bold" panose="020F0704030504030204" pitchFamily="34" charset="0"/>
            </a:endParaRPr>
          </a:p>
        </p:txBody>
      </p:sp>
      <p:sp>
        <p:nvSpPr>
          <p:cNvPr id="20" name="Shape 18"/>
          <p:cNvSpPr/>
          <p:nvPr/>
        </p:nvSpPr>
        <p:spPr>
          <a:xfrm>
            <a:off x="2485192" y="6581656"/>
            <a:ext cx="610791" cy="916305"/>
          </a:xfrm>
          <a:prstGeom prst="roundRect">
            <a:avLst>
              <a:gd name="adj" fmla="val 360069"/>
            </a:avLst>
          </a:prstGeom>
          <a:solidFill>
            <a:srgbClr val="E8F3E8"/>
          </a:solidFill>
          <a:ln/>
        </p:spPr>
        <p:txBody>
          <a:bodyPr/>
          <a:lstStyle/>
          <a:p>
            <a:endParaRPr lang="fr-FR">
              <a:latin typeface="Arial Rounded MT Bold" panose="020F0704030504030204" pitchFamily="34" charset="0"/>
            </a:endParaRPr>
          </a:p>
        </p:txBody>
      </p:sp>
      <p:sp>
        <p:nvSpPr>
          <p:cNvPr id="21" name="Text 19"/>
          <p:cNvSpPr/>
          <p:nvPr/>
        </p:nvSpPr>
        <p:spPr>
          <a:xfrm>
            <a:off x="2676049" y="6896576"/>
            <a:ext cx="229076" cy="286345"/>
          </a:xfrm>
          <a:prstGeom prst="rect">
            <a:avLst/>
          </a:prstGeom>
          <a:noFill/>
          <a:ln/>
        </p:spPr>
        <p:txBody>
          <a:bodyPr wrap="none" lIns="0" tIns="0" rIns="0" bIns="0" rtlCol="0" anchor="t"/>
          <a:lstStyle/>
          <a:p>
            <a:pPr marL="0" indent="0" algn="l">
              <a:lnSpc>
                <a:spcPts val="1800"/>
              </a:lnSpc>
              <a:buNone/>
            </a:pPr>
            <a:r>
              <a:rPr lang="en-US" sz="1800" b="1">
                <a:solidFill>
                  <a:srgbClr val="405449"/>
                </a:solidFill>
                <a:latin typeface="Arial Rounded MT Bold" panose="020F0704030504030204" pitchFamily="34" charset="0"/>
                <a:ea typeface="Fraunces Extra Bold" pitchFamily="34" charset="-122"/>
                <a:cs typeface="Fraunces Extra Bold" pitchFamily="34" charset="-120"/>
              </a:rPr>
              <a:t>5</a:t>
            </a:r>
            <a:endParaRPr lang="en-US" sz="1800">
              <a:latin typeface="Arial Rounded MT Bold" panose="020F0704030504030204" pitchFamily="34" charset="0"/>
            </a:endParaRPr>
          </a:p>
        </p:txBody>
      </p:sp>
      <p:sp>
        <p:nvSpPr>
          <p:cNvPr id="22" name="Text 20"/>
          <p:cNvSpPr/>
          <p:nvPr/>
        </p:nvSpPr>
        <p:spPr>
          <a:xfrm>
            <a:off x="3248620" y="6734294"/>
            <a:ext cx="2628662" cy="238482"/>
          </a:xfrm>
          <a:prstGeom prst="rect">
            <a:avLst/>
          </a:prstGeom>
          <a:noFill/>
          <a:ln/>
        </p:spPr>
        <p:txBody>
          <a:bodyPr wrap="none" lIns="0" tIns="0" rIns="0" bIns="0" rtlCol="0" anchor="t"/>
          <a:lstStyle/>
          <a:p>
            <a:pPr marL="0" indent="0" algn="l">
              <a:lnSpc>
                <a:spcPts val="1850"/>
              </a:lnSpc>
              <a:buNone/>
            </a:pPr>
            <a:r>
              <a:rPr lang="en-US" sz="1500" b="1">
                <a:solidFill>
                  <a:srgbClr val="405449"/>
                </a:solidFill>
                <a:latin typeface="Arial Rounded MT Bold" panose="020F0704030504030204" pitchFamily="34" charset="0"/>
                <a:ea typeface="Fraunces Extra Bold" pitchFamily="34" charset="-122"/>
                <a:cs typeface="Fraunces Extra Bold" pitchFamily="34" charset="-120"/>
              </a:rPr>
              <a:t>Gestion des Configurations</a:t>
            </a:r>
            <a:endParaRPr lang="en-US" sz="1500">
              <a:latin typeface="Arial Rounded MT Bold" panose="020F0704030504030204" pitchFamily="34" charset="0"/>
            </a:endParaRPr>
          </a:p>
        </p:txBody>
      </p:sp>
      <p:sp>
        <p:nvSpPr>
          <p:cNvPr id="23" name="Text 21"/>
          <p:cNvSpPr/>
          <p:nvPr/>
        </p:nvSpPr>
        <p:spPr>
          <a:xfrm>
            <a:off x="3248620" y="7064335"/>
            <a:ext cx="8896469" cy="244316"/>
          </a:xfrm>
          <a:prstGeom prst="rect">
            <a:avLst/>
          </a:prstGeom>
          <a:noFill/>
          <a:ln/>
        </p:spPr>
        <p:txBody>
          <a:bodyPr wrap="none" lIns="0" tIns="0" rIns="0" bIns="0" rtlCol="0" anchor="t"/>
          <a:lstStyle/>
          <a:p>
            <a:pPr marL="0" indent="0" algn="l">
              <a:lnSpc>
                <a:spcPts val="1900"/>
              </a:lnSpc>
              <a:buNone/>
            </a:pPr>
            <a:r>
              <a:rPr lang="en-US" sz="1200">
                <a:solidFill>
                  <a:srgbClr val="405449"/>
                </a:solidFill>
                <a:latin typeface="Arial Rounded MT Bold" panose="020F0704030504030204" pitchFamily="34" charset="0"/>
                <a:ea typeface="Nobile" pitchFamily="34" charset="-122"/>
                <a:cs typeface="Nobile" pitchFamily="34" charset="-120"/>
              </a:rPr>
              <a:t>Maintien de bases de référence sécurisées et contrôle des modifications pour prévenir les dérives de configuration.</a:t>
            </a:r>
            <a:endParaRPr lang="en-US" sz="1200">
              <a:latin typeface="Arial Rounded MT Bold" panose="020F0704030504030204" pitchFamily="34" charset="0"/>
            </a:endParaRPr>
          </a:p>
        </p:txBody>
      </p:sp>
      <p:pic>
        <p:nvPicPr>
          <p:cNvPr id="24" name="Image 23" descr="Une image contenant blanc, conception&#10;&#10;Le contenu généré par l’IA peut être incorrect.">
            <a:extLst>
              <a:ext uri="{FF2B5EF4-FFF2-40B4-BE49-F238E27FC236}">
                <a16:creationId xmlns:a16="http://schemas.microsoft.com/office/drawing/2014/main" id="{C1F3E3E2-FB45-54FF-C289-034934CDB8BB}"/>
              </a:ext>
            </a:extLst>
          </p:cNvPr>
          <p:cNvPicPr>
            <a:picLocks noChangeAspect="1"/>
          </p:cNvPicPr>
          <p:nvPr/>
        </p:nvPicPr>
        <p:blipFill>
          <a:blip r:embed="rId3"/>
          <a:stretch>
            <a:fillRect/>
          </a:stretch>
        </p:blipFill>
        <p:spPr>
          <a:xfrm>
            <a:off x="12137004" y="7448441"/>
            <a:ext cx="2486372" cy="781159"/>
          </a:xfrm>
          <a:prstGeom prst="rect">
            <a:avLst/>
          </a:prstGeom>
        </p:spPr>
      </p:pic>
      <p:sp>
        <p:nvSpPr>
          <p:cNvPr id="25" name="ZoneTexte 24">
            <a:extLst>
              <a:ext uri="{FF2B5EF4-FFF2-40B4-BE49-F238E27FC236}">
                <a16:creationId xmlns:a16="http://schemas.microsoft.com/office/drawing/2014/main" id="{91E557EC-BCB6-006F-F2B5-F1D27D96D9F0}"/>
              </a:ext>
            </a:extLst>
          </p:cNvPr>
          <p:cNvSpPr txBox="1"/>
          <p:nvPr/>
        </p:nvSpPr>
        <p:spPr>
          <a:xfrm>
            <a:off x="6764481" y="7793181"/>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a:ea typeface="Calibri"/>
                <a:cs typeface="Calibri"/>
              </a:rPr>
              <a:t>11</a:t>
            </a:r>
            <a:endParaRPr lang="fr-F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238845" y="838081"/>
            <a:ext cx="5534382" cy="600313"/>
          </a:xfrm>
          <a:prstGeom prst="rect">
            <a:avLst/>
          </a:prstGeom>
          <a:noFill/>
          <a:ln/>
        </p:spPr>
        <p:txBody>
          <a:bodyPr wrap="none" lIns="0" tIns="0" rIns="0" bIns="0" rtlCol="0" anchor="t"/>
          <a:lstStyle/>
          <a:p>
            <a:pPr marL="0" indent="0" algn="l">
              <a:lnSpc>
                <a:spcPts val="4700"/>
              </a:lnSpc>
              <a:buNone/>
            </a:pPr>
            <a:r>
              <a:rPr lang="en-US" sz="3750" b="1">
                <a:solidFill>
                  <a:srgbClr val="3B4540"/>
                </a:solidFill>
                <a:latin typeface="Arial Rounded MT Bold" panose="020F0704030504030204" pitchFamily="34" charset="0"/>
                <a:ea typeface="Fraunces Extra Bold" pitchFamily="34" charset="-122"/>
                <a:cs typeface="Fraunces Extra Bold" pitchFamily="34" charset="-120"/>
              </a:rPr>
              <a:t>Méthodes de Détection</a:t>
            </a:r>
            <a:endParaRPr lang="en-US" sz="3750">
              <a:latin typeface="Arial Rounded MT Bold" panose="020F0704030504030204" pitchFamily="34" charset="0"/>
            </a:endParaRPr>
          </a:p>
        </p:txBody>
      </p:sp>
      <p:sp>
        <p:nvSpPr>
          <p:cNvPr id="3" name="Text 1"/>
          <p:cNvSpPr/>
          <p:nvPr/>
        </p:nvSpPr>
        <p:spPr>
          <a:xfrm>
            <a:off x="1238845" y="1726525"/>
            <a:ext cx="12152590" cy="614839"/>
          </a:xfrm>
          <a:prstGeom prst="rect">
            <a:avLst/>
          </a:prstGeom>
          <a:noFill/>
          <a:ln/>
        </p:spPr>
        <p:txBody>
          <a:bodyPr wrap="square" lIns="0" tIns="0" rIns="0" bIns="0" rtlCol="0" anchor="t"/>
          <a:lstStyle/>
          <a:p>
            <a:pPr marL="0" indent="0" algn="l">
              <a:lnSpc>
                <a:spcPts val="2400"/>
              </a:lnSpc>
              <a:buNone/>
            </a:pPr>
            <a:r>
              <a:rPr lang="en-US" sz="1500">
                <a:solidFill>
                  <a:srgbClr val="405449"/>
                </a:solidFill>
                <a:latin typeface="Arial Rounded MT Bold" panose="020F0704030504030204" pitchFamily="34" charset="0"/>
                <a:ea typeface="Nobile" pitchFamily="34" charset="-122"/>
                <a:cs typeface="Nobile" pitchFamily="34" charset="-120"/>
              </a:rPr>
              <a:t>L'identification précoce des attaques DDoS est cruciale et repose sur une combinaison de techniques d'analyse du trafic et de comportement réseau, permettant de déceler des signaux faibles.</a:t>
            </a:r>
            <a:endParaRPr lang="en-US" sz="1500">
              <a:latin typeface="Arial Rounded MT Bold" panose="020F0704030504030204" pitchFamily="34" charset="0"/>
            </a:endParaRPr>
          </a:p>
        </p:txBody>
      </p:sp>
      <p:sp>
        <p:nvSpPr>
          <p:cNvPr id="4" name="Shape 2"/>
          <p:cNvSpPr/>
          <p:nvPr/>
        </p:nvSpPr>
        <p:spPr>
          <a:xfrm>
            <a:off x="1238845" y="2845594"/>
            <a:ext cx="5980271" cy="2032873"/>
          </a:xfrm>
          <a:prstGeom prst="roundRect">
            <a:avLst>
              <a:gd name="adj" fmla="val 5398"/>
            </a:avLst>
          </a:prstGeom>
          <a:solidFill>
            <a:srgbClr val="FAFFFA"/>
          </a:solidFill>
          <a:ln/>
        </p:spPr>
        <p:txBody>
          <a:bodyPr/>
          <a:lstStyle/>
          <a:p>
            <a:endParaRPr lang="fr-FR">
              <a:latin typeface="Arial Rounded MT Bold" panose="020F0704030504030204" pitchFamily="34" charset="0"/>
            </a:endParaRPr>
          </a:p>
        </p:txBody>
      </p:sp>
      <p:sp>
        <p:nvSpPr>
          <p:cNvPr id="5" name="Shape 3"/>
          <p:cNvSpPr/>
          <p:nvPr/>
        </p:nvSpPr>
        <p:spPr>
          <a:xfrm>
            <a:off x="1238845" y="2822734"/>
            <a:ext cx="5980271" cy="91440"/>
          </a:xfrm>
          <a:prstGeom prst="roundRect">
            <a:avLst>
              <a:gd name="adj" fmla="val 189111"/>
            </a:avLst>
          </a:prstGeom>
          <a:solidFill>
            <a:srgbClr val="438951"/>
          </a:solidFill>
          <a:ln/>
        </p:spPr>
        <p:txBody>
          <a:bodyPr/>
          <a:lstStyle/>
          <a:p>
            <a:endParaRPr lang="fr-FR">
              <a:latin typeface="Arial Rounded MT Bold" panose="020F0704030504030204" pitchFamily="34" charset="0"/>
            </a:endParaRPr>
          </a:p>
        </p:txBody>
      </p:sp>
      <p:sp>
        <p:nvSpPr>
          <p:cNvPr id="6" name="Shape 4"/>
          <p:cNvSpPr/>
          <p:nvPr/>
        </p:nvSpPr>
        <p:spPr>
          <a:xfrm>
            <a:off x="3940790" y="2557463"/>
            <a:ext cx="576382" cy="576382"/>
          </a:xfrm>
          <a:prstGeom prst="roundRect">
            <a:avLst>
              <a:gd name="adj" fmla="val 158645"/>
            </a:avLst>
          </a:prstGeom>
          <a:solidFill>
            <a:srgbClr val="438951"/>
          </a:solidFill>
          <a:ln/>
        </p:spPr>
        <p:txBody>
          <a:bodyPr/>
          <a:lstStyle/>
          <a:p>
            <a:endParaRPr lang="fr-FR">
              <a:latin typeface="Arial Rounded MT Bold" panose="020F0704030504030204" pitchFamily="34" charset="0"/>
            </a:endParaRPr>
          </a:p>
        </p:txBody>
      </p:sp>
      <p:pic>
        <p:nvPicPr>
          <p:cNvPr id="7"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13669" y="2730341"/>
            <a:ext cx="230505" cy="230505"/>
          </a:xfrm>
          <a:prstGeom prst="rect">
            <a:avLst/>
          </a:prstGeom>
        </p:spPr>
      </p:pic>
      <p:sp>
        <p:nvSpPr>
          <p:cNvPr id="8" name="Text 5"/>
          <p:cNvSpPr/>
          <p:nvPr/>
        </p:nvSpPr>
        <p:spPr>
          <a:xfrm>
            <a:off x="1453753" y="3325892"/>
            <a:ext cx="2790468" cy="300157"/>
          </a:xfrm>
          <a:prstGeom prst="rect">
            <a:avLst/>
          </a:prstGeom>
          <a:noFill/>
          <a:ln/>
        </p:spPr>
        <p:txBody>
          <a:bodyPr wrap="none" lIns="0" tIns="0" rIns="0" bIns="0" rtlCol="0" anchor="t"/>
          <a:lstStyle/>
          <a:p>
            <a:pPr marL="0" indent="0" algn="l">
              <a:lnSpc>
                <a:spcPts val="2350"/>
              </a:lnSpc>
              <a:buNone/>
            </a:pPr>
            <a:r>
              <a:rPr lang="en-US" sz="1850" b="1">
                <a:solidFill>
                  <a:srgbClr val="405449"/>
                </a:solidFill>
                <a:latin typeface="Arial Rounded MT Bold" panose="020F0704030504030204" pitchFamily="34" charset="0"/>
                <a:ea typeface="Fraunces Extra Bold" pitchFamily="34" charset="-122"/>
                <a:cs typeface="Fraunces Extra Bold" pitchFamily="34" charset="-120"/>
              </a:rPr>
              <a:t>Pics de Trafic Anormal</a:t>
            </a:r>
            <a:endParaRPr lang="en-US" sz="1850">
              <a:latin typeface="Arial Rounded MT Bold" panose="020F0704030504030204" pitchFamily="34" charset="0"/>
            </a:endParaRPr>
          </a:p>
        </p:txBody>
      </p:sp>
      <p:sp>
        <p:nvSpPr>
          <p:cNvPr id="9" name="Text 6"/>
          <p:cNvSpPr/>
          <p:nvPr/>
        </p:nvSpPr>
        <p:spPr>
          <a:xfrm>
            <a:off x="1453753" y="3741301"/>
            <a:ext cx="5550456" cy="922258"/>
          </a:xfrm>
          <a:prstGeom prst="rect">
            <a:avLst/>
          </a:prstGeom>
          <a:noFill/>
          <a:ln/>
        </p:spPr>
        <p:txBody>
          <a:bodyPr wrap="square" lIns="0" tIns="0" rIns="0" bIns="0" rtlCol="0" anchor="t"/>
          <a:lstStyle/>
          <a:p>
            <a:pPr marL="0" indent="0" algn="l">
              <a:lnSpc>
                <a:spcPts val="2400"/>
              </a:lnSpc>
              <a:buNone/>
            </a:pPr>
            <a:r>
              <a:rPr lang="en-US" sz="1500">
                <a:solidFill>
                  <a:srgbClr val="405449"/>
                </a:solidFill>
                <a:latin typeface="Arial Rounded MT Bold" panose="020F0704030504030204" pitchFamily="34" charset="0"/>
                <a:ea typeface="Nobile" pitchFamily="34" charset="-122"/>
                <a:cs typeface="Nobile" pitchFamily="34" charset="-120"/>
              </a:rPr>
              <a:t>Surveillance des volumes de données et des taux de requêtes pour déceler des augmentations soudaines et inexpliquées.</a:t>
            </a:r>
            <a:endParaRPr lang="en-US" sz="1500">
              <a:latin typeface="Arial Rounded MT Bold" panose="020F0704030504030204" pitchFamily="34" charset="0"/>
            </a:endParaRPr>
          </a:p>
        </p:txBody>
      </p:sp>
      <p:sp>
        <p:nvSpPr>
          <p:cNvPr id="10" name="Shape 7"/>
          <p:cNvSpPr/>
          <p:nvPr/>
        </p:nvSpPr>
        <p:spPr>
          <a:xfrm>
            <a:off x="7411164" y="2845594"/>
            <a:ext cx="5980271" cy="2032873"/>
          </a:xfrm>
          <a:prstGeom prst="roundRect">
            <a:avLst>
              <a:gd name="adj" fmla="val 5398"/>
            </a:avLst>
          </a:prstGeom>
          <a:solidFill>
            <a:srgbClr val="FAFFFA"/>
          </a:solidFill>
          <a:ln/>
        </p:spPr>
        <p:txBody>
          <a:bodyPr/>
          <a:lstStyle/>
          <a:p>
            <a:endParaRPr lang="fr-FR">
              <a:latin typeface="Arial Rounded MT Bold" panose="020F0704030504030204" pitchFamily="34" charset="0"/>
            </a:endParaRPr>
          </a:p>
        </p:txBody>
      </p:sp>
      <p:sp>
        <p:nvSpPr>
          <p:cNvPr id="11" name="Shape 8"/>
          <p:cNvSpPr/>
          <p:nvPr/>
        </p:nvSpPr>
        <p:spPr>
          <a:xfrm>
            <a:off x="7411164" y="2822734"/>
            <a:ext cx="5980271" cy="91440"/>
          </a:xfrm>
          <a:prstGeom prst="roundRect">
            <a:avLst>
              <a:gd name="adj" fmla="val 189111"/>
            </a:avLst>
          </a:prstGeom>
          <a:solidFill>
            <a:srgbClr val="438951"/>
          </a:solidFill>
          <a:ln/>
        </p:spPr>
        <p:txBody>
          <a:bodyPr/>
          <a:lstStyle/>
          <a:p>
            <a:endParaRPr lang="fr-FR">
              <a:latin typeface="Arial Rounded MT Bold" panose="020F0704030504030204" pitchFamily="34" charset="0"/>
            </a:endParaRPr>
          </a:p>
        </p:txBody>
      </p:sp>
      <p:sp>
        <p:nvSpPr>
          <p:cNvPr id="12" name="Shape 9"/>
          <p:cNvSpPr/>
          <p:nvPr/>
        </p:nvSpPr>
        <p:spPr>
          <a:xfrm>
            <a:off x="10113109" y="2557463"/>
            <a:ext cx="576382" cy="576382"/>
          </a:xfrm>
          <a:prstGeom prst="roundRect">
            <a:avLst>
              <a:gd name="adj" fmla="val 158645"/>
            </a:avLst>
          </a:prstGeom>
          <a:solidFill>
            <a:srgbClr val="438951"/>
          </a:solidFill>
          <a:ln/>
        </p:spPr>
        <p:txBody>
          <a:bodyPr/>
          <a:lstStyle/>
          <a:p>
            <a:endParaRPr lang="fr-FR">
              <a:latin typeface="Arial Rounded MT Bold" panose="020F0704030504030204" pitchFamily="34" charset="0"/>
            </a:endParaRPr>
          </a:p>
        </p:txBody>
      </p:sp>
      <p:pic>
        <p:nvPicPr>
          <p:cNvPr id="13"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285988" y="2730341"/>
            <a:ext cx="230505" cy="230505"/>
          </a:xfrm>
          <a:prstGeom prst="rect">
            <a:avLst/>
          </a:prstGeom>
        </p:spPr>
      </p:pic>
      <p:sp>
        <p:nvSpPr>
          <p:cNvPr id="14" name="Text 10"/>
          <p:cNvSpPr/>
          <p:nvPr/>
        </p:nvSpPr>
        <p:spPr>
          <a:xfrm>
            <a:off x="7626072" y="3325892"/>
            <a:ext cx="4989314" cy="300157"/>
          </a:xfrm>
          <a:prstGeom prst="rect">
            <a:avLst/>
          </a:prstGeom>
          <a:noFill/>
          <a:ln/>
        </p:spPr>
        <p:txBody>
          <a:bodyPr wrap="none" lIns="0" tIns="0" rIns="0" bIns="0" rtlCol="0" anchor="t"/>
          <a:lstStyle/>
          <a:p>
            <a:pPr marL="0" indent="0" algn="l">
              <a:lnSpc>
                <a:spcPts val="2350"/>
              </a:lnSpc>
              <a:buNone/>
            </a:pPr>
            <a:r>
              <a:rPr lang="en-US" sz="1850" b="1">
                <a:solidFill>
                  <a:srgbClr val="405449"/>
                </a:solidFill>
                <a:latin typeface="Arial Rounded MT Bold" panose="020F0704030504030204" pitchFamily="34" charset="0"/>
                <a:ea typeface="Fraunces Extra Bold" pitchFamily="34" charset="-122"/>
                <a:cs typeface="Fraunces Extra Bold" pitchFamily="34" charset="-120"/>
              </a:rPr>
              <a:t>Analyse de Provenance &amp; Géolocalisation</a:t>
            </a:r>
            <a:endParaRPr lang="en-US" sz="1850">
              <a:latin typeface="Arial Rounded MT Bold" panose="020F0704030504030204" pitchFamily="34" charset="0"/>
            </a:endParaRPr>
          </a:p>
        </p:txBody>
      </p:sp>
      <p:sp>
        <p:nvSpPr>
          <p:cNvPr id="15" name="Text 11"/>
          <p:cNvSpPr/>
          <p:nvPr/>
        </p:nvSpPr>
        <p:spPr>
          <a:xfrm>
            <a:off x="7626072" y="3741301"/>
            <a:ext cx="5550456" cy="922258"/>
          </a:xfrm>
          <a:prstGeom prst="rect">
            <a:avLst/>
          </a:prstGeom>
          <a:noFill/>
          <a:ln/>
        </p:spPr>
        <p:txBody>
          <a:bodyPr wrap="square" lIns="0" tIns="0" rIns="0" bIns="0" rtlCol="0" anchor="t"/>
          <a:lstStyle/>
          <a:p>
            <a:pPr marL="0" indent="0" algn="l">
              <a:lnSpc>
                <a:spcPts val="2400"/>
              </a:lnSpc>
              <a:buNone/>
            </a:pPr>
            <a:r>
              <a:rPr lang="en-US" sz="1500">
                <a:solidFill>
                  <a:srgbClr val="405449"/>
                </a:solidFill>
                <a:latin typeface="Arial Rounded MT Bold" panose="020F0704030504030204" pitchFamily="34" charset="0"/>
                <a:ea typeface="Nobile" pitchFamily="34" charset="-122"/>
                <a:cs typeface="Nobile" pitchFamily="34" charset="-120"/>
              </a:rPr>
              <a:t>Identification des sources du trafic (adresses IP, ASN) et de leur origine géographique pour détecter des schémas suspects et des comportements coordonnées.</a:t>
            </a:r>
            <a:endParaRPr lang="en-US" sz="1500">
              <a:latin typeface="Arial Rounded MT Bold" panose="020F0704030504030204" pitchFamily="34" charset="0"/>
            </a:endParaRPr>
          </a:p>
        </p:txBody>
      </p:sp>
      <p:sp>
        <p:nvSpPr>
          <p:cNvPr id="16" name="Shape 12"/>
          <p:cNvSpPr/>
          <p:nvPr/>
        </p:nvSpPr>
        <p:spPr>
          <a:xfrm>
            <a:off x="1238845" y="5358646"/>
            <a:ext cx="5980271" cy="2032873"/>
          </a:xfrm>
          <a:prstGeom prst="roundRect">
            <a:avLst>
              <a:gd name="adj" fmla="val 5398"/>
            </a:avLst>
          </a:prstGeom>
          <a:solidFill>
            <a:srgbClr val="FAFFFA"/>
          </a:solidFill>
          <a:ln/>
        </p:spPr>
        <p:txBody>
          <a:bodyPr/>
          <a:lstStyle/>
          <a:p>
            <a:endParaRPr lang="fr-FR">
              <a:latin typeface="Arial Rounded MT Bold" panose="020F0704030504030204" pitchFamily="34" charset="0"/>
            </a:endParaRPr>
          </a:p>
        </p:txBody>
      </p:sp>
      <p:sp>
        <p:nvSpPr>
          <p:cNvPr id="17" name="Shape 13"/>
          <p:cNvSpPr/>
          <p:nvPr/>
        </p:nvSpPr>
        <p:spPr>
          <a:xfrm>
            <a:off x="1238845" y="5335786"/>
            <a:ext cx="5980271" cy="91440"/>
          </a:xfrm>
          <a:prstGeom prst="roundRect">
            <a:avLst>
              <a:gd name="adj" fmla="val 189111"/>
            </a:avLst>
          </a:prstGeom>
          <a:solidFill>
            <a:srgbClr val="438951"/>
          </a:solidFill>
          <a:ln/>
        </p:spPr>
        <p:txBody>
          <a:bodyPr/>
          <a:lstStyle/>
          <a:p>
            <a:endParaRPr lang="fr-FR">
              <a:latin typeface="Arial Rounded MT Bold" panose="020F0704030504030204" pitchFamily="34" charset="0"/>
            </a:endParaRPr>
          </a:p>
        </p:txBody>
      </p:sp>
      <p:sp>
        <p:nvSpPr>
          <p:cNvPr id="18" name="Shape 14"/>
          <p:cNvSpPr/>
          <p:nvPr/>
        </p:nvSpPr>
        <p:spPr>
          <a:xfrm>
            <a:off x="3940790" y="5070515"/>
            <a:ext cx="576382" cy="576382"/>
          </a:xfrm>
          <a:prstGeom prst="roundRect">
            <a:avLst>
              <a:gd name="adj" fmla="val 158645"/>
            </a:avLst>
          </a:prstGeom>
          <a:solidFill>
            <a:srgbClr val="438951"/>
          </a:solidFill>
          <a:ln/>
        </p:spPr>
        <p:txBody>
          <a:bodyPr/>
          <a:lstStyle/>
          <a:p>
            <a:endParaRPr lang="fr-FR">
              <a:latin typeface="Arial Rounded MT Bold" panose="020F0704030504030204" pitchFamily="34" charset="0"/>
            </a:endParaRPr>
          </a:p>
        </p:txBody>
      </p:sp>
      <p:pic>
        <p:nvPicPr>
          <p:cNvPr id="19"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113669" y="5243393"/>
            <a:ext cx="230505" cy="230505"/>
          </a:xfrm>
          <a:prstGeom prst="rect">
            <a:avLst/>
          </a:prstGeom>
        </p:spPr>
      </p:pic>
      <p:sp>
        <p:nvSpPr>
          <p:cNvPr id="20" name="Text 15"/>
          <p:cNvSpPr/>
          <p:nvPr/>
        </p:nvSpPr>
        <p:spPr>
          <a:xfrm>
            <a:off x="1453753" y="5838944"/>
            <a:ext cx="3221950" cy="300157"/>
          </a:xfrm>
          <a:prstGeom prst="rect">
            <a:avLst/>
          </a:prstGeom>
          <a:noFill/>
          <a:ln/>
        </p:spPr>
        <p:txBody>
          <a:bodyPr wrap="none" lIns="0" tIns="0" rIns="0" bIns="0" rtlCol="0" anchor="t"/>
          <a:lstStyle/>
          <a:p>
            <a:pPr marL="0" indent="0" algn="l">
              <a:lnSpc>
                <a:spcPts val="2350"/>
              </a:lnSpc>
              <a:buNone/>
            </a:pPr>
            <a:r>
              <a:rPr lang="en-US" sz="1850" b="1">
                <a:solidFill>
                  <a:srgbClr val="405449"/>
                </a:solidFill>
                <a:latin typeface="Arial Rounded MT Bold" panose="020F0704030504030204" pitchFamily="34" charset="0"/>
                <a:ea typeface="Fraunces Extra Bold" pitchFamily="34" charset="-122"/>
                <a:cs typeface="Fraunces Extra Bold" pitchFamily="34" charset="-120"/>
              </a:rPr>
              <a:t>Comportement Utilisateur</a:t>
            </a:r>
            <a:endParaRPr lang="en-US" sz="1850">
              <a:latin typeface="Arial Rounded MT Bold" panose="020F0704030504030204" pitchFamily="34" charset="0"/>
            </a:endParaRPr>
          </a:p>
        </p:txBody>
      </p:sp>
      <p:sp>
        <p:nvSpPr>
          <p:cNvPr id="21" name="Text 16"/>
          <p:cNvSpPr/>
          <p:nvPr/>
        </p:nvSpPr>
        <p:spPr>
          <a:xfrm>
            <a:off x="1453753" y="6254353"/>
            <a:ext cx="5550456" cy="922258"/>
          </a:xfrm>
          <a:prstGeom prst="rect">
            <a:avLst/>
          </a:prstGeom>
          <a:noFill/>
          <a:ln/>
        </p:spPr>
        <p:txBody>
          <a:bodyPr wrap="square" lIns="0" tIns="0" rIns="0" bIns="0" rtlCol="0" anchor="t"/>
          <a:lstStyle/>
          <a:p>
            <a:pPr marL="0" indent="0" algn="l">
              <a:lnSpc>
                <a:spcPts val="2400"/>
              </a:lnSpc>
              <a:buNone/>
            </a:pPr>
            <a:r>
              <a:rPr lang="en-US" sz="1500">
                <a:solidFill>
                  <a:srgbClr val="405449"/>
                </a:solidFill>
                <a:latin typeface="Arial Rounded MT Bold" panose="020F0704030504030204" pitchFamily="34" charset="0"/>
                <a:ea typeface="Nobile" pitchFamily="34" charset="-122"/>
                <a:cs typeface="Nobile" pitchFamily="34" charset="-120"/>
              </a:rPr>
              <a:t>Analyse des modèles d'accès et d'interaction des utilisateurs pour repérer des comportements non conventionnels, des requêtes anormales ou des taux de connexion excessifs.</a:t>
            </a:r>
            <a:endParaRPr lang="en-US" sz="1500">
              <a:latin typeface="Arial Rounded MT Bold" panose="020F0704030504030204" pitchFamily="34" charset="0"/>
            </a:endParaRPr>
          </a:p>
        </p:txBody>
      </p:sp>
      <p:sp>
        <p:nvSpPr>
          <p:cNvPr id="22" name="Shape 17"/>
          <p:cNvSpPr/>
          <p:nvPr/>
        </p:nvSpPr>
        <p:spPr>
          <a:xfrm>
            <a:off x="7411164" y="5358646"/>
            <a:ext cx="5980271" cy="2032873"/>
          </a:xfrm>
          <a:prstGeom prst="roundRect">
            <a:avLst>
              <a:gd name="adj" fmla="val 5398"/>
            </a:avLst>
          </a:prstGeom>
          <a:solidFill>
            <a:srgbClr val="FAFFFA"/>
          </a:solidFill>
          <a:ln/>
        </p:spPr>
        <p:txBody>
          <a:bodyPr/>
          <a:lstStyle/>
          <a:p>
            <a:endParaRPr lang="fr-FR">
              <a:latin typeface="Arial Rounded MT Bold" panose="020F0704030504030204" pitchFamily="34" charset="0"/>
            </a:endParaRPr>
          </a:p>
        </p:txBody>
      </p:sp>
      <p:sp>
        <p:nvSpPr>
          <p:cNvPr id="23" name="Shape 18"/>
          <p:cNvSpPr/>
          <p:nvPr/>
        </p:nvSpPr>
        <p:spPr>
          <a:xfrm>
            <a:off x="7411164" y="5335786"/>
            <a:ext cx="5980271" cy="91440"/>
          </a:xfrm>
          <a:prstGeom prst="roundRect">
            <a:avLst>
              <a:gd name="adj" fmla="val 189111"/>
            </a:avLst>
          </a:prstGeom>
          <a:solidFill>
            <a:srgbClr val="438951"/>
          </a:solidFill>
          <a:ln/>
        </p:spPr>
        <p:txBody>
          <a:bodyPr/>
          <a:lstStyle/>
          <a:p>
            <a:endParaRPr lang="fr-FR">
              <a:latin typeface="Arial Rounded MT Bold" panose="020F0704030504030204" pitchFamily="34" charset="0"/>
            </a:endParaRPr>
          </a:p>
        </p:txBody>
      </p:sp>
      <p:sp>
        <p:nvSpPr>
          <p:cNvPr id="24" name="Shape 19"/>
          <p:cNvSpPr/>
          <p:nvPr/>
        </p:nvSpPr>
        <p:spPr>
          <a:xfrm>
            <a:off x="10113109" y="5070515"/>
            <a:ext cx="576382" cy="576382"/>
          </a:xfrm>
          <a:prstGeom prst="roundRect">
            <a:avLst>
              <a:gd name="adj" fmla="val 158645"/>
            </a:avLst>
          </a:prstGeom>
          <a:solidFill>
            <a:srgbClr val="438951"/>
          </a:solidFill>
          <a:ln/>
        </p:spPr>
        <p:txBody>
          <a:bodyPr/>
          <a:lstStyle/>
          <a:p>
            <a:endParaRPr lang="fr-FR">
              <a:latin typeface="Arial Rounded MT Bold" panose="020F0704030504030204" pitchFamily="34" charset="0"/>
            </a:endParaRPr>
          </a:p>
        </p:txBody>
      </p:sp>
      <p:pic>
        <p:nvPicPr>
          <p:cNvPr id="25"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285988" y="5243393"/>
            <a:ext cx="230505" cy="230505"/>
          </a:xfrm>
          <a:prstGeom prst="rect">
            <a:avLst/>
          </a:prstGeom>
        </p:spPr>
      </p:pic>
      <p:sp>
        <p:nvSpPr>
          <p:cNvPr id="26" name="Text 20"/>
          <p:cNvSpPr/>
          <p:nvPr/>
        </p:nvSpPr>
        <p:spPr>
          <a:xfrm>
            <a:off x="7626072" y="5838944"/>
            <a:ext cx="4702850" cy="300157"/>
          </a:xfrm>
          <a:prstGeom prst="rect">
            <a:avLst/>
          </a:prstGeom>
          <a:noFill/>
          <a:ln/>
        </p:spPr>
        <p:txBody>
          <a:bodyPr wrap="none" lIns="0" tIns="0" rIns="0" bIns="0" rtlCol="0" anchor="t"/>
          <a:lstStyle/>
          <a:p>
            <a:pPr marL="0" indent="0" algn="l">
              <a:lnSpc>
                <a:spcPts val="2350"/>
              </a:lnSpc>
              <a:buNone/>
            </a:pPr>
            <a:r>
              <a:rPr lang="en-US" sz="1850" b="1">
                <a:solidFill>
                  <a:srgbClr val="405449"/>
                </a:solidFill>
                <a:latin typeface="Arial Rounded MT Bold" panose="020F0704030504030204" pitchFamily="34" charset="0"/>
                <a:ea typeface="Fraunces Extra Bold" pitchFamily="34" charset="-122"/>
                <a:cs typeface="Fraunces Extra Bold" pitchFamily="34" charset="-120"/>
              </a:rPr>
              <a:t>Signatures Matérielles &amp; Protocolaires</a:t>
            </a:r>
            <a:endParaRPr lang="en-US" sz="1850">
              <a:latin typeface="Arial Rounded MT Bold" panose="020F0704030504030204" pitchFamily="34" charset="0"/>
            </a:endParaRPr>
          </a:p>
        </p:txBody>
      </p:sp>
      <p:sp>
        <p:nvSpPr>
          <p:cNvPr id="27" name="Text 21"/>
          <p:cNvSpPr/>
          <p:nvPr/>
        </p:nvSpPr>
        <p:spPr>
          <a:xfrm>
            <a:off x="7626072" y="6254353"/>
            <a:ext cx="5550456" cy="922258"/>
          </a:xfrm>
          <a:prstGeom prst="rect">
            <a:avLst/>
          </a:prstGeom>
          <a:noFill/>
          <a:ln/>
        </p:spPr>
        <p:txBody>
          <a:bodyPr wrap="square" lIns="0" tIns="0" rIns="0" bIns="0" rtlCol="0" anchor="t"/>
          <a:lstStyle/>
          <a:p>
            <a:pPr marL="0" indent="0" algn="l">
              <a:lnSpc>
                <a:spcPts val="2400"/>
              </a:lnSpc>
              <a:buNone/>
            </a:pPr>
            <a:r>
              <a:rPr lang="en-US" sz="1500">
                <a:solidFill>
                  <a:srgbClr val="405449"/>
                </a:solidFill>
                <a:latin typeface="Arial Rounded MT Bold" panose="020F0704030504030204" pitchFamily="34" charset="0"/>
                <a:ea typeface="Nobile" pitchFamily="34" charset="-122"/>
                <a:cs typeface="Nobile" pitchFamily="34" charset="-120"/>
              </a:rPr>
              <a:t>Détection de motifs spécifiques dans les paquets (anomalies de protocole, en-têtes inhabituels) caractéristiques des attaques connues ou émergentes.</a:t>
            </a:r>
            <a:endParaRPr lang="en-US" sz="1500">
              <a:latin typeface="Arial Rounded MT Bold" panose="020F0704030504030204" pitchFamily="34" charset="0"/>
            </a:endParaRPr>
          </a:p>
        </p:txBody>
      </p:sp>
      <p:pic>
        <p:nvPicPr>
          <p:cNvPr id="28" name="Image 27" descr="Une image contenant blanc, conception&#10;&#10;Le contenu généré par l’IA peut être incorrect.">
            <a:extLst>
              <a:ext uri="{FF2B5EF4-FFF2-40B4-BE49-F238E27FC236}">
                <a16:creationId xmlns:a16="http://schemas.microsoft.com/office/drawing/2014/main" id="{1795122E-0CE2-CD54-8407-77944814C68B}"/>
              </a:ext>
            </a:extLst>
          </p:cNvPr>
          <p:cNvPicPr>
            <a:picLocks noChangeAspect="1"/>
          </p:cNvPicPr>
          <p:nvPr/>
        </p:nvPicPr>
        <p:blipFill>
          <a:blip r:embed="rId11"/>
          <a:stretch>
            <a:fillRect/>
          </a:stretch>
        </p:blipFill>
        <p:spPr>
          <a:xfrm>
            <a:off x="12137004" y="7448441"/>
            <a:ext cx="2486372" cy="781159"/>
          </a:xfrm>
          <a:prstGeom prst="rect">
            <a:avLst/>
          </a:prstGeom>
        </p:spPr>
      </p:pic>
      <p:sp>
        <p:nvSpPr>
          <p:cNvPr id="29" name="ZoneTexte 28">
            <a:extLst>
              <a:ext uri="{FF2B5EF4-FFF2-40B4-BE49-F238E27FC236}">
                <a16:creationId xmlns:a16="http://schemas.microsoft.com/office/drawing/2014/main" id="{4C97E780-FD29-DCD5-837F-EFEDAB546690}"/>
              </a:ext>
            </a:extLst>
          </p:cNvPr>
          <p:cNvSpPr txBox="1"/>
          <p:nvPr/>
        </p:nvSpPr>
        <p:spPr>
          <a:xfrm>
            <a:off x="6951518" y="7803572"/>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a:ea typeface="Calibri"/>
                <a:cs typeface="Calibri"/>
              </a:rPr>
              <a:t>12</a:t>
            </a:r>
            <a:endParaRPr lang="fr-F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965252" y="378738"/>
            <a:ext cx="5047774" cy="429816"/>
          </a:xfrm>
          <a:prstGeom prst="rect">
            <a:avLst/>
          </a:prstGeom>
          <a:noFill/>
          <a:ln/>
        </p:spPr>
        <p:txBody>
          <a:bodyPr wrap="none" lIns="0" tIns="0" rIns="0" bIns="0" rtlCol="0" anchor="t"/>
          <a:lstStyle/>
          <a:p>
            <a:pPr marL="0" indent="0" algn="l">
              <a:lnSpc>
                <a:spcPts val="3350"/>
              </a:lnSpc>
              <a:buNone/>
            </a:pPr>
            <a:r>
              <a:rPr lang="en-US" sz="2700" b="1">
                <a:solidFill>
                  <a:srgbClr val="3B4540"/>
                </a:solidFill>
                <a:latin typeface="Arial Rounded MT Bold" panose="020F0704030504030204" pitchFamily="34" charset="0"/>
                <a:ea typeface="Fraunces Extra Bold" pitchFamily="34" charset="-122"/>
                <a:cs typeface="Fraunces Extra Bold" pitchFamily="34" charset="-120"/>
              </a:rPr>
              <a:t>Mise en Œuvre de la Réaction</a:t>
            </a:r>
            <a:endParaRPr lang="en-US" sz="2700">
              <a:latin typeface="Arial Rounded MT Bold" panose="020F0704030504030204" pitchFamily="34" charset="0"/>
            </a:endParaRPr>
          </a:p>
        </p:txBody>
      </p:sp>
      <p:sp>
        <p:nvSpPr>
          <p:cNvPr id="3" name="Text 1"/>
          <p:cNvSpPr/>
          <p:nvPr/>
        </p:nvSpPr>
        <p:spPr>
          <a:xfrm>
            <a:off x="2965252" y="1014770"/>
            <a:ext cx="8699897" cy="440055"/>
          </a:xfrm>
          <a:prstGeom prst="rect">
            <a:avLst/>
          </a:prstGeom>
          <a:noFill/>
          <a:ln/>
        </p:spPr>
        <p:txBody>
          <a:bodyPr wrap="square" lIns="0" tIns="0" rIns="0" bIns="0" rtlCol="0" anchor="t"/>
          <a:lstStyle/>
          <a:p>
            <a:pPr marL="0" indent="0" algn="l">
              <a:lnSpc>
                <a:spcPts val="1700"/>
              </a:lnSpc>
              <a:buNone/>
            </a:pPr>
            <a:r>
              <a:rPr lang="en-US" sz="1050">
                <a:solidFill>
                  <a:srgbClr val="405449"/>
                </a:solidFill>
                <a:latin typeface="Arial Rounded MT Bold" panose="020F0704030504030204" pitchFamily="34" charset="0"/>
                <a:ea typeface="Nobile" pitchFamily="34" charset="-122"/>
                <a:cs typeface="Nobile" pitchFamily="34" charset="-120"/>
              </a:rPr>
              <a:t>Face à une attaque DDoS, une réaction structurée et coordonnée est essentielle. Ce protocole d'escalade garantit une atténuation rapide et efficace des menaces.</a:t>
            </a:r>
            <a:endParaRPr lang="en-US" sz="1050">
              <a:latin typeface="Arial Rounded MT Bold" panose="020F0704030504030204" pitchFamily="34" charset="0"/>
            </a:endParaRPr>
          </a:p>
        </p:txBody>
      </p:sp>
      <p:sp>
        <p:nvSpPr>
          <p:cNvPr id="4" name="Shape 2"/>
          <p:cNvSpPr/>
          <p:nvPr/>
        </p:nvSpPr>
        <p:spPr>
          <a:xfrm>
            <a:off x="7307580" y="1609487"/>
            <a:ext cx="15240" cy="6241256"/>
          </a:xfrm>
          <a:prstGeom prst="roundRect">
            <a:avLst>
              <a:gd name="adj" fmla="val 812298"/>
            </a:avLst>
          </a:prstGeom>
          <a:solidFill>
            <a:srgbClr val="CED9CE"/>
          </a:solidFill>
          <a:ln/>
        </p:spPr>
        <p:txBody>
          <a:bodyPr/>
          <a:lstStyle/>
          <a:p>
            <a:endParaRPr lang="fr-FR">
              <a:latin typeface="Arial Rounded MT Bold" panose="020F0704030504030204" pitchFamily="34" charset="0"/>
            </a:endParaRPr>
          </a:p>
        </p:txBody>
      </p:sp>
      <p:sp>
        <p:nvSpPr>
          <p:cNvPr id="5" name="Shape 3"/>
          <p:cNvSpPr/>
          <p:nvPr/>
        </p:nvSpPr>
        <p:spPr>
          <a:xfrm>
            <a:off x="6763167" y="1756529"/>
            <a:ext cx="412552" cy="15240"/>
          </a:xfrm>
          <a:prstGeom prst="roundRect">
            <a:avLst>
              <a:gd name="adj" fmla="val 812298"/>
            </a:avLst>
          </a:prstGeom>
          <a:solidFill>
            <a:srgbClr val="CED9CE"/>
          </a:solidFill>
          <a:ln/>
        </p:spPr>
        <p:txBody>
          <a:bodyPr/>
          <a:lstStyle/>
          <a:p>
            <a:endParaRPr lang="fr-FR">
              <a:latin typeface="Arial Rounded MT Bold" panose="020F0704030504030204" pitchFamily="34" charset="0"/>
            </a:endParaRPr>
          </a:p>
        </p:txBody>
      </p:sp>
      <p:sp>
        <p:nvSpPr>
          <p:cNvPr id="6" name="Shape 4"/>
          <p:cNvSpPr/>
          <p:nvPr/>
        </p:nvSpPr>
        <p:spPr>
          <a:xfrm>
            <a:off x="7160478" y="1609487"/>
            <a:ext cx="309443" cy="309443"/>
          </a:xfrm>
          <a:prstGeom prst="roundRect">
            <a:avLst>
              <a:gd name="adj" fmla="val 40005"/>
            </a:avLst>
          </a:prstGeom>
          <a:solidFill>
            <a:srgbClr val="E8F3E8"/>
          </a:solidFill>
          <a:ln/>
        </p:spPr>
        <p:txBody>
          <a:bodyPr/>
          <a:lstStyle/>
          <a:p>
            <a:endParaRPr lang="fr-FR">
              <a:latin typeface="Arial Rounded MT Bold" panose="020F0704030504030204" pitchFamily="34" charset="0"/>
            </a:endParaRPr>
          </a:p>
        </p:txBody>
      </p:sp>
      <p:sp>
        <p:nvSpPr>
          <p:cNvPr id="7" name="Text 5"/>
          <p:cNvSpPr/>
          <p:nvPr/>
        </p:nvSpPr>
        <p:spPr>
          <a:xfrm>
            <a:off x="7212032" y="1635204"/>
            <a:ext cx="206216" cy="257889"/>
          </a:xfrm>
          <a:prstGeom prst="rect">
            <a:avLst/>
          </a:prstGeom>
          <a:noFill/>
          <a:ln/>
        </p:spPr>
        <p:txBody>
          <a:bodyPr wrap="none" lIns="0" tIns="0" rIns="0" bIns="0" rtlCol="0" anchor="t"/>
          <a:lstStyle/>
          <a:p>
            <a:pPr marL="0" indent="0" algn="ctr">
              <a:lnSpc>
                <a:spcPts val="1600"/>
              </a:lnSpc>
              <a:buNone/>
            </a:pPr>
            <a:r>
              <a:rPr lang="en-US" sz="1600" b="1">
                <a:solidFill>
                  <a:srgbClr val="405449"/>
                </a:solidFill>
                <a:latin typeface="Arial Rounded MT Bold" panose="020F0704030504030204" pitchFamily="34" charset="0"/>
                <a:ea typeface="Fraunces Extra Bold" pitchFamily="34" charset="-122"/>
                <a:cs typeface="Fraunces Extra Bold" pitchFamily="34" charset="-120"/>
              </a:rPr>
              <a:t>1</a:t>
            </a:r>
            <a:endParaRPr lang="en-US" sz="1600">
              <a:latin typeface="Arial Rounded MT Bold" panose="020F0704030504030204" pitchFamily="34" charset="0"/>
            </a:endParaRPr>
          </a:p>
        </p:txBody>
      </p:sp>
      <p:sp>
        <p:nvSpPr>
          <p:cNvPr id="8" name="Text 6"/>
          <p:cNvSpPr/>
          <p:nvPr/>
        </p:nvSpPr>
        <p:spPr>
          <a:xfrm>
            <a:off x="4908233" y="1656755"/>
            <a:ext cx="1719263" cy="214908"/>
          </a:xfrm>
          <a:prstGeom prst="rect">
            <a:avLst/>
          </a:prstGeom>
          <a:noFill/>
          <a:ln/>
        </p:spPr>
        <p:txBody>
          <a:bodyPr wrap="none" lIns="0" tIns="0" rIns="0" bIns="0" rtlCol="0" anchor="t"/>
          <a:lstStyle/>
          <a:p>
            <a:pPr marL="0" indent="0" algn="r">
              <a:lnSpc>
                <a:spcPts val="1650"/>
              </a:lnSpc>
              <a:buNone/>
            </a:pPr>
            <a:r>
              <a:rPr lang="en-US" sz="1350" b="1">
                <a:solidFill>
                  <a:srgbClr val="405449"/>
                </a:solidFill>
                <a:latin typeface="Arial Rounded MT Bold" panose="020F0704030504030204" pitchFamily="34" charset="0"/>
                <a:ea typeface="Fraunces Extra Bold" pitchFamily="34" charset="-122"/>
                <a:cs typeface="Fraunces Extra Bold" pitchFamily="34" charset="-120"/>
              </a:rPr>
              <a:t>Activation du Plan</a:t>
            </a:r>
            <a:endParaRPr lang="en-US" sz="1350">
              <a:latin typeface="Arial Rounded MT Bold" panose="020F0704030504030204" pitchFamily="34" charset="0"/>
            </a:endParaRPr>
          </a:p>
        </p:txBody>
      </p:sp>
      <p:sp>
        <p:nvSpPr>
          <p:cNvPr id="9" name="Text 7"/>
          <p:cNvSpPr/>
          <p:nvPr/>
        </p:nvSpPr>
        <p:spPr>
          <a:xfrm>
            <a:off x="2965252" y="1954173"/>
            <a:ext cx="3662243" cy="440055"/>
          </a:xfrm>
          <a:prstGeom prst="rect">
            <a:avLst/>
          </a:prstGeom>
          <a:noFill/>
          <a:ln/>
        </p:spPr>
        <p:txBody>
          <a:bodyPr wrap="square" lIns="0" tIns="0" rIns="0" bIns="0" rtlCol="0" anchor="t"/>
          <a:lstStyle/>
          <a:p>
            <a:pPr marL="0" indent="0" algn="r">
              <a:lnSpc>
                <a:spcPts val="1700"/>
              </a:lnSpc>
              <a:buNone/>
            </a:pPr>
            <a:r>
              <a:rPr lang="en-US" sz="1050">
                <a:solidFill>
                  <a:srgbClr val="405449"/>
                </a:solidFill>
                <a:latin typeface="Arial Rounded MT Bold" panose="020F0704030504030204" pitchFamily="34" charset="0"/>
                <a:ea typeface="Nobile" pitchFamily="34" charset="-122"/>
                <a:cs typeface="Nobile" pitchFamily="34" charset="-120"/>
              </a:rPr>
              <a:t>Déclenchement immédiat des procédures d'urgence et des playbooks définis.</a:t>
            </a:r>
            <a:endParaRPr lang="en-US" sz="1050">
              <a:latin typeface="Arial Rounded MT Bold" panose="020F0704030504030204" pitchFamily="34" charset="0"/>
            </a:endParaRPr>
          </a:p>
        </p:txBody>
      </p:sp>
      <p:sp>
        <p:nvSpPr>
          <p:cNvPr id="10" name="Shape 8"/>
          <p:cNvSpPr/>
          <p:nvPr/>
        </p:nvSpPr>
        <p:spPr>
          <a:xfrm>
            <a:off x="7454682" y="2581751"/>
            <a:ext cx="412552" cy="15240"/>
          </a:xfrm>
          <a:prstGeom prst="roundRect">
            <a:avLst>
              <a:gd name="adj" fmla="val 812298"/>
            </a:avLst>
          </a:prstGeom>
          <a:solidFill>
            <a:srgbClr val="CED9CE"/>
          </a:solidFill>
          <a:ln/>
        </p:spPr>
        <p:txBody>
          <a:bodyPr/>
          <a:lstStyle/>
          <a:p>
            <a:endParaRPr lang="fr-FR">
              <a:latin typeface="Arial Rounded MT Bold" panose="020F0704030504030204" pitchFamily="34" charset="0"/>
            </a:endParaRPr>
          </a:p>
        </p:txBody>
      </p:sp>
      <p:sp>
        <p:nvSpPr>
          <p:cNvPr id="11" name="Shape 9"/>
          <p:cNvSpPr/>
          <p:nvPr/>
        </p:nvSpPr>
        <p:spPr>
          <a:xfrm>
            <a:off x="7160478" y="2434709"/>
            <a:ext cx="309443" cy="309443"/>
          </a:xfrm>
          <a:prstGeom prst="roundRect">
            <a:avLst>
              <a:gd name="adj" fmla="val 40005"/>
            </a:avLst>
          </a:prstGeom>
          <a:solidFill>
            <a:srgbClr val="E8F3E8"/>
          </a:solidFill>
          <a:ln/>
        </p:spPr>
        <p:txBody>
          <a:bodyPr/>
          <a:lstStyle/>
          <a:p>
            <a:endParaRPr lang="fr-FR">
              <a:latin typeface="Arial Rounded MT Bold" panose="020F0704030504030204" pitchFamily="34" charset="0"/>
            </a:endParaRPr>
          </a:p>
        </p:txBody>
      </p:sp>
      <p:sp>
        <p:nvSpPr>
          <p:cNvPr id="12" name="Text 10"/>
          <p:cNvSpPr/>
          <p:nvPr/>
        </p:nvSpPr>
        <p:spPr>
          <a:xfrm>
            <a:off x="7212032" y="2460427"/>
            <a:ext cx="206216" cy="257889"/>
          </a:xfrm>
          <a:prstGeom prst="rect">
            <a:avLst/>
          </a:prstGeom>
          <a:noFill/>
          <a:ln/>
        </p:spPr>
        <p:txBody>
          <a:bodyPr wrap="none" lIns="0" tIns="0" rIns="0" bIns="0" rtlCol="0" anchor="t"/>
          <a:lstStyle/>
          <a:p>
            <a:pPr marL="0" indent="0" algn="ctr">
              <a:lnSpc>
                <a:spcPts val="1600"/>
              </a:lnSpc>
              <a:buNone/>
            </a:pPr>
            <a:r>
              <a:rPr lang="en-US" sz="1600" b="1">
                <a:solidFill>
                  <a:srgbClr val="405449"/>
                </a:solidFill>
                <a:latin typeface="Arial Rounded MT Bold" panose="020F0704030504030204" pitchFamily="34" charset="0"/>
                <a:ea typeface="Fraunces Extra Bold" pitchFamily="34" charset="-122"/>
                <a:cs typeface="Fraunces Extra Bold" pitchFamily="34" charset="-120"/>
              </a:rPr>
              <a:t>2</a:t>
            </a:r>
            <a:endParaRPr lang="en-US" sz="1600">
              <a:latin typeface="Arial Rounded MT Bold" panose="020F0704030504030204" pitchFamily="34" charset="0"/>
            </a:endParaRPr>
          </a:p>
        </p:txBody>
      </p:sp>
      <p:sp>
        <p:nvSpPr>
          <p:cNvPr id="13" name="Text 11"/>
          <p:cNvSpPr/>
          <p:nvPr/>
        </p:nvSpPr>
        <p:spPr>
          <a:xfrm>
            <a:off x="8002905" y="2481977"/>
            <a:ext cx="2163842" cy="214908"/>
          </a:xfrm>
          <a:prstGeom prst="rect">
            <a:avLst/>
          </a:prstGeom>
          <a:noFill/>
          <a:ln/>
        </p:spPr>
        <p:txBody>
          <a:bodyPr wrap="none" lIns="0" tIns="0" rIns="0" bIns="0" rtlCol="0" anchor="t"/>
          <a:lstStyle/>
          <a:p>
            <a:pPr marL="0" indent="0" algn="l">
              <a:lnSpc>
                <a:spcPts val="1650"/>
              </a:lnSpc>
              <a:buNone/>
            </a:pPr>
            <a:r>
              <a:rPr lang="en-US" sz="1350" b="1">
                <a:solidFill>
                  <a:srgbClr val="405449"/>
                </a:solidFill>
                <a:latin typeface="Arial Rounded MT Bold" panose="020F0704030504030204" pitchFamily="34" charset="0"/>
                <a:ea typeface="Fraunces Extra Bold" pitchFamily="34" charset="-122"/>
                <a:cs typeface="Fraunces Extra Bold" pitchFamily="34" charset="-120"/>
              </a:rPr>
              <a:t>Mobilisation des Équipes</a:t>
            </a:r>
            <a:endParaRPr lang="en-US" sz="1350">
              <a:latin typeface="Arial Rounded MT Bold" panose="020F0704030504030204" pitchFamily="34" charset="0"/>
            </a:endParaRPr>
          </a:p>
        </p:txBody>
      </p:sp>
      <p:sp>
        <p:nvSpPr>
          <p:cNvPr id="14" name="Text 12"/>
          <p:cNvSpPr/>
          <p:nvPr/>
        </p:nvSpPr>
        <p:spPr>
          <a:xfrm>
            <a:off x="8002905" y="2779395"/>
            <a:ext cx="3662243" cy="440055"/>
          </a:xfrm>
          <a:prstGeom prst="rect">
            <a:avLst/>
          </a:prstGeom>
          <a:noFill/>
          <a:ln/>
        </p:spPr>
        <p:txBody>
          <a:bodyPr wrap="square" lIns="0" tIns="0" rIns="0" bIns="0" rtlCol="0" anchor="t"/>
          <a:lstStyle/>
          <a:p>
            <a:pPr marL="0" indent="0" algn="l">
              <a:lnSpc>
                <a:spcPts val="1700"/>
              </a:lnSpc>
              <a:buNone/>
            </a:pPr>
            <a:r>
              <a:rPr lang="en-US" sz="1050">
                <a:solidFill>
                  <a:srgbClr val="405449"/>
                </a:solidFill>
                <a:latin typeface="Arial Rounded MT Bold" panose="020F0704030504030204" pitchFamily="34" charset="0"/>
                <a:ea typeface="Nobile" pitchFamily="34" charset="-122"/>
                <a:cs typeface="Nobile" pitchFamily="34" charset="-120"/>
              </a:rPr>
              <a:t>Constitution rapide de la cellule de crise avec les rôles et responsabilités pré-établis.</a:t>
            </a:r>
            <a:endParaRPr lang="en-US" sz="1050">
              <a:latin typeface="Arial Rounded MT Bold" panose="020F0704030504030204" pitchFamily="34" charset="0"/>
            </a:endParaRPr>
          </a:p>
        </p:txBody>
      </p:sp>
      <p:sp>
        <p:nvSpPr>
          <p:cNvPr id="15" name="Shape 13"/>
          <p:cNvSpPr/>
          <p:nvPr/>
        </p:nvSpPr>
        <p:spPr>
          <a:xfrm>
            <a:off x="6763167" y="3293031"/>
            <a:ext cx="412552" cy="15240"/>
          </a:xfrm>
          <a:prstGeom prst="roundRect">
            <a:avLst>
              <a:gd name="adj" fmla="val 812298"/>
            </a:avLst>
          </a:prstGeom>
          <a:solidFill>
            <a:srgbClr val="CED9CE"/>
          </a:solidFill>
          <a:ln/>
        </p:spPr>
        <p:txBody>
          <a:bodyPr/>
          <a:lstStyle/>
          <a:p>
            <a:endParaRPr lang="fr-FR">
              <a:latin typeface="Arial Rounded MT Bold" panose="020F0704030504030204" pitchFamily="34" charset="0"/>
            </a:endParaRPr>
          </a:p>
        </p:txBody>
      </p:sp>
      <p:sp>
        <p:nvSpPr>
          <p:cNvPr id="16" name="Shape 14"/>
          <p:cNvSpPr/>
          <p:nvPr/>
        </p:nvSpPr>
        <p:spPr>
          <a:xfrm>
            <a:off x="7160478" y="3145988"/>
            <a:ext cx="309443" cy="309443"/>
          </a:xfrm>
          <a:prstGeom prst="roundRect">
            <a:avLst>
              <a:gd name="adj" fmla="val 40005"/>
            </a:avLst>
          </a:prstGeom>
          <a:solidFill>
            <a:srgbClr val="E8F3E8"/>
          </a:solidFill>
          <a:ln/>
        </p:spPr>
        <p:txBody>
          <a:bodyPr/>
          <a:lstStyle/>
          <a:p>
            <a:endParaRPr lang="fr-FR">
              <a:latin typeface="Arial Rounded MT Bold" panose="020F0704030504030204" pitchFamily="34" charset="0"/>
            </a:endParaRPr>
          </a:p>
        </p:txBody>
      </p:sp>
      <p:sp>
        <p:nvSpPr>
          <p:cNvPr id="17" name="Text 15"/>
          <p:cNvSpPr/>
          <p:nvPr/>
        </p:nvSpPr>
        <p:spPr>
          <a:xfrm>
            <a:off x="7212032" y="3171706"/>
            <a:ext cx="206216" cy="257889"/>
          </a:xfrm>
          <a:prstGeom prst="rect">
            <a:avLst/>
          </a:prstGeom>
          <a:noFill/>
          <a:ln/>
        </p:spPr>
        <p:txBody>
          <a:bodyPr wrap="none" lIns="0" tIns="0" rIns="0" bIns="0" rtlCol="0" anchor="t"/>
          <a:lstStyle/>
          <a:p>
            <a:pPr marL="0" indent="0" algn="ctr">
              <a:lnSpc>
                <a:spcPts val="1600"/>
              </a:lnSpc>
              <a:buNone/>
            </a:pPr>
            <a:r>
              <a:rPr lang="en-US" sz="1600" b="1">
                <a:solidFill>
                  <a:srgbClr val="405449"/>
                </a:solidFill>
                <a:latin typeface="Arial Rounded MT Bold" panose="020F0704030504030204" pitchFamily="34" charset="0"/>
                <a:ea typeface="Fraunces Extra Bold" pitchFamily="34" charset="-122"/>
                <a:cs typeface="Fraunces Extra Bold" pitchFamily="34" charset="-120"/>
              </a:rPr>
              <a:t>3</a:t>
            </a:r>
            <a:endParaRPr lang="en-US" sz="1600">
              <a:latin typeface="Arial Rounded MT Bold" panose="020F0704030504030204" pitchFamily="34" charset="0"/>
            </a:endParaRPr>
          </a:p>
        </p:txBody>
      </p:sp>
      <p:sp>
        <p:nvSpPr>
          <p:cNvPr id="18" name="Text 16"/>
          <p:cNvSpPr/>
          <p:nvPr/>
        </p:nvSpPr>
        <p:spPr>
          <a:xfrm>
            <a:off x="4665107" y="3193256"/>
            <a:ext cx="1962388" cy="214908"/>
          </a:xfrm>
          <a:prstGeom prst="rect">
            <a:avLst/>
          </a:prstGeom>
          <a:noFill/>
          <a:ln/>
        </p:spPr>
        <p:txBody>
          <a:bodyPr wrap="none" lIns="0" tIns="0" rIns="0" bIns="0" rtlCol="0" anchor="t"/>
          <a:lstStyle/>
          <a:p>
            <a:pPr marL="0" indent="0" algn="r">
              <a:lnSpc>
                <a:spcPts val="1650"/>
              </a:lnSpc>
              <a:buNone/>
            </a:pPr>
            <a:r>
              <a:rPr lang="en-US" sz="1350" b="1">
                <a:solidFill>
                  <a:srgbClr val="405449"/>
                </a:solidFill>
                <a:latin typeface="Arial Rounded MT Bold" panose="020F0704030504030204" pitchFamily="34" charset="0"/>
                <a:ea typeface="Fraunces Extra Bold" pitchFamily="34" charset="-122"/>
                <a:cs typeface="Fraunces Extra Bold" pitchFamily="34" charset="-120"/>
              </a:rPr>
              <a:t>Détournement du Flux</a:t>
            </a:r>
            <a:endParaRPr lang="en-US" sz="1350">
              <a:latin typeface="Arial Rounded MT Bold" panose="020F0704030504030204" pitchFamily="34" charset="0"/>
            </a:endParaRPr>
          </a:p>
        </p:txBody>
      </p:sp>
      <p:sp>
        <p:nvSpPr>
          <p:cNvPr id="19" name="Text 17"/>
          <p:cNvSpPr/>
          <p:nvPr/>
        </p:nvSpPr>
        <p:spPr>
          <a:xfrm>
            <a:off x="2965252" y="3490674"/>
            <a:ext cx="3662243" cy="440055"/>
          </a:xfrm>
          <a:prstGeom prst="rect">
            <a:avLst/>
          </a:prstGeom>
          <a:noFill/>
          <a:ln/>
        </p:spPr>
        <p:txBody>
          <a:bodyPr wrap="square" lIns="0" tIns="0" rIns="0" bIns="0" rtlCol="0" anchor="t"/>
          <a:lstStyle/>
          <a:p>
            <a:pPr marL="0" indent="0" algn="r">
              <a:lnSpc>
                <a:spcPts val="1700"/>
              </a:lnSpc>
              <a:buNone/>
            </a:pPr>
            <a:r>
              <a:rPr lang="en-US" sz="1050">
                <a:solidFill>
                  <a:srgbClr val="405449"/>
                </a:solidFill>
                <a:latin typeface="Arial Rounded MT Bold" panose="020F0704030504030204" pitchFamily="34" charset="0"/>
                <a:ea typeface="Nobile" pitchFamily="34" charset="-122"/>
                <a:cs typeface="Nobile" pitchFamily="34" charset="-120"/>
              </a:rPr>
              <a:t>Routage du trafic malveillant vers des infrastructures d'atténuation dédiées pour protéger les services.</a:t>
            </a:r>
            <a:endParaRPr lang="en-US" sz="1050">
              <a:latin typeface="Arial Rounded MT Bold" panose="020F0704030504030204" pitchFamily="34" charset="0"/>
            </a:endParaRPr>
          </a:p>
        </p:txBody>
      </p:sp>
      <p:sp>
        <p:nvSpPr>
          <p:cNvPr id="20" name="Shape 18"/>
          <p:cNvSpPr/>
          <p:nvPr/>
        </p:nvSpPr>
        <p:spPr>
          <a:xfrm>
            <a:off x="7454682" y="4004429"/>
            <a:ext cx="412552" cy="15240"/>
          </a:xfrm>
          <a:prstGeom prst="roundRect">
            <a:avLst>
              <a:gd name="adj" fmla="val 812298"/>
            </a:avLst>
          </a:prstGeom>
          <a:solidFill>
            <a:srgbClr val="CED9CE"/>
          </a:solidFill>
          <a:ln/>
        </p:spPr>
        <p:txBody>
          <a:bodyPr/>
          <a:lstStyle/>
          <a:p>
            <a:endParaRPr lang="fr-FR">
              <a:latin typeface="Arial Rounded MT Bold" panose="020F0704030504030204" pitchFamily="34" charset="0"/>
            </a:endParaRPr>
          </a:p>
        </p:txBody>
      </p:sp>
      <p:sp>
        <p:nvSpPr>
          <p:cNvPr id="21" name="Shape 19"/>
          <p:cNvSpPr/>
          <p:nvPr/>
        </p:nvSpPr>
        <p:spPr>
          <a:xfrm>
            <a:off x="7160478" y="3857387"/>
            <a:ext cx="309443" cy="309443"/>
          </a:xfrm>
          <a:prstGeom prst="roundRect">
            <a:avLst>
              <a:gd name="adj" fmla="val 40005"/>
            </a:avLst>
          </a:prstGeom>
          <a:solidFill>
            <a:srgbClr val="E8F3E8"/>
          </a:solidFill>
          <a:ln/>
        </p:spPr>
        <p:txBody>
          <a:bodyPr/>
          <a:lstStyle/>
          <a:p>
            <a:endParaRPr lang="fr-FR">
              <a:latin typeface="Arial Rounded MT Bold" panose="020F0704030504030204" pitchFamily="34" charset="0"/>
            </a:endParaRPr>
          </a:p>
        </p:txBody>
      </p:sp>
      <p:sp>
        <p:nvSpPr>
          <p:cNvPr id="22" name="Text 20"/>
          <p:cNvSpPr/>
          <p:nvPr/>
        </p:nvSpPr>
        <p:spPr>
          <a:xfrm>
            <a:off x="7212032" y="3883104"/>
            <a:ext cx="206216" cy="257889"/>
          </a:xfrm>
          <a:prstGeom prst="rect">
            <a:avLst/>
          </a:prstGeom>
          <a:noFill/>
          <a:ln/>
        </p:spPr>
        <p:txBody>
          <a:bodyPr wrap="none" lIns="0" tIns="0" rIns="0" bIns="0" rtlCol="0" anchor="t"/>
          <a:lstStyle/>
          <a:p>
            <a:pPr marL="0" indent="0" algn="ctr">
              <a:lnSpc>
                <a:spcPts val="1600"/>
              </a:lnSpc>
              <a:buNone/>
            </a:pPr>
            <a:r>
              <a:rPr lang="en-US" sz="1600" b="1">
                <a:solidFill>
                  <a:srgbClr val="405449"/>
                </a:solidFill>
                <a:latin typeface="Arial Rounded MT Bold" panose="020F0704030504030204" pitchFamily="34" charset="0"/>
                <a:ea typeface="Fraunces Extra Bold" pitchFamily="34" charset="-122"/>
                <a:cs typeface="Fraunces Extra Bold" pitchFamily="34" charset="-120"/>
              </a:rPr>
              <a:t>4</a:t>
            </a:r>
            <a:endParaRPr lang="en-US" sz="1600">
              <a:latin typeface="Arial Rounded MT Bold" panose="020F0704030504030204" pitchFamily="34" charset="0"/>
            </a:endParaRPr>
          </a:p>
        </p:txBody>
      </p:sp>
      <p:sp>
        <p:nvSpPr>
          <p:cNvPr id="23" name="Text 21"/>
          <p:cNvSpPr/>
          <p:nvPr/>
        </p:nvSpPr>
        <p:spPr>
          <a:xfrm>
            <a:off x="8002905" y="3904655"/>
            <a:ext cx="1948101" cy="214908"/>
          </a:xfrm>
          <a:prstGeom prst="rect">
            <a:avLst/>
          </a:prstGeom>
          <a:noFill/>
          <a:ln/>
        </p:spPr>
        <p:txBody>
          <a:bodyPr wrap="none" lIns="0" tIns="0" rIns="0" bIns="0" rtlCol="0" anchor="t"/>
          <a:lstStyle/>
          <a:p>
            <a:pPr marL="0" indent="0" algn="l">
              <a:lnSpc>
                <a:spcPts val="1650"/>
              </a:lnSpc>
              <a:buNone/>
            </a:pPr>
            <a:r>
              <a:rPr lang="en-US" sz="1350" b="1">
                <a:solidFill>
                  <a:srgbClr val="405449"/>
                </a:solidFill>
                <a:latin typeface="Arial Rounded MT Bold" panose="020F0704030504030204" pitchFamily="34" charset="0"/>
                <a:ea typeface="Fraunces Extra Bold" pitchFamily="34" charset="-122"/>
                <a:cs typeface="Fraunces Extra Bold" pitchFamily="34" charset="-120"/>
              </a:rPr>
              <a:t>Filtres IP Dynamiques</a:t>
            </a:r>
            <a:endParaRPr lang="en-US" sz="1350">
              <a:latin typeface="Arial Rounded MT Bold" panose="020F0704030504030204" pitchFamily="34" charset="0"/>
            </a:endParaRPr>
          </a:p>
        </p:txBody>
      </p:sp>
      <p:sp>
        <p:nvSpPr>
          <p:cNvPr id="24" name="Text 22"/>
          <p:cNvSpPr/>
          <p:nvPr/>
        </p:nvSpPr>
        <p:spPr>
          <a:xfrm>
            <a:off x="8002905" y="4202073"/>
            <a:ext cx="3662243" cy="440055"/>
          </a:xfrm>
          <a:prstGeom prst="rect">
            <a:avLst/>
          </a:prstGeom>
          <a:noFill/>
          <a:ln/>
        </p:spPr>
        <p:txBody>
          <a:bodyPr wrap="square" lIns="0" tIns="0" rIns="0" bIns="0" rtlCol="0" anchor="t"/>
          <a:lstStyle/>
          <a:p>
            <a:pPr marL="0" indent="0" algn="l">
              <a:lnSpc>
                <a:spcPts val="1700"/>
              </a:lnSpc>
              <a:buNone/>
            </a:pPr>
            <a:r>
              <a:rPr lang="en-US" sz="1050">
                <a:solidFill>
                  <a:srgbClr val="405449"/>
                </a:solidFill>
                <a:latin typeface="Arial Rounded MT Bold" panose="020F0704030504030204" pitchFamily="34" charset="0"/>
                <a:ea typeface="Nobile" pitchFamily="34" charset="-122"/>
                <a:cs typeface="Nobile" pitchFamily="34" charset="-120"/>
              </a:rPr>
              <a:t>Mise en place de règles de filtrage basées sur les adresses IP sources identifiées.</a:t>
            </a:r>
            <a:endParaRPr lang="en-US" sz="1050">
              <a:latin typeface="Arial Rounded MT Bold" panose="020F0704030504030204" pitchFamily="34" charset="0"/>
            </a:endParaRPr>
          </a:p>
        </p:txBody>
      </p:sp>
      <p:sp>
        <p:nvSpPr>
          <p:cNvPr id="25" name="Shape 23"/>
          <p:cNvSpPr/>
          <p:nvPr/>
        </p:nvSpPr>
        <p:spPr>
          <a:xfrm>
            <a:off x="6763167" y="4715828"/>
            <a:ext cx="412552" cy="15240"/>
          </a:xfrm>
          <a:prstGeom prst="roundRect">
            <a:avLst>
              <a:gd name="adj" fmla="val 812298"/>
            </a:avLst>
          </a:prstGeom>
          <a:solidFill>
            <a:srgbClr val="CED9CE"/>
          </a:solidFill>
          <a:ln/>
        </p:spPr>
        <p:txBody>
          <a:bodyPr/>
          <a:lstStyle/>
          <a:p>
            <a:endParaRPr lang="fr-FR">
              <a:latin typeface="Arial Rounded MT Bold" panose="020F0704030504030204" pitchFamily="34" charset="0"/>
            </a:endParaRPr>
          </a:p>
        </p:txBody>
      </p:sp>
      <p:sp>
        <p:nvSpPr>
          <p:cNvPr id="26" name="Shape 24"/>
          <p:cNvSpPr/>
          <p:nvPr/>
        </p:nvSpPr>
        <p:spPr>
          <a:xfrm>
            <a:off x="7160478" y="4568785"/>
            <a:ext cx="309443" cy="309443"/>
          </a:xfrm>
          <a:prstGeom prst="roundRect">
            <a:avLst>
              <a:gd name="adj" fmla="val 40005"/>
            </a:avLst>
          </a:prstGeom>
          <a:solidFill>
            <a:srgbClr val="E8F3E8"/>
          </a:solidFill>
          <a:ln/>
        </p:spPr>
        <p:txBody>
          <a:bodyPr/>
          <a:lstStyle/>
          <a:p>
            <a:endParaRPr lang="fr-FR">
              <a:latin typeface="Arial Rounded MT Bold" panose="020F0704030504030204" pitchFamily="34" charset="0"/>
            </a:endParaRPr>
          </a:p>
        </p:txBody>
      </p:sp>
      <p:sp>
        <p:nvSpPr>
          <p:cNvPr id="27" name="Text 25"/>
          <p:cNvSpPr/>
          <p:nvPr/>
        </p:nvSpPr>
        <p:spPr>
          <a:xfrm>
            <a:off x="7212032" y="4594503"/>
            <a:ext cx="206216" cy="257889"/>
          </a:xfrm>
          <a:prstGeom prst="rect">
            <a:avLst/>
          </a:prstGeom>
          <a:noFill/>
          <a:ln/>
        </p:spPr>
        <p:txBody>
          <a:bodyPr wrap="none" lIns="0" tIns="0" rIns="0" bIns="0" rtlCol="0" anchor="t"/>
          <a:lstStyle/>
          <a:p>
            <a:pPr marL="0" indent="0" algn="ctr">
              <a:lnSpc>
                <a:spcPts val="1600"/>
              </a:lnSpc>
              <a:buNone/>
            </a:pPr>
            <a:r>
              <a:rPr lang="en-US" sz="1600" b="1">
                <a:solidFill>
                  <a:srgbClr val="405449"/>
                </a:solidFill>
                <a:latin typeface="Arial Rounded MT Bold" panose="020F0704030504030204" pitchFamily="34" charset="0"/>
                <a:ea typeface="Fraunces Extra Bold" pitchFamily="34" charset="-122"/>
                <a:cs typeface="Fraunces Extra Bold" pitchFamily="34" charset="-120"/>
              </a:rPr>
              <a:t>5</a:t>
            </a:r>
            <a:endParaRPr lang="en-US" sz="1600">
              <a:latin typeface="Arial Rounded MT Bold" panose="020F0704030504030204" pitchFamily="34" charset="0"/>
            </a:endParaRPr>
          </a:p>
        </p:txBody>
      </p:sp>
      <p:sp>
        <p:nvSpPr>
          <p:cNvPr id="28" name="Text 26"/>
          <p:cNvSpPr/>
          <p:nvPr/>
        </p:nvSpPr>
        <p:spPr>
          <a:xfrm>
            <a:off x="3531394" y="4616053"/>
            <a:ext cx="3096101" cy="214908"/>
          </a:xfrm>
          <a:prstGeom prst="rect">
            <a:avLst/>
          </a:prstGeom>
          <a:noFill/>
          <a:ln/>
        </p:spPr>
        <p:txBody>
          <a:bodyPr wrap="none" lIns="0" tIns="0" rIns="0" bIns="0" rtlCol="0" anchor="t"/>
          <a:lstStyle/>
          <a:p>
            <a:pPr marL="0" indent="0" algn="r">
              <a:lnSpc>
                <a:spcPts val="1650"/>
              </a:lnSpc>
              <a:buNone/>
            </a:pPr>
            <a:r>
              <a:rPr lang="en-US" sz="1350" b="1">
                <a:solidFill>
                  <a:srgbClr val="405449"/>
                </a:solidFill>
                <a:latin typeface="Arial Rounded MT Bold" panose="020F0704030504030204" pitchFamily="34" charset="0"/>
                <a:ea typeface="Fraunces Extra Bold" pitchFamily="34" charset="-122"/>
                <a:cs typeface="Fraunces Extra Bold" pitchFamily="34" charset="-120"/>
              </a:rPr>
              <a:t>Redirection vers Scrubbing Centers</a:t>
            </a:r>
            <a:endParaRPr lang="en-US" sz="1350">
              <a:latin typeface="Arial Rounded MT Bold" panose="020F0704030504030204" pitchFamily="34" charset="0"/>
            </a:endParaRPr>
          </a:p>
        </p:txBody>
      </p:sp>
      <p:sp>
        <p:nvSpPr>
          <p:cNvPr id="29" name="Text 27"/>
          <p:cNvSpPr/>
          <p:nvPr/>
        </p:nvSpPr>
        <p:spPr>
          <a:xfrm>
            <a:off x="2965252" y="4913471"/>
            <a:ext cx="3662243" cy="440055"/>
          </a:xfrm>
          <a:prstGeom prst="rect">
            <a:avLst/>
          </a:prstGeom>
          <a:noFill/>
          <a:ln/>
        </p:spPr>
        <p:txBody>
          <a:bodyPr wrap="square" lIns="0" tIns="0" rIns="0" bIns="0" rtlCol="0" anchor="t"/>
          <a:lstStyle/>
          <a:p>
            <a:pPr marL="0" indent="0" algn="r">
              <a:lnSpc>
                <a:spcPts val="1700"/>
              </a:lnSpc>
              <a:buNone/>
            </a:pPr>
            <a:r>
              <a:rPr lang="en-US" sz="1050">
                <a:solidFill>
                  <a:srgbClr val="405449"/>
                </a:solidFill>
                <a:latin typeface="Arial Rounded MT Bold" panose="020F0704030504030204" pitchFamily="34" charset="0"/>
                <a:ea typeface="Nobile" pitchFamily="34" charset="-122"/>
                <a:cs typeface="Nobile" pitchFamily="34" charset="-120"/>
              </a:rPr>
              <a:t>Envoi du trafic vers des centres spécialisés pour nettoyage approfondi et renvoi du flux légitime.</a:t>
            </a:r>
            <a:endParaRPr lang="en-US" sz="1050">
              <a:latin typeface="Arial Rounded MT Bold" panose="020F0704030504030204" pitchFamily="34" charset="0"/>
            </a:endParaRPr>
          </a:p>
        </p:txBody>
      </p:sp>
      <p:sp>
        <p:nvSpPr>
          <p:cNvPr id="30" name="Shape 28"/>
          <p:cNvSpPr/>
          <p:nvPr/>
        </p:nvSpPr>
        <p:spPr>
          <a:xfrm>
            <a:off x="7454682" y="5427226"/>
            <a:ext cx="412552" cy="15240"/>
          </a:xfrm>
          <a:prstGeom prst="roundRect">
            <a:avLst>
              <a:gd name="adj" fmla="val 812298"/>
            </a:avLst>
          </a:prstGeom>
          <a:solidFill>
            <a:srgbClr val="CED9CE"/>
          </a:solidFill>
          <a:ln/>
        </p:spPr>
        <p:txBody>
          <a:bodyPr/>
          <a:lstStyle/>
          <a:p>
            <a:endParaRPr lang="fr-FR">
              <a:latin typeface="Arial Rounded MT Bold" panose="020F0704030504030204" pitchFamily="34" charset="0"/>
            </a:endParaRPr>
          </a:p>
        </p:txBody>
      </p:sp>
      <p:sp>
        <p:nvSpPr>
          <p:cNvPr id="31" name="Shape 29"/>
          <p:cNvSpPr/>
          <p:nvPr/>
        </p:nvSpPr>
        <p:spPr>
          <a:xfrm>
            <a:off x="7160478" y="5280184"/>
            <a:ext cx="309443" cy="309443"/>
          </a:xfrm>
          <a:prstGeom prst="roundRect">
            <a:avLst>
              <a:gd name="adj" fmla="val 40005"/>
            </a:avLst>
          </a:prstGeom>
          <a:solidFill>
            <a:srgbClr val="E8F3E8"/>
          </a:solidFill>
          <a:ln/>
        </p:spPr>
        <p:txBody>
          <a:bodyPr/>
          <a:lstStyle/>
          <a:p>
            <a:endParaRPr lang="fr-FR">
              <a:latin typeface="Arial Rounded MT Bold" panose="020F0704030504030204" pitchFamily="34" charset="0"/>
            </a:endParaRPr>
          </a:p>
        </p:txBody>
      </p:sp>
      <p:sp>
        <p:nvSpPr>
          <p:cNvPr id="32" name="Text 30"/>
          <p:cNvSpPr/>
          <p:nvPr/>
        </p:nvSpPr>
        <p:spPr>
          <a:xfrm>
            <a:off x="7212032" y="5305901"/>
            <a:ext cx="206216" cy="257889"/>
          </a:xfrm>
          <a:prstGeom prst="rect">
            <a:avLst/>
          </a:prstGeom>
          <a:noFill/>
          <a:ln/>
        </p:spPr>
        <p:txBody>
          <a:bodyPr wrap="none" lIns="0" tIns="0" rIns="0" bIns="0" rtlCol="0" anchor="t"/>
          <a:lstStyle/>
          <a:p>
            <a:pPr marL="0" indent="0" algn="ctr">
              <a:lnSpc>
                <a:spcPts val="1600"/>
              </a:lnSpc>
              <a:buNone/>
            </a:pPr>
            <a:r>
              <a:rPr lang="en-US" sz="1600" b="1">
                <a:solidFill>
                  <a:srgbClr val="405449"/>
                </a:solidFill>
                <a:latin typeface="Arial Rounded MT Bold" panose="020F0704030504030204" pitchFamily="34" charset="0"/>
                <a:ea typeface="Fraunces Extra Bold" pitchFamily="34" charset="-122"/>
                <a:cs typeface="Fraunces Extra Bold" pitchFamily="34" charset="-120"/>
              </a:rPr>
              <a:t>6</a:t>
            </a:r>
            <a:endParaRPr lang="en-US" sz="1600">
              <a:latin typeface="Arial Rounded MT Bold" panose="020F0704030504030204" pitchFamily="34" charset="0"/>
            </a:endParaRPr>
          </a:p>
        </p:txBody>
      </p:sp>
      <p:sp>
        <p:nvSpPr>
          <p:cNvPr id="33" name="Text 31"/>
          <p:cNvSpPr/>
          <p:nvPr/>
        </p:nvSpPr>
        <p:spPr>
          <a:xfrm>
            <a:off x="8002905" y="5327452"/>
            <a:ext cx="1719263" cy="214908"/>
          </a:xfrm>
          <a:prstGeom prst="rect">
            <a:avLst/>
          </a:prstGeom>
          <a:noFill/>
          <a:ln/>
        </p:spPr>
        <p:txBody>
          <a:bodyPr wrap="none" lIns="0" tIns="0" rIns="0" bIns="0" rtlCol="0" anchor="t"/>
          <a:lstStyle/>
          <a:p>
            <a:pPr marL="0" indent="0" algn="l">
              <a:lnSpc>
                <a:spcPts val="1650"/>
              </a:lnSpc>
              <a:buNone/>
            </a:pPr>
            <a:r>
              <a:rPr lang="en-US" sz="1350" b="1">
                <a:solidFill>
                  <a:srgbClr val="405449"/>
                </a:solidFill>
                <a:latin typeface="Arial Rounded MT Bold" panose="020F0704030504030204" pitchFamily="34" charset="0"/>
                <a:ea typeface="Fraunces Extra Bold" pitchFamily="34" charset="-122"/>
                <a:cs typeface="Fraunces Extra Bold" pitchFamily="34" charset="-120"/>
              </a:rPr>
              <a:t>Coordination FAI</a:t>
            </a:r>
            <a:endParaRPr lang="en-US" sz="1350">
              <a:latin typeface="Arial Rounded MT Bold" panose="020F0704030504030204" pitchFamily="34" charset="0"/>
            </a:endParaRPr>
          </a:p>
        </p:txBody>
      </p:sp>
      <p:sp>
        <p:nvSpPr>
          <p:cNvPr id="34" name="Text 32"/>
          <p:cNvSpPr/>
          <p:nvPr/>
        </p:nvSpPr>
        <p:spPr>
          <a:xfrm>
            <a:off x="8002905" y="5624870"/>
            <a:ext cx="3662243" cy="440055"/>
          </a:xfrm>
          <a:prstGeom prst="rect">
            <a:avLst/>
          </a:prstGeom>
          <a:noFill/>
          <a:ln/>
        </p:spPr>
        <p:txBody>
          <a:bodyPr wrap="square" lIns="0" tIns="0" rIns="0" bIns="0" rtlCol="0" anchor="t"/>
          <a:lstStyle/>
          <a:p>
            <a:pPr marL="0" indent="0" algn="l">
              <a:lnSpc>
                <a:spcPts val="1700"/>
              </a:lnSpc>
              <a:buNone/>
            </a:pPr>
            <a:r>
              <a:rPr lang="en-US" sz="1050">
                <a:solidFill>
                  <a:srgbClr val="405449"/>
                </a:solidFill>
                <a:latin typeface="Arial Rounded MT Bold" panose="020F0704030504030204" pitchFamily="34" charset="0"/>
                <a:ea typeface="Nobile" pitchFamily="34" charset="-122"/>
                <a:cs typeface="Nobile" pitchFamily="34" charset="-120"/>
              </a:rPr>
              <a:t>Collaboration étroite avec les Fournisseurs d'Accès Internet pour bloquer les sources d'attaque en amont.</a:t>
            </a:r>
            <a:endParaRPr lang="en-US" sz="1050">
              <a:latin typeface="Arial Rounded MT Bold" panose="020F0704030504030204" pitchFamily="34" charset="0"/>
            </a:endParaRPr>
          </a:p>
        </p:txBody>
      </p:sp>
      <p:sp>
        <p:nvSpPr>
          <p:cNvPr id="35" name="Shape 33"/>
          <p:cNvSpPr/>
          <p:nvPr/>
        </p:nvSpPr>
        <p:spPr>
          <a:xfrm>
            <a:off x="6763167" y="6138624"/>
            <a:ext cx="412552" cy="15240"/>
          </a:xfrm>
          <a:prstGeom prst="roundRect">
            <a:avLst>
              <a:gd name="adj" fmla="val 812298"/>
            </a:avLst>
          </a:prstGeom>
          <a:solidFill>
            <a:srgbClr val="CED9CE"/>
          </a:solidFill>
          <a:ln/>
        </p:spPr>
        <p:txBody>
          <a:bodyPr/>
          <a:lstStyle/>
          <a:p>
            <a:endParaRPr lang="fr-FR">
              <a:latin typeface="Arial Rounded MT Bold" panose="020F0704030504030204" pitchFamily="34" charset="0"/>
            </a:endParaRPr>
          </a:p>
        </p:txBody>
      </p:sp>
      <p:sp>
        <p:nvSpPr>
          <p:cNvPr id="36" name="Shape 34"/>
          <p:cNvSpPr/>
          <p:nvPr/>
        </p:nvSpPr>
        <p:spPr>
          <a:xfrm>
            <a:off x="7160478" y="5991582"/>
            <a:ext cx="309443" cy="309443"/>
          </a:xfrm>
          <a:prstGeom prst="roundRect">
            <a:avLst>
              <a:gd name="adj" fmla="val 40005"/>
            </a:avLst>
          </a:prstGeom>
          <a:solidFill>
            <a:srgbClr val="E8F3E8"/>
          </a:solidFill>
          <a:ln/>
        </p:spPr>
        <p:txBody>
          <a:bodyPr/>
          <a:lstStyle/>
          <a:p>
            <a:endParaRPr lang="fr-FR">
              <a:latin typeface="Arial Rounded MT Bold" panose="020F0704030504030204" pitchFamily="34" charset="0"/>
            </a:endParaRPr>
          </a:p>
        </p:txBody>
      </p:sp>
      <p:sp>
        <p:nvSpPr>
          <p:cNvPr id="37" name="Text 35"/>
          <p:cNvSpPr/>
          <p:nvPr/>
        </p:nvSpPr>
        <p:spPr>
          <a:xfrm>
            <a:off x="7212032" y="6017300"/>
            <a:ext cx="206216" cy="257889"/>
          </a:xfrm>
          <a:prstGeom prst="rect">
            <a:avLst/>
          </a:prstGeom>
          <a:noFill/>
          <a:ln/>
        </p:spPr>
        <p:txBody>
          <a:bodyPr wrap="none" lIns="0" tIns="0" rIns="0" bIns="0" rtlCol="0" anchor="t"/>
          <a:lstStyle/>
          <a:p>
            <a:pPr marL="0" indent="0" algn="ctr">
              <a:lnSpc>
                <a:spcPts val="1600"/>
              </a:lnSpc>
              <a:buNone/>
            </a:pPr>
            <a:r>
              <a:rPr lang="en-US" sz="1600" b="1">
                <a:solidFill>
                  <a:srgbClr val="405449"/>
                </a:solidFill>
                <a:latin typeface="Arial Rounded MT Bold" panose="020F0704030504030204" pitchFamily="34" charset="0"/>
                <a:ea typeface="Fraunces Extra Bold" pitchFamily="34" charset="-122"/>
                <a:cs typeface="Fraunces Extra Bold" pitchFamily="34" charset="-120"/>
              </a:rPr>
              <a:t>7</a:t>
            </a:r>
            <a:endParaRPr lang="en-US" sz="1600">
              <a:latin typeface="Arial Rounded MT Bold" panose="020F0704030504030204" pitchFamily="34" charset="0"/>
            </a:endParaRPr>
          </a:p>
        </p:txBody>
      </p:sp>
      <p:sp>
        <p:nvSpPr>
          <p:cNvPr id="38" name="Text 36"/>
          <p:cNvSpPr/>
          <p:nvPr/>
        </p:nvSpPr>
        <p:spPr>
          <a:xfrm>
            <a:off x="3987760" y="6038850"/>
            <a:ext cx="2639735" cy="214908"/>
          </a:xfrm>
          <a:prstGeom prst="rect">
            <a:avLst/>
          </a:prstGeom>
          <a:noFill/>
          <a:ln/>
        </p:spPr>
        <p:txBody>
          <a:bodyPr wrap="none" lIns="0" tIns="0" rIns="0" bIns="0" rtlCol="0" anchor="t"/>
          <a:lstStyle/>
          <a:p>
            <a:pPr marL="0" indent="0" algn="r">
              <a:lnSpc>
                <a:spcPts val="1650"/>
              </a:lnSpc>
              <a:buNone/>
            </a:pPr>
            <a:r>
              <a:rPr lang="en-US" sz="1350" b="1">
                <a:solidFill>
                  <a:srgbClr val="405449"/>
                </a:solidFill>
                <a:latin typeface="Arial Rounded MT Bold" panose="020F0704030504030204" pitchFamily="34" charset="0"/>
                <a:ea typeface="Fraunces Extra Bold" pitchFamily="34" charset="-122"/>
                <a:cs typeface="Fraunces Extra Bold" pitchFamily="34" charset="-120"/>
              </a:rPr>
              <a:t>Communication Transparente</a:t>
            </a:r>
            <a:endParaRPr lang="en-US" sz="1350">
              <a:latin typeface="Arial Rounded MT Bold" panose="020F0704030504030204" pitchFamily="34" charset="0"/>
            </a:endParaRPr>
          </a:p>
        </p:txBody>
      </p:sp>
      <p:sp>
        <p:nvSpPr>
          <p:cNvPr id="39" name="Text 37"/>
          <p:cNvSpPr/>
          <p:nvPr/>
        </p:nvSpPr>
        <p:spPr>
          <a:xfrm>
            <a:off x="2965252" y="6336268"/>
            <a:ext cx="3662243" cy="440055"/>
          </a:xfrm>
          <a:prstGeom prst="rect">
            <a:avLst/>
          </a:prstGeom>
          <a:noFill/>
          <a:ln/>
        </p:spPr>
        <p:txBody>
          <a:bodyPr wrap="square" lIns="0" tIns="0" rIns="0" bIns="0" rtlCol="0" anchor="t"/>
          <a:lstStyle/>
          <a:p>
            <a:pPr marL="0" indent="0" algn="r">
              <a:lnSpc>
                <a:spcPts val="1700"/>
              </a:lnSpc>
              <a:buNone/>
            </a:pPr>
            <a:r>
              <a:rPr lang="en-US" sz="1050">
                <a:solidFill>
                  <a:srgbClr val="405449"/>
                </a:solidFill>
                <a:latin typeface="Arial Rounded MT Bold" panose="020F0704030504030204" pitchFamily="34" charset="0"/>
                <a:ea typeface="Nobile" pitchFamily="34" charset="-122"/>
                <a:cs typeface="Nobile" pitchFamily="34" charset="-120"/>
              </a:rPr>
              <a:t>Information régulière et claire des parties prenantes internes et externes (clients, régulateurs).</a:t>
            </a:r>
            <a:endParaRPr lang="en-US" sz="1050">
              <a:latin typeface="Arial Rounded MT Bold" panose="020F0704030504030204" pitchFamily="34" charset="0"/>
            </a:endParaRPr>
          </a:p>
        </p:txBody>
      </p:sp>
      <p:sp>
        <p:nvSpPr>
          <p:cNvPr id="40" name="Shape 38"/>
          <p:cNvSpPr/>
          <p:nvPr/>
        </p:nvSpPr>
        <p:spPr>
          <a:xfrm>
            <a:off x="7454682" y="6850023"/>
            <a:ext cx="412552" cy="15240"/>
          </a:xfrm>
          <a:prstGeom prst="roundRect">
            <a:avLst>
              <a:gd name="adj" fmla="val 812298"/>
            </a:avLst>
          </a:prstGeom>
          <a:solidFill>
            <a:srgbClr val="CED9CE"/>
          </a:solidFill>
          <a:ln/>
        </p:spPr>
        <p:txBody>
          <a:bodyPr/>
          <a:lstStyle/>
          <a:p>
            <a:endParaRPr lang="fr-FR">
              <a:latin typeface="Arial Rounded MT Bold" panose="020F0704030504030204" pitchFamily="34" charset="0"/>
            </a:endParaRPr>
          </a:p>
        </p:txBody>
      </p:sp>
      <p:sp>
        <p:nvSpPr>
          <p:cNvPr id="41" name="Shape 39"/>
          <p:cNvSpPr/>
          <p:nvPr/>
        </p:nvSpPr>
        <p:spPr>
          <a:xfrm>
            <a:off x="7160478" y="6702981"/>
            <a:ext cx="309443" cy="309443"/>
          </a:xfrm>
          <a:prstGeom prst="roundRect">
            <a:avLst>
              <a:gd name="adj" fmla="val 40005"/>
            </a:avLst>
          </a:prstGeom>
          <a:solidFill>
            <a:srgbClr val="E8F3E8"/>
          </a:solidFill>
          <a:ln/>
        </p:spPr>
        <p:txBody>
          <a:bodyPr/>
          <a:lstStyle/>
          <a:p>
            <a:endParaRPr lang="fr-FR">
              <a:latin typeface="Arial Rounded MT Bold" panose="020F0704030504030204" pitchFamily="34" charset="0"/>
            </a:endParaRPr>
          </a:p>
        </p:txBody>
      </p:sp>
      <p:sp>
        <p:nvSpPr>
          <p:cNvPr id="42" name="Text 40"/>
          <p:cNvSpPr/>
          <p:nvPr/>
        </p:nvSpPr>
        <p:spPr>
          <a:xfrm>
            <a:off x="7212032" y="6728698"/>
            <a:ext cx="206216" cy="257889"/>
          </a:xfrm>
          <a:prstGeom prst="rect">
            <a:avLst/>
          </a:prstGeom>
          <a:noFill/>
          <a:ln/>
        </p:spPr>
        <p:txBody>
          <a:bodyPr wrap="none" lIns="0" tIns="0" rIns="0" bIns="0" rtlCol="0" anchor="t"/>
          <a:lstStyle/>
          <a:p>
            <a:pPr marL="0" indent="0" algn="ctr">
              <a:lnSpc>
                <a:spcPts val="1600"/>
              </a:lnSpc>
              <a:buNone/>
            </a:pPr>
            <a:r>
              <a:rPr lang="en-US" sz="1600" b="1">
                <a:solidFill>
                  <a:srgbClr val="405449"/>
                </a:solidFill>
                <a:latin typeface="Arial Rounded MT Bold" panose="020F0704030504030204" pitchFamily="34" charset="0"/>
                <a:ea typeface="Fraunces Extra Bold" pitchFamily="34" charset="-122"/>
                <a:cs typeface="Fraunces Extra Bold" pitchFamily="34" charset="-120"/>
              </a:rPr>
              <a:t>8</a:t>
            </a:r>
            <a:endParaRPr lang="en-US" sz="1600">
              <a:latin typeface="Arial Rounded MT Bold" panose="020F0704030504030204" pitchFamily="34" charset="0"/>
            </a:endParaRPr>
          </a:p>
        </p:txBody>
      </p:sp>
      <p:sp>
        <p:nvSpPr>
          <p:cNvPr id="43" name="Text 41"/>
          <p:cNvSpPr/>
          <p:nvPr/>
        </p:nvSpPr>
        <p:spPr>
          <a:xfrm>
            <a:off x="8002905" y="6750248"/>
            <a:ext cx="1891665" cy="214908"/>
          </a:xfrm>
          <a:prstGeom prst="rect">
            <a:avLst/>
          </a:prstGeom>
          <a:noFill/>
          <a:ln/>
        </p:spPr>
        <p:txBody>
          <a:bodyPr wrap="none" lIns="0" tIns="0" rIns="0" bIns="0" rtlCol="0" anchor="t"/>
          <a:lstStyle/>
          <a:p>
            <a:pPr marL="0" indent="0" algn="l">
              <a:lnSpc>
                <a:spcPts val="1650"/>
              </a:lnSpc>
              <a:buNone/>
            </a:pPr>
            <a:r>
              <a:rPr lang="en-US" sz="1350" b="1">
                <a:solidFill>
                  <a:srgbClr val="405449"/>
                </a:solidFill>
                <a:latin typeface="Arial Rounded MT Bold" panose="020F0704030504030204" pitchFamily="34" charset="0"/>
                <a:ea typeface="Fraunces Extra Bold" pitchFamily="34" charset="-122"/>
                <a:cs typeface="Fraunces Extra Bold" pitchFamily="34" charset="-120"/>
              </a:rPr>
              <a:t>Analyse Post-Mortem</a:t>
            </a:r>
            <a:endParaRPr lang="en-US" sz="1350">
              <a:latin typeface="Arial Rounded MT Bold" panose="020F0704030504030204" pitchFamily="34" charset="0"/>
            </a:endParaRPr>
          </a:p>
        </p:txBody>
      </p:sp>
      <p:sp>
        <p:nvSpPr>
          <p:cNvPr id="44" name="Text 42"/>
          <p:cNvSpPr/>
          <p:nvPr/>
        </p:nvSpPr>
        <p:spPr>
          <a:xfrm>
            <a:off x="8002905" y="7047667"/>
            <a:ext cx="3662243" cy="440055"/>
          </a:xfrm>
          <a:prstGeom prst="rect">
            <a:avLst/>
          </a:prstGeom>
          <a:noFill/>
          <a:ln/>
        </p:spPr>
        <p:txBody>
          <a:bodyPr wrap="square" lIns="0" tIns="0" rIns="0" bIns="0" rtlCol="0" anchor="t"/>
          <a:lstStyle/>
          <a:p>
            <a:pPr marL="0" indent="0" algn="l">
              <a:lnSpc>
                <a:spcPts val="1700"/>
              </a:lnSpc>
              <a:buNone/>
            </a:pPr>
            <a:r>
              <a:rPr lang="en-US" sz="1050">
                <a:solidFill>
                  <a:srgbClr val="405449"/>
                </a:solidFill>
                <a:latin typeface="Arial Rounded MT Bold" panose="020F0704030504030204" pitchFamily="34" charset="0"/>
                <a:ea typeface="Nobile" pitchFamily="34" charset="-122"/>
                <a:cs typeface="Nobile" pitchFamily="34" charset="-120"/>
              </a:rPr>
              <a:t>Évaluation de l'incident, identification des lacunes et mise à jour des stratégies de défense pour l'avenir.</a:t>
            </a:r>
            <a:endParaRPr lang="en-US" sz="1050">
              <a:latin typeface="Arial Rounded MT Bold" panose="020F0704030504030204" pitchFamily="34" charset="0"/>
            </a:endParaRPr>
          </a:p>
        </p:txBody>
      </p:sp>
      <p:pic>
        <p:nvPicPr>
          <p:cNvPr id="46" name="Image 45" descr="Une image contenant blanc, conception&#10;&#10;Le contenu généré par l’IA peut être incorrect.">
            <a:extLst>
              <a:ext uri="{FF2B5EF4-FFF2-40B4-BE49-F238E27FC236}">
                <a16:creationId xmlns:a16="http://schemas.microsoft.com/office/drawing/2014/main" id="{D36079A9-843C-0521-75D5-3355858B164A}"/>
              </a:ext>
            </a:extLst>
          </p:cNvPr>
          <p:cNvPicPr>
            <a:picLocks noChangeAspect="1"/>
          </p:cNvPicPr>
          <p:nvPr/>
        </p:nvPicPr>
        <p:blipFill>
          <a:blip r:embed="rId3"/>
          <a:stretch>
            <a:fillRect/>
          </a:stretch>
        </p:blipFill>
        <p:spPr>
          <a:xfrm>
            <a:off x="12137004" y="7448441"/>
            <a:ext cx="2486372" cy="781159"/>
          </a:xfrm>
          <a:prstGeom prst="rect">
            <a:avLst/>
          </a:prstGeom>
        </p:spPr>
      </p:pic>
      <p:sp>
        <p:nvSpPr>
          <p:cNvPr id="45" name="ZoneTexte 44">
            <a:extLst>
              <a:ext uri="{FF2B5EF4-FFF2-40B4-BE49-F238E27FC236}">
                <a16:creationId xmlns:a16="http://schemas.microsoft.com/office/drawing/2014/main" id="{8FC3C97B-932C-8F51-048E-6FA79751541D}"/>
              </a:ext>
            </a:extLst>
          </p:cNvPr>
          <p:cNvSpPr txBox="1"/>
          <p:nvPr/>
        </p:nvSpPr>
        <p:spPr>
          <a:xfrm>
            <a:off x="7091795" y="7839940"/>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a:ea typeface="Calibri"/>
                <a:cs typeface="Calibri"/>
              </a:rPr>
              <a:t>13</a:t>
            </a:r>
            <a:endParaRPr lang="fr-F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60275" y="380882"/>
            <a:ext cx="5778698" cy="722352"/>
          </a:xfrm>
          <a:prstGeom prst="rect">
            <a:avLst/>
          </a:prstGeom>
          <a:noFill/>
          <a:ln/>
        </p:spPr>
        <p:txBody>
          <a:bodyPr wrap="none" lIns="0" tIns="0" rIns="0" bIns="0" rtlCol="0" anchor="t"/>
          <a:lstStyle/>
          <a:p>
            <a:pPr marL="0" indent="0" algn="l">
              <a:lnSpc>
                <a:spcPts val="5650"/>
              </a:lnSpc>
              <a:buNone/>
            </a:pPr>
            <a:r>
              <a:rPr lang="en-US" sz="4550" b="1">
                <a:solidFill>
                  <a:srgbClr val="3B4540"/>
                </a:solidFill>
                <a:latin typeface="Fraunces Extra Bold" pitchFamily="34" charset="0"/>
                <a:ea typeface="Fraunces Extra Bold" pitchFamily="34" charset="-122"/>
                <a:cs typeface="Fraunces Extra Bold" pitchFamily="34" charset="-120"/>
              </a:rPr>
              <a:t>Points Essentiels</a:t>
            </a:r>
            <a:endParaRPr lang="en-US" sz="4550"/>
          </a:p>
        </p:txBody>
      </p:sp>
      <p:sp>
        <p:nvSpPr>
          <p:cNvPr id="3" name="Text 1"/>
          <p:cNvSpPr/>
          <p:nvPr/>
        </p:nvSpPr>
        <p:spPr>
          <a:xfrm>
            <a:off x="4119443" y="2022634"/>
            <a:ext cx="1421487" cy="288846"/>
          </a:xfrm>
          <a:prstGeom prst="rect">
            <a:avLst/>
          </a:prstGeom>
          <a:noFill/>
          <a:ln/>
        </p:spPr>
        <p:txBody>
          <a:bodyPr wrap="none" lIns="0" tIns="0" rIns="0" bIns="0" rtlCol="0" anchor="t"/>
          <a:lstStyle/>
          <a:p>
            <a:pPr marL="0" indent="0" algn="ctr">
              <a:lnSpc>
                <a:spcPts val="2250"/>
              </a:lnSpc>
              <a:buNone/>
            </a:pPr>
            <a:r>
              <a:rPr lang="en-US" sz="2250" b="1">
                <a:solidFill>
                  <a:srgbClr val="405449"/>
                </a:solidFill>
                <a:latin typeface="Fraunces Extra Bold" pitchFamily="34" charset="0"/>
                <a:ea typeface="Fraunces Extra Bold" pitchFamily="34" charset="-122"/>
                <a:cs typeface="Fraunces Extra Bold" pitchFamily="34" charset="-120"/>
              </a:rPr>
              <a:t>40%</a:t>
            </a:r>
            <a:endParaRPr lang="en-US" sz="2250"/>
          </a:p>
        </p:txBody>
      </p:sp>
      <p:pic>
        <p:nvPicPr>
          <p:cNvPr id="4" name="Image 0" descr="preencoded.png"/>
          <p:cNvPicPr>
            <a:picLocks noChangeAspect="1"/>
          </p:cNvPicPr>
          <p:nvPr/>
        </p:nvPicPr>
        <p:blipFill>
          <a:blip r:embed="rId3"/>
          <a:stretch>
            <a:fillRect/>
          </a:stretch>
        </p:blipFill>
        <p:spPr>
          <a:xfrm>
            <a:off x="3963472" y="1300282"/>
            <a:ext cx="1733550" cy="1733550"/>
          </a:xfrm>
          <a:prstGeom prst="rect">
            <a:avLst/>
          </a:prstGeom>
        </p:spPr>
      </p:pic>
      <p:sp>
        <p:nvSpPr>
          <p:cNvPr id="5" name="Text 2"/>
          <p:cNvSpPr/>
          <p:nvPr/>
        </p:nvSpPr>
        <p:spPr>
          <a:xfrm>
            <a:off x="4091464" y="3178135"/>
            <a:ext cx="1477685" cy="180499"/>
          </a:xfrm>
          <a:prstGeom prst="rect">
            <a:avLst/>
          </a:prstGeom>
          <a:noFill/>
          <a:ln/>
        </p:spPr>
        <p:txBody>
          <a:bodyPr wrap="none" lIns="0" tIns="0" rIns="0" bIns="0" rtlCol="0" anchor="t"/>
          <a:lstStyle/>
          <a:p>
            <a:pPr marL="0" indent="0" algn="ctr">
              <a:lnSpc>
                <a:spcPts val="1400"/>
              </a:lnSpc>
              <a:buNone/>
            </a:pPr>
            <a:r>
              <a:rPr lang="en-US" sz="1100" b="1">
                <a:solidFill>
                  <a:srgbClr val="405449"/>
                </a:solidFill>
                <a:latin typeface="Fraunces Extra Bold" pitchFamily="34" charset="0"/>
                <a:ea typeface="Fraunces Extra Bold" pitchFamily="34" charset="-122"/>
                <a:cs typeface="Fraunces Extra Bold" pitchFamily="34" charset="-120"/>
              </a:rPr>
              <a:t>Augmentation 2024</a:t>
            </a:r>
            <a:endParaRPr lang="en-US" sz="1100"/>
          </a:p>
        </p:txBody>
      </p:sp>
      <p:sp>
        <p:nvSpPr>
          <p:cNvPr id="6" name="Text 3"/>
          <p:cNvSpPr/>
          <p:nvPr/>
        </p:nvSpPr>
        <p:spPr>
          <a:xfrm>
            <a:off x="3660100" y="3427928"/>
            <a:ext cx="2340412" cy="369808"/>
          </a:xfrm>
          <a:prstGeom prst="rect">
            <a:avLst/>
          </a:prstGeom>
          <a:noFill/>
          <a:ln/>
        </p:spPr>
        <p:txBody>
          <a:bodyPr wrap="square" lIns="0" tIns="0" rIns="0" bIns="0" rtlCol="0" anchor="t"/>
          <a:lstStyle/>
          <a:p>
            <a:pPr marL="0" indent="0" algn="ctr">
              <a:lnSpc>
                <a:spcPts val="1450"/>
              </a:lnSpc>
              <a:buNone/>
            </a:pPr>
            <a:r>
              <a:rPr lang="en-US" sz="900">
                <a:solidFill>
                  <a:srgbClr val="405449"/>
                </a:solidFill>
                <a:latin typeface="Nobile" pitchFamily="34" charset="0"/>
                <a:ea typeface="Nobile" pitchFamily="34" charset="-122"/>
                <a:cs typeface="Nobile" pitchFamily="34" charset="-120"/>
              </a:rPr>
              <a:t>Hausse des attaques DDoS observée par Cloudflare</a:t>
            </a:r>
            <a:endParaRPr lang="en-US" sz="900"/>
          </a:p>
        </p:txBody>
      </p:sp>
      <p:sp>
        <p:nvSpPr>
          <p:cNvPr id="7" name="Text 4"/>
          <p:cNvSpPr/>
          <p:nvPr/>
        </p:nvSpPr>
        <p:spPr>
          <a:xfrm>
            <a:off x="6604278" y="2022634"/>
            <a:ext cx="1421487" cy="288846"/>
          </a:xfrm>
          <a:prstGeom prst="rect">
            <a:avLst/>
          </a:prstGeom>
          <a:noFill/>
          <a:ln/>
        </p:spPr>
        <p:txBody>
          <a:bodyPr wrap="none" lIns="0" tIns="0" rIns="0" bIns="0" rtlCol="0" anchor="t"/>
          <a:lstStyle/>
          <a:p>
            <a:pPr marL="0" indent="0" algn="ctr">
              <a:lnSpc>
                <a:spcPts val="2250"/>
              </a:lnSpc>
              <a:buNone/>
            </a:pPr>
            <a:r>
              <a:rPr lang="en-US" sz="2250" b="1">
                <a:solidFill>
                  <a:srgbClr val="405449"/>
                </a:solidFill>
                <a:latin typeface="Fraunces Extra Bold" pitchFamily="34" charset="0"/>
                <a:ea typeface="Fraunces Extra Bold" pitchFamily="34" charset="-122"/>
                <a:cs typeface="Fraunces Extra Bold" pitchFamily="34" charset="-120"/>
              </a:rPr>
              <a:t>3</a:t>
            </a:r>
            <a:endParaRPr lang="en-US" sz="2250"/>
          </a:p>
        </p:txBody>
      </p:sp>
      <p:pic>
        <p:nvPicPr>
          <p:cNvPr id="8" name="Image 1" descr="preencoded.png"/>
          <p:cNvPicPr>
            <a:picLocks noChangeAspect="1"/>
          </p:cNvPicPr>
          <p:nvPr/>
        </p:nvPicPr>
        <p:blipFill>
          <a:blip r:embed="rId4"/>
          <a:stretch>
            <a:fillRect/>
          </a:stretch>
        </p:blipFill>
        <p:spPr>
          <a:xfrm>
            <a:off x="6448306" y="1300282"/>
            <a:ext cx="1733550" cy="1733550"/>
          </a:xfrm>
          <a:prstGeom prst="rect">
            <a:avLst/>
          </a:prstGeom>
        </p:spPr>
      </p:pic>
      <p:sp>
        <p:nvSpPr>
          <p:cNvPr id="9" name="Text 5"/>
          <p:cNvSpPr/>
          <p:nvPr/>
        </p:nvSpPr>
        <p:spPr>
          <a:xfrm>
            <a:off x="6592848" y="3178135"/>
            <a:ext cx="1444585" cy="180499"/>
          </a:xfrm>
          <a:prstGeom prst="rect">
            <a:avLst/>
          </a:prstGeom>
          <a:noFill/>
          <a:ln/>
        </p:spPr>
        <p:txBody>
          <a:bodyPr wrap="none" lIns="0" tIns="0" rIns="0" bIns="0" rtlCol="0" anchor="t"/>
          <a:lstStyle/>
          <a:p>
            <a:pPr marL="0" indent="0" algn="ctr">
              <a:lnSpc>
                <a:spcPts val="1400"/>
              </a:lnSpc>
              <a:buNone/>
            </a:pPr>
            <a:r>
              <a:rPr lang="en-US" sz="1100" b="1">
                <a:solidFill>
                  <a:srgbClr val="405449"/>
                </a:solidFill>
                <a:latin typeface="Fraunces Extra Bold" pitchFamily="34" charset="0"/>
                <a:ea typeface="Fraunces Extra Bold" pitchFamily="34" charset="-122"/>
                <a:cs typeface="Fraunces Extra Bold" pitchFamily="34" charset="-120"/>
              </a:rPr>
              <a:t>Vecteurs Majeurs</a:t>
            </a:r>
            <a:endParaRPr lang="en-US" sz="1100"/>
          </a:p>
        </p:txBody>
      </p:sp>
      <p:sp>
        <p:nvSpPr>
          <p:cNvPr id="10" name="Text 6"/>
          <p:cNvSpPr/>
          <p:nvPr/>
        </p:nvSpPr>
        <p:spPr>
          <a:xfrm>
            <a:off x="6144935" y="3427928"/>
            <a:ext cx="2340412" cy="369808"/>
          </a:xfrm>
          <a:prstGeom prst="rect">
            <a:avLst/>
          </a:prstGeom>
          <a:noFill/>
          <a:ln/>
        </p:spPr>
        <p:txBody>
          <a:bodyPr wrap="square" lIns="0" tIns="0" rIns="0" bIns="0" rtlCol="0" anchor="t"/>
          <a:lstStyle/>
          <a:p>
            <a:pPr marL="0" indent="0" algn="ctr">
              <a:lnSpc>
                <a:spcPts val="1450"/>
              </a:lnSpc>
              <a:buNone/>
            </a:pPr>
            <a:r>
              <a:rPr lang="en-US" sz="900">
                <a:solidFill>
                  <a:srgbClr val="405449"/>
                </a:solidFill>
                <a:latin typeface="Nobile" pitchFamily="34" charset="0"/>
                <a:ea typeface="Nobile" pitchFamily="34" charset="-122"/>
                <a:cs typeface="Nobile" pitchFamily="34" charset="-120"/>
              </a:rPr>
              <a:t>Protocolaires (SYN), applicatifs (HTTP), volumétriques (UDP)</a:t>
            </a:r>
            <a:endParaRPr lang="en-US" sz="900"/>
          </a:p>
        </p:txBody>
      </p:sp>
      <p:sp>
        <p:nvSpPr>
          <p:cNvPr id="11" name="Text 7"/>
          <p:cNvSpPr/>
          <p:nvPr/>
        </p:nvSpPr>
        <p:spPr>
          <a:xfrm>
            <a:off x="9089112" y="2022634"/>
            <a:ext cx="1421487" cy="288846"/>
          </a:xfrm>
          <a:prstGeom prst="rect">
            <a:avLst/>
          </a:prstGeom>
          <a:noFill/>
          <a:ln/>
        </p:spPr>
        <p:txBody>
          <a:bodyPr wrap="none" lIns="0" tIns="0" rIns="0" bIns="0" rtlCol="0" anchor="t"/>
          <a:lstStyle/>
          <a:p>
            <a:pPr marL="0" indent="0" algn="ctr">
              <a:lnSpc>
                <a:spcPts val="2250"/>
              </a:lnSpc>
              <a:buNone/>
            </a:pPr>
            <a:r>
              <a:rPr lang="en-US" sz="2250" b="1">
                <a:solidFill>
                  <a:srgbClr val="405449"/>
                </a:solidFill>
                <a:latin typeface="Fraunces Extra Bold" pitchFamily="34" charset="0"/>
                <a:ea typeface="Fraunces Extra Bold" pitchFamily="34" charset="-122"/>
                <a:cs typeface="Fraunces Extra Bold" pitchFamily="34" charset="-120"/>
              </a:rPr>
              <a:t>100%</a:t>
            </a:r>
            <a:endParaRPr lang="en-US" sz="2250"/>
          </a:p>
        </p:txBody>
      </p:sp>
      <p:pic>
        <p:nvPicPr>
          <p:cNvPr id="12" name="Image 2" descr="preencoded.png"/>
          <p:cNvPicPr>
            <a:picLocks noChangeAspect="1"/>
          </p:cNvPicPr>
          <p:nvPr/>
        </p:nvPicPr>
        <p:blipFill>
          <a:blip r:embed="rId5"/>
          <a:stretch>
            <a:fillRect/>
          </a:stretch>
        </p:blipFill>
        <p:spPr>
          <a:xfrm>
            <a:off x="8933140" y="1300282"/>
            <a:ext cx="1733550" cy="1733550"/>
          </a:xfrm>
          <a:prstGeom prst="rect">
            <a:avLst/>
          </a:prstGeom>
        </p:spPr>
      </p:pic>
      <p:sp>
        <p:nvSpPr>
          <p:cNvPr id="13" name="Text 8"/>
          <p:cNvSpPr/>
          <p:nvPr/>
        </p:nvSpPr>
        <p:spPr>
          <a:xfrm>
            <a:off x="9077682" y="3178135"/>
            <a:ext cx="1444585" cy="180499"/>
          </a:xfrm>
          <a:prstGeom prst="rect">
            <a:avLst/>
          </a:prstGeom>
          <a:noFill/>
          <a:ln/>
        </p:spPr>
        <p:txBody>
          <a:bodyPr wrap="none" lIns="0" tIns="0" rIns="0" bIns="0" rtlCol="0" anchor="t"/>
          <a:lstStyle/>
          <a:p>
            <a:pPr marL="0" indent="0" algn="ctr">
              <a:lnSpc>
                <a:spcPts val="1400"/>
              </a:lnSpc>
              <a:buNone/>
            </a:pPr>
            <a:r>
              <a:rPr lang="en-US" sz="1100" b="1">
                <a:solidFill>
                  <a:srgbClr val="405449"/>
                </a:solidFill>
                <a:latin typeface="Fraunces Extra Bold" pitchFamily="34" charset="0"/>
                <a:ea typeface="Fraunces Extra Bold" pitchFamily="34" charset="-122"/>
                <a:cs typeface="Fraunces Extra Bold" pitchFamily="34" charset="-120"/>
              </a:rPr>
              <a:t>Impact Collectif</a:t>
            </a:r>
            <a:endParaRPr lang="en-US" sz="1100"/>
          </a:p>
        </p:txBody>
      </p:sp>
      <p:sp>
        <p:nvSpPr>
          <p:cNvPr id="14" name="Text 9"/>
          <p:cNvSpPr/>
          <p:nvPr/>
        </p:nvSpPr>
        <p:spPr>
          <a:xfrm>
            <a:off x="8629769" y="3427928"/>
            <a:ext cx="2340412" cy="369808"/>
          </a:xfrm>
          <a:prstGeom prst="rect">
            <a:avLst/>
          </a:prstGeom>
          <a:noFill/>
          <a:ln/>
        </p:spPr>
        <p:txBody>
          <a:bodyPr wrap="square" lIns="0" tIns="0" rIns="0" bIns="0" rtlCol="0" anchor="t"/>
          <a:lstStyle/>
          <a:p>
            <a:pPr marL="0" indent="0" algn="ctr">
              <a:lnSpc>
                <a:spcPts val="1450"/>
              </a:lnSpc>
              <a:buNone/>
            </a:pPr>
            <a:r>
              <a:rPr lang="en-US" sz="900">
                <a:solidFill>
                  <a:srgbClr val="405449"/>
                </a:solidFill>
                <a:latin typeface="Nobile" pitchFamily="34" charset="0"/>
                <a:ea typeface="Nobile" pitchFamily="34" charset="-122"/>
                <a:cs typeface="Nobile" pitchFamily="34" charset="-120"/>
              </a:rPr>
              <a:t>Entreprises, gouvernements et citoyens tous affectés</a:t>
            </a:r>
            <a:endParaRPr lang="en-US" sz="900"/>
          </a:p>
        </p:txBody>
      </p:sp>
      <p:sp>
        <p:nvSpPr>
          <p:cNvPr id="15" name="Shape 10"/>
          <p:cNvSpPr/>
          <p:nvPr/>
        </p:nvSpPr>
        <p:spPr>
          <a:xfrm>
            <a:off x="3660100" y="3985460"/>
            <a:ext cx="7310080" cy="22027"/>
          </a:xfrm>
          <a:prstGeom prst="rect">
            <a:avLst/>
          </a:prstGeom>
          <a:solidFill>
            <a:srgbClr val="405449">
              <a:alpha val="50000"/>
            </a:srgbClr>
          </a:solidFill>
          <a:ln/>
        </p:spPr>
        <p:txBody>
          <a:bodyPr/>
          <a:lstStyle/>
          <a:p>
            <a:endParaRPr lang="fr-FR"/>
          </a:p>
        </p:txBody>
      </p:sp>
      <p:sp>
        <p:nvSpPr>
          <p:cNvPr id="16" name="Text 11"/>
          <p:cNvSpPr/>
          <p:nvPr/>
        </p:nvSpPr>
        <p:spPr>
          <a:xfrm>
            <a:off x="6064269" y="4275731"/>
            <a:ext cx="2501503" cy="216694"/>
          </a:xfrm>
          <a:prstGeom prst="rect">
            <a:avLst/>
          </a:prstGeom>
          <a:noFill/>
          <a:ln/>
        </p:spPr>
        <p:txBody>
          <a:bodyPr wrap="none" lIns="0" tIns="0" rIns="0" bIns="0" rtlCol="0" anchor="t"/>
          <a:lstStyle/>
          <a:p>
            <a:pPr marL="0" indent="0" algn="l">
              <a:lnSpc>
                <a:spcPts val="1700"/>
              </a:lnSpc>
              <a:buNone/>
            </a:pPr>
            <a:r>
              <a:rPr lang="en-US" sz="1350" b="1">
                <a:solidFill>
                  <a:srgbClr val="3B4540"/>
                </a:solidFill>
                <a:latin typeface="Fraunces Extra Bold" pitchFamily="34" charset="0"/>
                <a:ea typeface="Fraunces Extra Bold" pitchFamily="34" charset="-122"/>
                <a:cs typeface="Fraunces Extra Bold" pitchFamily="34" charset="-120"/>
              </a:rPr>
              <a:t>Un Enjeu Critique et Évolutif</a:t>
            </a:r>
            <a:endParaRPr lang="en-US" sz="1350"/>
          </a:p>
        </p:txBody>
      </p:sp>
      <p:sp>
        <p:nvSpPr>
          <p:cNvPr id="17" name="Text 12"/>
          <p:cNvSpPr/>
          <p:nvPr/>
        </p:nvSpPr>
        <p:spPr>
          <a:xfrm>
            <a:off x="5575101" y="4689039"/>
            <a:ext cx="3514011" cy="924520"/>
          </a:xfrm>
          <a:prstGeom prst="rect">
            <a:avLst/>
          </a:prstGeom>
          <a:noFill/>
          <a:ln/>
        </p:spPr>
        <p:txBody>
          <a:bodyPr wrap="square" lIns="0" tIns="0" rIns="0" bIns="0" rtlCol="0" anchor="t"/>
          <a:lstStyle/>
          <a:p>
            <a:pPr marL="0" indent="0" algn="ctr">
              <a:lnSpc>
                <a:spcPts val="1450"/>
              </a:lnSpc>
              <a:buNone/>
            </a:pPr>
            <a:r>
              <a:rPr lang="en-US" sz="900">
                <a:solidFill>
                  <a:srgbClr val="405449"/>
                </a:solidFill>
                <a:latin typeface="Nobile" pitchFamily="34" charset="0"/>
                <a:ea typeface="Nobile" pitchFamily="34" charset="-122"/>
                <a:cs typeface="Nobile" pitchFamily="34" charset="-120"/>
              </a:rPr>
              <a:t>Les DDoS compromettent la disponibilité des services essentiels, des lignes d'urgence aux infrastructures critiques. La sophistication croissante des méthodes d'attaque exige une défense multicouche combinant protection périmétrique, solutions cloud et vigilance humaine.</a:t>
            </a:r>
            <a:endParaRPr lang="en-US" sz="900"/>
          </a:p>
        </p:txBody>
      </p:sp>
      <p:sp>
        <p:nvSpPr>
          <p:cNvPr id="18" name="Text 13"/>
          <p:cNvSpPr/>
          <p:nvPr/>
        </p:nvSpPr>
        <p:spPr>
          <a:xfrm>
            <a:off x="5575100" y="5890915"/>
            <a:ext cx="3514011" cy="554712"/>
          </a:xfrm>
          <a:prstGeom prst="rect">
            <a:avLst/>
          </a:prstGeom>
          <a:noFill/>
          <a:ln/>
        </p:spPr>
        <p:txBody>
          <a:bodyPr wrap="square" lIns="0" tIns="0" rIns="0" bIns="0" rtlCol="0" anchor="t"/>
          <a:lstStyle/>
          <a:p>
            <a:pPr marL="0" indent="0" algn="ctr">
              <a:lnSpc>
                <a:spcPts val="1450"/>
              </a:lnSpc>
              <a:buNone/>
            </a:pPr>
            <a:r>
              <a:rPr lang="en-US" sz="900">
                <a:solidFill>
                  <a:srgbClr val="405449"/>
                </a:solidFill>
                <a:highlight>
                  <a:srgbClr val="D1E7D2"/>
                </a:highlight>
                <a:latin typeface="Nobile" pitchFamily="34" charset="0"/>
                <a:ea typeface="Nobile" pitchFamily="34" charset="-122"/>
                <a:cs typeface="Nobile" pitchFamily="34" charset="-120"/>
              </a:rPr>
              <a:t>Dans un monde hyperconnecté où chaque seconde compte, la résilience face aux DDoS n'est plus une option mais une nécessité stratégique.</a:t>
            </a:r>
            <a:endParaRPr lang="en-US" sz="900"/>
          </a:p>
        </p:txBody>
      </p:sp>
      <p:pic>
        <p:nvPicPr>
          <p:cNvPr id="20" name="Image 19" descr="Une image contenant blanc, conception&#10;&#10;Le contenu généré par l’IA peut être incorrect.">
            <a:extLst>
              <a:ext uri="{FF2B5EF4-FFF2-40B4-BE49-F238E27FC236}">
                <a16:creationId xmlns:a16="http://schemas.microsoft.com/office/drawing/2014/main" id="{3EA4173E-4984-7EEC-FBDE-268B54B8B8BA}"/>
              </a:ext>
            </a:extLst>
          </p:cNvPr>
          <p:cNvPicPr>
            <a:picLocks noChangeAspect="1"/>
          </p:cNvPicPr>
          <p:nvPr/>
        </p:nvPicPr>
        <p:blipFill>
          <a:blip r:embed="rId6"/>
          <a:stretch>
            <a:fillRect/>
          </a:stretch>
        </p:blipFill>
        <p:spPr>
          <a:xfrm>
            <a:off x="12137004" y="7448441"/>
            <a:ext cx="2486372" cy="781159"/>
          </a:xfrm>
          <a:prstGeom prst="rect">
            <a:avLst/>
          </a:prstGeom>
        </p:spPr>
      </p:pic>
      <p:sp>
        <p:nvSpPr>
          <p:cNvPr id="19" name="ZoneTexte 18">
            <a:extLst>
              <a:ext uri="{FF2B5EF4-FFF2-40B4-BE49-F238E27FC236}">
                <a16:creationId xmlns:a16="http://schemas.microsoft.com/office/drawing/2014/main" id="{BC8996FC-C6A8-DF72-7079-CE3B322DA877}"/>
              </a:ext>
            </a:extLst>
          </p:cNvPr>
          <p:cNvSpPr txBox="1"/>
          <p:nvPr/>
        </p:nvSpPr>
        <p:spPr>
          <a:xfrm>
            <a:off x="7034645" y="7772399"/>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a:ea typeface="Calibri"/>
                <a:cs typeface="Calibri"/>
              </a:rPr>
              <a:t>14</a:t>
            </a:r>
            <a:endParaRPr lang="fr-F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108b3c97-3a1e-4651-917a-fee5a4886e67" xsi:nil="true"/>
    <lcf76f155ced4ddcb4097134ff3c332f xmlns="633ef28b-711a-46c5-aafb-56181075f501">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E0CB55D412F0246B32FEE5E5AF1E0D2" ma:contentTypeVersion="10" ma:contentTypeDescription="Crée un document." ma:contentTypeScope="" ma:versionID="a157f915702c6f433c08e83b8acf4b41">
  <xsd:schema xmlns:xsd="http://www.w3.org/2001/XMLSchema" xmlns:xs="http://www.w3.org/2001/XMLSchema" xmlns:p="http://schemas.microsoft.com/office/2006/metadata/properties" xmlns:ns2="633ef28b-711a-46c5-aafb-56181075f501" xmlns:ns3="108b3c97-3a1e-4651-917a-fee5a4886e67" targetNamespace="http://schemas.microsoft.com/office/2006/metadata/properties" ma:root="true" ma:fieldsID="f369470b9baa830d09c4ff9e12b12be9" ns2:_="" ns3:_="">
    <xsd:import namespace="633ef28b-711a-46c5-aafb-56181075f501"/>
    <xsd:import namespace="108b3c97-3a1e-4651-917a-fee5a4886e6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33ef28b-711a-46c5-aafb-56181075f50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a337c0f8-57ca-4de5-b31c-15c7ec7d57d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08b3c97-3a1e-4651-917a-fee5a4886e67"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4cd49a59-29f1-40af-91a5-53431cc7b7fd}" ma:internalName="TaxCatchAll" ma:showField="CatchAllData" ma:web="108b3c97-3a1e-4651-917a-fee5a4886e6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FED972D-4D58-4A28-A6C7-2E55FD63CD29}">
  <ds:schemaRefs>
    <ds:schemaRef ds:uri="108b3c97-3a1e-4651-917a-fee5a4886e67"/>
    <ds:schemaRef ds:uri="633ef28b-711a-46c5-aafb-56181075f501"/>
    <ds:schemaRef ds:uri="http://schemas.microsoft.com/office/2006/metadata/properties"/>
    <ds:schemaRef ds:uri="http://schemas.microsoft.com/office/infopath/2007/PartnerControls"/>
    <ds:schemaRef ds:uri="http://www.w3.org/2000/xmlns/"/>
    <ds:schemaRef ds:uri="http://www.w3.org/2001/XMLSchema-instance"/>
  </ds:schemaRefs>
</ds:datastoreItem>
</file>

<file path=customXml/itemProps2.xml><?xml version="1.0" encoding="utf-8"?>
<ds:datastoreItem xmlns:ds="http://schemas.openxmlformats.org/officeDocument/2006/customXml" ds:itemID="{A39E2BA1-D928-4901-836C-EDC26B0D3231}">
  <ds:schemaRefs>
    <ds:schemaRef ds:uri="http://schemas.microsoft.com/sharepoint/v3/contenttype/forms"/>
  </ds:schemaRefs>
</ds:datastoreItem>
</file>

<file path=customXml/itemProps3.xml><?xml version="1.0" encoding="utf-8"?>
<ds:datastoreItem xmlns:ds="http://schemas.openxmlformats.org/officeDocument/2006/customXml" ds:itemID="{6B2302B6-754E-40FE-B3C3-6B511A1B3989}">
  <ds:schemaRefs>
    <ds:schemaRef ds:uri="108b3c97-3a1e-4651-917a-fee5a4886e67"/>
    <ds:schemaRef ds:uri="633ef28b-711a-46c5-aafb-56181075f50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16</Slides>
  <Notes>16</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subject/>
  <dc:creator>huynh lucas</dc:creator>
  <cp:revision>1</cp:revision>
  <dcterms:created xsi:type="dcterms:W3CDTF">2026-01-09T11:06:02Z</dcterms:created>
  <dcterms:modified xsi:type="dcterms:W3CDTF">2026-01-12T07:58:27Z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0x0101008E0CB55D412F0246B32FEE5E5AF1E0D2</vt:lpwstr>
  </property>
  <property fmtid="{D5CDD505-2E9C-101B-9397-08002B2CF9AE}" pid="3" name="MediaServiceImageTags">
    <vt:lpwstr/>
  </property>
</Properties>
</file>